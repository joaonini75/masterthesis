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0"/>
  </p:notesMasterIdLst>
  <p:sldIdLst>
    <p:sldId id="256" r:id="rId2"/>
    <p:sldId id="292" r:id="rId3"/>
    <p:sldId id="331" r:id="rId4"/>
    <p:sldId id="293" r:id="rId5"/>
    <p:sldId id="257" r:id="rId6"/>
    <p:sldId id="294" r:id="rId7"/>
    <p:sldId id="308" r:id="rId8"/>
    <p:sldId id="305" r:id="rId9"/>
    <p:sldId id="295" r:id="rId10"/>
    <p:sldId id="314" r:id="rId11"/>
    <p:sldId id="304" r:id="rId12"/>
    <p:sldId id="313" r:id="rId13"/>
    <p:sldId id="332" r:id="rId14"/>
    <p:sldId id="333" r:id="rId15"/>
    <p:sldId id="320" r:id="rId16"/>
    <p:sldId id="323" r:id="rId17"/>
    <p:sldId id="296" r:id="rId18"/>
    <p:sldId id="315" r:id="rId19"/>
    <p:sldId id="325" r:id="rId20"/>
    <p:sldId id="324" r:id="rId21"/>
    <p:sldId id="317" r:id="rId22"/>
    <p:sldId id="318" r:id="rId23"/>
    <p:sldId id="334" r:id="rId24"/>
    <p:sldId id="297" r:id="rId25"/>
    <p:sldId id="298" r:id="rId26"/>
    <p:sldId id="300" r:id="rId27"/>
    <p:sldId id="299" r:id="rId28"/>
    <p:sldId id="301" r:id="rId29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530B"/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5" autoAdjust="0"/>
    <p:restoredTop sz="94660"/>
  </p:normalViewPr>
  <p:slideViewPr>
    <p:cSldViewPr snapToGrid="0">
      <p:cViewPr varScale="1">
        <p:scale>
          <a:sx n="93" d="100"/>
          <a:sy n="93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109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8597-CF9F-4020-2510-8250018A8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A2086-778C-2731-8FF2-66E6F7BF9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B735D-0845-C0A7-6580-7C14303C9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30F77-6870-1AF1-7FB6-C618D64B61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57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A7401-CD86-6C61-93A6-984C4436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E712F-641A-85A1-9E28-B73DD58A8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0BF0D-67E7-A7A3-CE75-9ACFD2BA3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41903-4911-B03E-B6ED-09FDAB767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82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2041892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AA87C7-57BE-D543-C4FF-917CD044392B}"/>
              </a:ext>
            </a:extLst>
          </p:cNvPr>
          <p:cNvCxnSpPr>
            <a:cxnSpLocks/>
          </p:cNvCxnSpPr>
          <p:nvPr/>
        </p:nvCxnSpPr>
        <p:spPr>
          <a:xfrm>
            <a:off x="642551" y="2857500"/>
            <a:ext cx="33939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FA10-ED99-4DAB-09C6-F2C7A4186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E0CDC7-B6E8-E4BB-C6AE-BBB44A23A9D9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Our Vision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96CB3-ECA8-977A-74BD-D9D27B3641B1}"/>
              </a:ext>
            </a:extLst>
          </p:cNvPr>
          <p:cNvSpPr txBox="1"/>
          <p:nvPr/>
        </p:nvSpPr>
        <p:spPr>
          <a:xfrm>
            <a:off x="469556" y="1426522"/>
            <a:ext cx="7488195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sz="2000" noProof="1">
                <a:solidFill>
                  <a:srgbClr val="002060"/>
                </a:solidFill>
              </a:rPr>
              <a:t>Consider two versions of the same program:</a:t>
            </a:r>
          </a:p>
          <a:p>
            <a:r>
              <a:rPr lang="pt-PT" sz="2000" noProof="1">
                <a:solidFill>
                  <a:srgbClr val="002060"/>
                </a:solidFill>
              </a:rPr>
              <a:t>		- One simple but slow (P1)</a:t>
            </a:r>
          </a:p>
          <a:p>
            <a:r>
              <a:rPr lang="pt-PT" sz="2000" noProof="1">
                <a:solidFill>
                  <a:srgbClr val="002060"/>
                </a:solidFill>
              </a:rPr>
              <a:t>		- Another complex but efficient (P2)</a:t>
            </a:r>
          </a:p>
          <a:p>
            <a:endParaRPr lang="pt-PT" sz="20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sz="2000" noProof="1">
                <a:solidFill>
                  <a:srgbClr val="002060"/>
                </a:solidFill>
              </a:rPr>
              <a:t>How to prove correctness of P2?</a:t>
            </a:r>
          </a:p>
          <a:p>
            <a:r>
              <a:rPr lang="pt-PT" sz="2000" noProof="1">
                <a:solidFill>
                  <a:srgbClr val="002060"/>
                </a:solidFill>
              </a:rPr>
              <a:t>		- Common way: just write and validate the proof of P2</a:t>
            </a:r>
          </a:p>
          <a:p>
            <a:r>
              <a:rPr lang="pt-PT" sz="2000" noProof="1">
                <a:solidFill>
                  <a:srgbClr val="002060"/>
                </a:solidFill>
              </a:rPr>
              <a:t>		- Our approach: prove that P1 is correct and 					then establish that P1 and P2 are equivalente</a:t>
            </a:r>
          </a:p>
          <a:p>
            <a:endParaRPr lang="pt-PT" sz="20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sz="2000" noProof="1">
                <a:solidFill>
                  <a:srgbClr val="002060"/>
                </a:solidFill>
              </a:rPr>
              <a:t>Why? </a:t>
            </a:r>
          </a:p>
          <a:p>
            <a:pPr lvl="1"/>
            <a:r>
              <a:rPr lang="pt-PT" sz="2000" noProof="1">
                <a:solidFill>
                  <a:srgbClr val="002060"/>
                </a:solidFill>
              </a:rPr>
              <a:t>	- Proving equivalence is often simpler than proving 	correctness of complex programs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1">
              <a:solidFill>
                <a:srgbClr val="00206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A59B3C-4682-C1F9-F3AC-E7F21F37B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3812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15B1-E030-AB06-C90F-33AEEBE4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56338-A3E7-8B31-23B0-FF6AAC0856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WhyRel?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D3E8A-F9D1-A27A-9610-C79AA34F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808A7-0D85-02C4-9FD0-AC62B1E78378}"/>
              </a:ext>
            </a:extLst>
          </p:cNvPr>
          <p:cNvSpPr txBox="1"/>
          <p:nvPr/>
        </p:nvSpPr>
        <p:spPr>
          <a:xfrm>
            <a:off x="469556" y="1480530"/>
            <a:ext cx="7199872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tool that aims to verify relational properties of pointer programs based on relational region logic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These auto-active tools enable the verification of a larger set of programs but require more user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works as a translator for the why3 platform to perform formal verification 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is the most important practical work for this thesis</a:t>
            </a:r>
          </a:p>
        </p:txBody>
      </p:sp>
    </p:spTree>
    <p:extLst>
      <p:ext uri="{BB962C8B-B14F-4D97-AF65-F5344CB8AC3E}">
        <p14:creationId xmlns:p14="http://schemas.microsoft.com/office/powerpoint/2010/main" val="2961865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1884297"/>
            <a:ext cx="6960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noProof="1">
                <a:solidFill>
                  <a:srgbClr val="002060"/>
                </a:solidFill>
              </a:rPr>
              <a:t>Why bip2ml?</a:t>
            </a:r>
          </a:p>
          <a:p>
            <a:endParaRPr lang="en-US" sz="2400" i="1" noProof="1">
              <a:solidFill>
                <a:srgbClr val="002060"/>
              </a:solidFill>
            </a:endParaRPr>
          </a:p>
          <a:p>
            <a:r>
              <a:rPr lang="en-US" sz="2400" noProof="1">
                <a:solidFill>
                  <a:srgbClr val="002060"/>
                </a:solidFill>
              </a:rPr>
              <a:t>To allow programmers to verify relational properties about their OCaml projects without needing to: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Completely rewrite the code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Learn a different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96D9-A956-439C-64CD-BE3345CE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E61C9-7408-2043-3AB4-9534A6C836A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bip2ml?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F3DB-62AF-2FF2-62F5-000DBFDA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3AE1B-E870-C78E-3804-A7F4A80E557E}"/>
              </a:ext>
            </a:extLst>
          </p:cNvPr>
          <p:cNvSpPr txBox="1"/>
          <p:nvPr/>
        </p:nvSpPr>
        <p:spPr>
          <a:xfrm>
            <a:off x="469556" y="1611054"/>
            <a:ext cx="666441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Our main contribution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transpiler that eases verification of relational properties about OCaml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Transpiles biprograms using the translation rules defined by WhyRel’s authors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Input: Gospel-annotated BipLang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Output: Gospel-annotated OCaml code</a:t>
            </a:r>
          </a:p>
        </p:txBody>
      </p:sp>
    </p:spTree>
    <p:extLst>
      <p:ext uri="{BB962C8B-B14F-4D97-AF65-F5344CB8AC3E}">
        <p14:creationId xmlns:p14="http://schemas.microsoft.com/office/powerpoint/2010/main" val="123677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1921731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3217384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89A5-A444-961B-2B17-CD22242D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192653-D341-353F-5531-00974CDA91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BipLang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B44FB-BE5D-5511-BC89-A8EA73F8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1BD0A-DCBD-E2A9-F8C5-E7384F63E377}"/>
              </a:ext>
            </a:extLst>
          </p:cNvPr>
          <p:cNvSpPr txBox="1"/>
          <p:nvPr/>
        </p:nvSpPr>
        <p:spPr>
          <a:xfrm>
            <a:off x="469557" y="1514965"/>
            <a:ext cx="73152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Simplifies writing biprograms and is based on the biprograms language used in WhyRel’s work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Designed to be as similar as possible to OCaml in terms of syntax and semantics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Some OCaml features are missing, but we add 3: 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Pipe: &lt;|&gt;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Floors: |_ and _|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Conditionally aligned loops</a:t>
            </a:r>
          </a:p>
        </p:txBody>
      </p:sp>
    </p:spTree>
    <p:extLst>
      <p:ext uri="{BB962C8B-B14F-4D97-AF65-F5344CB8AC3E}">
        <p14:creationId xmlns:p14="http://schemas.microsoft.com/office/powerpoint/2010/main" val="3909667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2E031-1460-8DA8-7CEE-523B15C71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7D16C2-D32D-2BF1-240E-4854A85217A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3391F-7F85-B32A-556F-401CCE30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981B99-2721-B256-8957-0166F598BBAB}"/>
              </a:ext>
            </a:extLst>
          </p:cNvPr>
          <p:cNvSpPr txBox="1"/>
          <p:nvPr/>
        </p:nvSpPr>
        <p:spPr>
          <a:xfrm>
            <a:off x="469556" y="1671484"/>
            <a:ext cx="7315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(|_ x : int _|) : |_ int _| = </a:t>
            </a:r>
            <a:r>
              <a:rPr lang="en-US" sz="2000" noProof="1">
                <a:solidFill>
                  <a:srgbClr val="F3530B"/>
                </a:solidFill>
              </a:rPr>
              <a:t>begin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    let</a:t>
            </a:r>
            <a:r>
              <a:rPr lang="en-US" sz="2000" noProof="1">
                <a:solidFill>
                  <a:srgbClr val="002060"/>
                </a:solidFill>
              </a:rPr>
              <a:t> y = x + 2 &lt;|&gt; x * 2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|_ y _|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</a:t>
            </a:r>
            <a:r>
              <a:rPr lang="en-US" sz="2000" noProof="1">
                <a:solidFill>
                  <a:srgbClr val="002060"/>
                </a:solidFill>
              </a:rPr>
              <a:t> 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</p:txBody>
      </p:sp>
    </p:spTree>
    <p:extLst>
      <p:ext uri="{BB962C8B-B14F-4D97-AF65-F5344CB8AC3E}">
        <p14:creationId xmlns:p14="http://schemas.microsoft.com/office/powerpoint/2010/main" val="563960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6108-2CE4-B9FC-195B-AA83FBAA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AED226-F884-3835-AAD1-36568A26FD4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62D5B-842C-59BF-1EC7-E977C17D7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F016E8-FC76-1F52-D35C-AAAEBB274FFC}"/>
              </a:ext>
            </a:extLst>
          </p:cNvPr>
          <p:cNvSpPr txBox="1"/>
          <p:nvPr/>
        </p:nvSpPr>
        <p:spPr>
          <a:xfrm>
            <a:off x="469556" y="1655982"/>
            <a:ext cx="76776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(x_l : int) (x_r : int) : int *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y_l = (x_l + 2)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y_r = (x_r *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(y_l, y_r)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 </a:t>
            </a:r>
            <a:r>
              <a:rPr lang="en-US" sz="2000" noProof="1">
                <a:solidFill>
                  <a:srgbClr val="002060"/>
                </a:solidFill>
              </a:rPr>
              <a:t>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	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  <a:p>
            <a:endParaRPr lang="en-US" sz="2000" noProof="1">
              <a:solidFill>
                <a:srgbClr val="00206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5A0C3-AB78-37A8-0DBE-161314C34014}"/>
              </a:ext>
            </a:extLst>
          </p:cNvPr>
          <p:cNvSpPr txBox="1"/>
          <p:nvPr/>
        </p:nvSpPr>
        <p:spPr>
          <a:xfrm>
            <a:off x="469556" y="3977177"/>
            <a:ext cx="42915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</a:t>
            </a:r>
            <a:r>
              <a:rPr lang="pt-PT" dirty="0" err="1">
                <a:solidFill>
                  <a:srgbClr val="F3530B"/>
                </a:solidFill>
              </a:rPr>
              <a:t>let</a:t>
            </a:r>
            <a:r>
              <a:rPr lang="pt-PT" dirty="0">
                <a:solidFill>
                  <a:srgbClr val="F3530B"/>
                </a:solidFill>
              </a:rPr>
              <a:t> y = x + 2 &lt;|&gt; x * 2 in 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+ 2 in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* 2 in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E20D3-458B-9C08-721B-B4C9926735F9}"/>
              </a:ext>
            </a:extLst>
          </p:cNvPr>
          <p:cNvSpPr txBox="1"/>
          <p:nvPr/>
        </p:nvSpPr>
        <p:spPr>
          <a:xfrm>
            <a:off x="5381506" y="3977176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|_ y _|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(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,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209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AF1-5FD1-166B-7045-0EE556BBB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DB56FE-145E-B781-5DD4-F5F6270AE1E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Visualizer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573BA-FFA0-1BB5-B186-E9DBF9085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42195-A529-A857-26D9-2279AE52A266}"/>
              </a:ext>
            </a:extLst>
          </p:cNvPr>
          <p:cNvSpPr txBox="1"/>
          <p:nvPr/>
        </p:nvSpPr>
        <p:spPr>
          <a:xfrm>
            <a:off x="469556" y="1984521"/>
            <a:ext cx="68456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using bip2ml in a website through a client-server dynamic (local only for now)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Enables visualization of BipLang and OCaml ASTs, as well as simplifying their comparison</a:t>
            </a:r>
          </a:p>
        </p:txBody>
      </p:sp>
    </p:spTree>
    <p:extLst>
      <p:ext uri="{BB962C8B-B14F-4D97-AF65-F5344CB8AC3E}">
        <p14:creationId xmlns:p14="http://schemas.microsoft.com/office/powerpoint/2010/main" val="441316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67E0-3A69-CABE-9E0A-9F587DEA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3BB568-520D-6683-04BA-FA626968DD3E}"/>
              </a:ext>
            </a:extLst>
          </p:cNvPr>
          <p:cNvSpPr txBox="1"/>
          <p:nvPr/>
        </p:nvSpPr>
        <p:spPr>
          <a:xfrm>
            <a:off x="1198606" y="2145439"/>
            <a:ext cx="67467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 Visualizer Demo 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1877AE-6DB9-1A26-C0BA-3E09B261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4071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B641-193F-38C8-53D8-87AE74B9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D398-4FE2-78BB-20AC-437120CB1218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Source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8AA87-54B8-6C37-3F26-5C8FDD9E4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43B5-6238-A236-23DC-473506BC36DE}"/>
              </a:ext>
            </a:extLst>
          </p:cNvPr>
          <p:cNvSpPr txBox="1"/>
          <p:nvPr/>
        </p:nvSpPr>
        <p:spPr>
          <a:xfrm>
            <a:off x="469556" y="1903254"/>
            <a:ext cx="6098977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induc_var_strength_red_source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j := !i * b + c;</a:t>
            </a:r>
          </a:p>
          <a:p>
            <a:pPr lvl="2"/>
            <a:r>
              <a:rPr lang="pt-PT" sz="1600" dirty="0"/>
              <a:t>x := !x + !j;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40877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20B36-048C-8342-A682-61242236E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CB3481-2791-1108-3814-E74536B31B8F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Optimized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EFDC3-AE26-2FC4-1F10-057A2D0B6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EA6E1-6242-7998-6CE8-F2E544B851F3}"/>
              </a:ext>
            </a:extLst>
          </p:cNvPr>
          <p:cNvSpPr txBox="1"/>
          <p:nvPr/>
        </p:nvSpPr>
        <p:spPr>
          <a:xfrm>
            <a:off x="469556" y="1903254"/>
            <a:ext cx="6368025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induc_var_strength_red_optimized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x := !x + !j;</a:t>
            </a:r>
          </a:p>
          <a:p>
            <a:pPr lvl="2"/>
            <a:r>
              <a:rPr lang="pt-PT" sz="1600" dirty="0"/>
              <a:t>j := !j + b;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77526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20733-55AD-4ED3-44A6-BA5CA7A39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E09081-DDD9-7A3F-11CB-68DCEF1CE62C}"/>
              </a:ext>
            </a:extLst>
          </p:cNvPr>
          <p:cNvSpPr txBox="1"/>
          <p:nvPr/>
        </p:nvSpPr>
        <p:spPr>
          <a:xfrm>
            <a:off x="469556" y="518979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2D6D9-0388-168C-1CFC-72AFA60A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7F00FC-CCBA-53EB-320C-C7192B7C6C42}"/>
              </a:ext>
            </a:extLst>
          </p:cNvPr>
          <p:cNvSpPr txBox="1"/>
          <p:nvPr/>
        </p:nvSpPr>
        <p:spPr>
          <a:xfrm>
            <a:off x="469556" y="1235563"/>
            <a:ext cx="7601312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induc_var_strength_red_biprogram</a:t>
            </a:r>
            <a:r>
              <a:rPr lang="en-US" sz="1600" dirty="0"/>
              <a:t> (|_b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_|) : |_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&lt;|&gt;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|_ !i &lt; n _|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  <a:p>
            <a:pPr lvl="1"/>
            <a:r>
              <a:rPr lang="pt-PT" sz="1600" dirty="0"/>
              <a:t>	j := !i * b + c &lt;|&gt; x := !x + !j;</a:t>
            </a:r>
          </a:p>
          <a:p>
            <a:pPr lvl="2"/>
            <a:r>
              <a:rPr lang="pt-PT" sz="1600" dirty="0"/>
              <a:t>x := !x + !j 	   &lt;|&gt; j := !j + b;</a:t>
            </a:r>
          </a:p>
          <a:p>
            <a:pPr lvl="2"/>
            <a:r>
              <a:rPr lang="pt-PT" sz="1600" dirty="0"/>
              <a:t>i := |_ !i + 1 _| 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r>
              <a:rPr lang="pt-PT" sz="1600" dirty="0"/>
              <a:t>	|_ !x _| 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r>
              <a:rPr lang="pt-PT" sz="1600" dirty="0"/>
              <a:t>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36168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B06D-D839-F14B-4672-75B4F894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329DC-AEBA-6A4F-5C27-9E723C23FD98}"/>
              </a:ext>
            </a:extLst>
          </p:cNvPr>
          <p:cNvSpPr txBox="1"/>
          <p:nvPr/>
        </p:nvSpPr>
        <p:spPr>
          <a:xfrm>
            <a:off x="469556" y="459260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D45AB-AD05-79BD-2F1D-3741401F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43738-9AEF-0B9F-F297-E7C42F6EE883}"/>
              </a:ext>
            </a:extLst>
          </p:cNvPr>
          <p:cNvSpPr txBox="1"/>
          <p:nvPr/>
        </p:nvSpPr>
        <p:spPr>
          <a:xfrm>
            <a:off x="469556" y="1491362"/>
            <a:ext cx="8139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induc_var_strength_red_ocaml</a:t>
            </a:r>
            <a:r>
              <a:rPr lang="en-US" sz="1600" dirty="0"/>
              <a:t> </a:t>
            </a:r>
            <a:r>
              <a:rPr lang="sv-SE" sz="1600" dirty="0"/>
              <a:t>(b_l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(b_r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: </a:t>
            </a:r>
          </a:p>
          <a:p>
            <a:r>
              <a:rPr lang="sv-SE" sz="1600" dirty="0"/>
              <a:t>	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*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=</a:t>
            </a:r>
          </a:p>
          <a:p>
            <a:endParaRPr lang="en-US" sz="1600" dirty="0">
              <a:solidFill>
                <a:schemeClr val="accent2"/>
              </a:solidFill>
            </a:endParaRP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</a:t>
            </a:r>
            <a:r>
              <a:rPr lang="en-US" sz="1600" dirty="0" err="1"/>
              <a:t>c_r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</a:t>
            </a:r>
            <a:r>
              <a:rPr lang="en-US" sz="1600" dirty="0"/>
              <a:t>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</a:t>
            </a:r>
          </a:p>
          <a:p>
            <a:r>
              <a:rPr lang="pt-PT" sz="1600" dirty="0">
                <a:solidFill>
                  <a:schemeClr val="accent2"/>
                </a:solidFill>
              </a:rPr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</p:txBody>
      </p:sp>
    </p:spTree>
    <p:extLst>
      <p:ext uri="{BB962C8B-B14F-4D97-AF65-F5344CB8AC3E}">
        <p14:creationId xmlns:p14="http://schemas.microsoft.com/office/powerpoint/2010/main" val="318938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14A-439F-DA5D-A3DD-FEC1C1E2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84FB8-B2C7-8AD3-F208-3932D3502E15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8D123-700C-C59D-3834-68A214DB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1EC12-0753-1288-6196-ED65D450434C}"/>
              </a:ext>
            </a:extLst>
          </p:cNvPr>
          <p:cNvSpPr txBox="1"/>
          <p:nvPr/>
        </p:nvSpPr>
        <p:spPr>
          <a:xfrm>
            <a:off x="469556" y="1936811"/>
            <a:ext cx="545841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	</a:t>
            </a:r>
            <a:r>
              <a:rPr lang="pt-PT" sz="1600" dirty="0" err="1"/>
              <a:t>j_l</a:t>
            </a:r>
            <a:r>
              <a:rPr lang="pt-PT" sz="1600" dirty="0"/>
              <a:t> := ((!</a:t>
            </a:r>
            <a:r>
              <a:rPr lang="pt-PT" sz="1600" dirty="0" err="1"/>
              <a:t>i_l</a:t>
            </a:r>
            <a:r>
              <a:rPr lang="pt-PT" sz="1600" dirty="0"/>
              <a:t> * </a:t>
            </a:r>
            <a:r>
              <a:rPr lang="pt-PT" sz="1600" dirty="0" err="1"/>
              <a:t>b_l</a:t>
            </a:r>
            <a:r>
              <a:rPr lang="pt-PT" sz="1600" dirty="0"/>
              <a:t>) + </a:t>
            </a:r>
            <a:r>
              <a:rPr lang="pt-PT" sz="1600" dirty="0" err="1"/>
              <a:t>c_l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x_r</a:t>
            </a:r>
            <a:r>
              <a:rPr lang="pt-PT" sz="1600" dirty="0"/>
              <a:t> := (!</a:t>
            </a:r>
            <a:r>
              <a:rPr lang="pt-PT" sz="1600" dirty="0" err="1"/>
              <a:t>x_r</a:t>
            </a:r>
            <a:r>
              <a:rPr lang="pt-PT" sz="1600" dirty="0"/>
              <a:t> + !</a:t>
            </a:r>
            <a:r>
              <a:rPr lang="pt-PT" sz="1600" dirty="0" err="1"/>
              <a:t>j_r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x_l</a:t>
            </a:r>
            <a:r>
              <a:rPr lang="pt-PT" sz="1600" dirty="0"/>
              <a:t> := (!</a:t>
            </a:r>
            <a:r>
              <a:rPr lang="pt-PT" sz="1600" dirty="0" err="1"/>
              <a:t>x_l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j_r</a:t>
            </a:r>
            <a:r>
              <a:rPr lang="pt-PT" sz="1600" dirty="0"/>
              <a:t> := (!</a:t>
            </a:r>
            <a:r>
              <a:rPr lang="pt-PT" sz="1600" dirty="0" err="1"/>
              <a:t>j_r</a:t>
            </a:r>
            <a:r>
              <a:rPr lang="pt-PT" sz="1600" dirty="0"/>
              <a:t> + </a:t>
            </a:r>
            <a:r>
              <a:rPr lang="pt-PT" sz="1600" dirty="0" err="1"/>
              <a:t>b_r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2"/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endParaRPr lang="pt-PT" sz="1600" dirty="0"/>
          </a:p>
          <a:p>
            <a:r>
              <a:rPr lang="pt-PT" sz="1600" dirty="0"/>
              <a:t>	(!</a:t>
            </a:r>
            <a:r>
              <a:rPr lang="pt-PT" sz="1600" dirty="0" err="1"/>
              <a:t>x_l</a:t>
            </a:r>
            <a:r>
              <a:rPr lang="pt-PT" sz="1600" dirty="0"/>
              <a:t>, !</a:t>
            </a:r>
            <a:r>
              <a:rPr lang="pt-PT" sz="1600" dirty="0" err="1"/>
              <a:t>x_r</a:t>
            </a:r>
            <a:r>
              <a:rPr lang="pt-PT" sz="1600" dirty="0"/>
              <a:t>)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0790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507E-E9EF-476E-C642-422F2B75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2DAB50-D575-58DC-DD1E-645D74019E70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B04F8-B974-4381-C0C2-C7255B40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6434F73-6A19-CA90-9010-06047899B3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9" t="41831" b="25311"/>
          <a:stretch>
            <a:fillRect/>
          </a:stretch>
        </p:blipFill>
        <p:spPr>
          <a:xfrm>
            <a:off x="469556" y="1270565"/>
            <a:ext cx="6680887" cy="2288547"/>
          </a:xfrm>
          <a:prstGeom prst="rect">
            <a:avLst/>
          </a:prstGeom>
        </p:spPr>
      </p:pic>
      <p:pic>
        <p:nvPicPr>
          <p:cNvPr id="3" name="Picture 2" descr="A screenshot of a computer code">
            <a:extLst>
              <a:ext uri="{FF2B5EF4-FFF2-40B4-BE49-F238E27FC236}">
                <a16:creationId xmlns:a16="http://schemas.microsoft.com/office/drawing/2014/main" id="{BAFA61C1-CC1C-378A-9AE5-E6D4BB20B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0" t="74526" r="239" b="-668"/>
          <a:stretch>
            <a:fillRect/>
          </a:stretch>
        </p:blipFill>
        <p:spPr>
          <a:xfrm>
            <a:off x="1313934" y="3559112"/>
            <a:ext cx="6680887" cy="182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668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u="sng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892563" y="3571023"/>
            <a:ext cx="4967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1512</TotalTime>
  <Words>1536</Words>
  <Application>Microsoft Office PowerPoint</Application>
  <PresentationFormat>On-screen Show (16:10)</PresentationFormat>
  <Paragraphs>222</Paragraphs>
  <Slides>28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98</cp:revision>
  <dcterms:created xsi:type="dcterms:W3CDTF">2025-02-13T13:42:37Z</dcterms:created>
  <dcterms:modified xsi:type="dcterms:W3CDTF">2025-12-11T13:33:59Z</dcterms:modified>
</cp:coreProperties>
</file>