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0"/>
  </p:notesMasterIdLst>
  <p:sldIdLst>
    <p:sldId id="256" r:id="rId2"/>
    <p:sldId id="292" r:id="rId3"/>
    <p:sldId id="331" r:id="rId4"/>
    <p:sldId id="293" r:id="rId5"/>
    <p:sldId id="257" r:id="rId6"/>
    <p:sldId id="294" r:id="rId7"/>
    <p:sldId id="308" r:id="rId8"/>
    <p:sldId id="305" r:id="rId9"/>
    <p:sldId id="295" r:id="rId10"/>
    <p:sldId id="314" r:id="rId11"/>
    <p:sldId id="304" r:id="rId12"/>
    <p:sldId id="313" r:id="rId13"/>
    <p:sldId id="332" r:id="rId14"/>
    <p:sldId id="333" r:id="rId15"/>
    <p:sldId id="320" r:id="rId16"/>
    <p:sldId id="323" r:id="rId17"/>
    <p:sldId id="296" r:id="rId18"/>
    <p:sldId id="315" r:id="rId19"/>
    <p:sldId id="325" r:id="rId20"/>
    <p:sldId id="324" r:id="rId21"/>
    <p:sldId id="317" r:id="rId22"/>
    <p:sldId id="318" r:id="rId23"/>
    <p:sldId id="334" r:id="rId24"/>
    <p:sldId id="297" r:id="rId25"/>
    <p:sldId id="298" r:id="rId26"/>
    <p:sldId id="300" r:id="rId27"/>
    <p:sldId id="299" r:id="rId28"/>
    <p:sldId id="301" r:id="rId29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530B"/>
    <a:srgbClr val="ACCFEE"/>
    <a:srgbClr val="90BEE8"/>
    <a:srgbClr val="81AADB"/>
    <a:srgbClr val="78B8F8"/>
    <a:srgbClr val="9CCBFA"/>
    <a:srgbClr val="6EA0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265" autoAdjust="0"/>
    <p:restoredTop sz="94660"/>
  </p:normalViewPr>
  <p:slideViewPr>
    <p:cSldViewPr snapToGrid="0">
      <p:cViewPr varScale="1">
        <p:scale>
          <a:sx n="93" d="100"/>
          <a:sy n="93" d="100"/>
        </p:scale>
        <p:origin x="58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D7271-F55A-4686-93D9-9528AEDA1906}" type="datetimeFigureOut">
              <a:rPr lang="en-US" smtClean="0"/>
              <a:t>12/12/2025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3F2602-38FE-4418-A7EF-ADB22DAE42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389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</a:t>
            </a:r>
            <a:r>
              <a:rPr lang="en-US" dirty="0" err="1"/>
              <a:t>falamos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prova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 de </a:t>
            </a:r>
            <a:r>
              <a:rPr lang="en-US" dirty="0" err="1"/>
              <a:t>equivalência</a:t>
            </a:r>
            <a:r>
              <a:rPr lang="en-US" dirty="0"/>
              <a:t>, </a:t>
            </a:r>
            <a:r>
              <a:rPr lang="en-US" dirty="0" err="1"/>
              <a:t>queremos</a:t>
            </a:r>
            <a:r>
              <a:rPr lang="en-US" dirty="0"/>
              <a:t> </a:t>
            </a:r>
            <a:r>
              <a:rPr lang="en-US" dirty="0" err="1"/>
              <a:t>dizer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dirty="0" err="1"/>
              <a:t>interação</a:t>
            </a:r>
            <a:r>
              <a:rPr lang="en-US" dirty="0"/>
              <a:t> do </a:t>
            </a:r>
            <a:r>
              <a:rPr lang="en-US" dirty="0" err="1"/>
              <a:t>utilizador</a:t>
            </a:r>
            <a:r>
              <a:rPr lang="en-US" dirty="0"/>
              <a:t> </a:t>
            </a:r>
            <a:r>
              <a:rPr lang="en-US" dirty="0" err="1"/>
              <a:t>depois</a:t>
            </a:r>
            <a:r>
              <a:rPr lang="en-US" dirty="0"/>
              <a:t> da </a:t>
            </a:r>
            <a:r>
              <a:rPr lang="en-US" dirty="0" err="1"/>
              <a:t>escrita</a:t>
            </a:r>
            <a:r>
              <a:rPr lang="en-US" dirty="0"/>
              <a:t> da </a:t>
            </a:r>
            <a:r>
              <a:rPr lang="en-US" dirty="0" err="1"/>
              <a:t>especificação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2602-38FE-4418-A7EF-ADB22DAE42F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53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2602-38FE-4418-A7EF-ADB22DAE42F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1091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F8597-CF9F-4020-2510-8250018A8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A2086-778C-2731-8FF2-66E6F7BF96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2B735D-0845-C0A7-6580-7C14303C9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30F77-6870-1AF1-7FB6-C618D64B61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2602-38FE-4418-A7EF-ADB22DAE42F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576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A7401-CD86-6C61-93A6-984C4436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9E712F-641A-85A1-9E28-B73DD58A87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30BF0D-67E7-A7A3-CE75-9ACFD2BA33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D41903-4911-B03E-B6ED-09FDAB7679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3F2602-38FE-4418-A7EF-ADB22DAE42F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982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BF2F9-84AD-46CB-8486-EB732804F762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rgbClr val="002060"/>
                </a:solidFill>
              </a:defRPr>
            </a:lvl1pPr>
          </a:lstStyle>
          <a:p>
            <a:fld id="{292A9FD8-515A-4698-9313-0AB17EE963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79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54784-9B75-4DBC-ACA0-9F51227CD78F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06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E4D52-32DE-4F35-8CB6-5A44573D3FC9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40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FB22E-8A21-4AF6-BDE0-993A2F9B14BB}" type="datetime1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905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1D9E4-527D-47F1-B47F-963D62CCBC76}" type="datetime1">
              <a:rPr lang="en-US" smtClean="0"/>
              <a:t>12/12/2025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125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6A608-925A-4874-BCA4-36BA40FADF76}" type="datetime1">
              <a:rPr lang="en-US" smtClean="0"/>
              <a:t>12/12/2025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409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CB426-3683-4E7C-B869-5155B20F8BC6}" type="datetime1">
              <a:rPr lang="en-US" smtClean="0"/>
              <a:t>12/12/2025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61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1EA60-24F6-40E8-A0D7-2067F6ECA6B2}" type="datetime1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086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06440-8C5F-4111-9AD5-D0C1FDF01CE9}" type="datetime1">
              <a:rPr lang="en-US" smtClean="0"/>
              <a:t>12/12/2025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524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18752-90E6-4B57-86C0-C43DD2320A2D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118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E5269-252E-4ABC-B047-AD967E98EA5E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325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CC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16FEB8-5B01-4F5E-B573-CC516A2AD5E4}" type="datetime1">
              <a:rPr lang="en-US" smtClean="0"/>
              <a:t>12/12/2025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863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9373C-2D23-F449-45CC-7F420DB7E6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88433"/>
            <a:ext cx="6858000" cy="1687842"/>
          </a:xfrm>
        </p:spPr>
        <p:txBody>
          <a:bodyPr>
            <a:normAutofit/>
          </a:bodyPr>
          <a:lstStyle/>
          <a:p>
            <a:r>
              <a:rPr lang="en-US" sz="44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77CF3-8E6D-455B-29AC-242630158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</a:t>
            </a:fld>
            <a:endParaRPr lang="en-US" noProof="1"/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EFD5CCAB-49EF-292A-B1D6-C8D6E36210E2}"/>
              </a:ext>
            </a:extLst>
          </p:cNvPr>
          <p:cNvSpPr txBox="1">
            <a:spLocks/>
          </p:cNvSpPr>
          <p:nvPr/>
        </p:nvSpPr>
        <p:spPr>
          <a:xfrm>
            <a:off x="1143000" y="3207644"/>
            <a:ext cx="6858000" cy="137980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</p:spTree>
    <p:extLst>
      <p:ext uri="{BB962C8B-B14F-4D97-AF65-F5344CB8AC3E}">
        <p14:creationId xmlns:p14="http://schemas.microsoft.com/office/powerpoint/2010/main" val="1184306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7819D-22DF-BB89-F824-CADBC1617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DD2D7D-902F-2269-3BB0-FB38B484CA03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Motivation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024C74-BD52-17A9-B912-C9D5D2C76EFB}"/>
              </a:ext>
            </a:extLst>
          </p:cNvPr>
          <p:cNvSpPr txBox="1"/>
          <p:nvPr/>
        </p:nvSpPr>
        <p:spPr>
          <a:xfrm>
            <a:off x="469556" y="2041892"/>
            <a:ext cx="356698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noProof="1">
                <a:solidFill>
                  <a:srgbClr val="002060"/>
                </a:solidFill>
              </a:rPr>
              <a:t>Annoying bugs in games 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Errors in food delivery apps</a:t>
            </a:r>
          </a:p>
          <a:p>
            <a:pPr algn="r"/>
            <a:endParaRPr lang="en-US" sz="2000" noProof="1">
              <a:solidFill>
                <a:srgbClr val="002060"/>
              </a:solidFill>
            </a:endParaRP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Therac-25 radiation overdoses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AWS and Cloudflare outages 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6E119382-9F46-F38D-6705-65FDB3D1A255}"/>
              </a:ext>
            </a:extLst>
          </p:cNvPr>
          <p:cNvSpPr/>
          <p:nvPr/>
        </p:nvSpPr>
        <p:spPr>
          <a:xfrm>
            <a:off x="4036541" y="1890585"/>
            <a:ext cx="527222" cy="193899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3EECF-AB62-BF50-D520-5784A13E1375}"/>
              </a:ext>
            </a:extLst>
          </p:cNvPr>
          <p:cNvSpPr txBox="1"/>
          <p:nvPr/>
        </p:nvSpPr>
        <p:spPr>
          <a:xfrm>
            <a:off x="4563763" y="2510983"/>
            <a:ext cx="272260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C00000"/>
                </a:solidFill>
              </a:rPr>
              <a:t>Avoidable!</a:t>
            </a:r>
          </a:p>
          <a:p>
            <a:pPr algn="ctr"/>
            <a:r>
              <a:rPr lang="en-US" sz="2000" noProof="1">
                <a:solidFill>
                  <a:srgbClr val="002060"/>
                </a:solidFill>
              </a:rPr>
              <a:t>What is the most reliable way?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C54A17-3D95-2445-AA2A-1BE0F7278DDC}"/>
              </a:ext>
            </a:extLst>
          </p:cNvPr>
          <p:cNvCxnSpPr>
            <a:stCxn id="6" idx="2"/>
          </p:cNvCxnSpPr>
          <p:nvPr/>
        </p:nvCxnSpPr>
        <p:spPr>
          <a:xfrm>
            <a:off x="5925066" y="3618979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55FBB35-68D0-AB12-DB55-E8D45DF787E1}"/>
              </a:ext>
            </a:extLst>
          </p:cNvPr>
          <p:cNvSpPr txBox="1"/>
          <p:nvPr/>
        </p:nvSpPr>
        <p:spPr>
          <a:xfrm>
            <a:off x="4188941" y="4239377"/>
            <a:ext cx="3472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noProof="1">
                <a:solidFill>
                  <a:srgbClr val="002060"/>
                </a:solidFill>
              </a:rPr>
              <a:t>Deductive verification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C0FAB0-762B-10DB-6F17-118438930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</a:t>
            </a:fld>
            <a:endParaRPr lang="en-US" noProof="1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7AA87C7-57BE-D543-C4FF-917CD044392B}"/>
              </a:ext>
            </a:extLst>
          </p:cNvPr>
          <p:cNvCxnSpPr>
            <a:cxnSpLocks/>
          </p:cNvCxnSpPr>
          <p:nvPr/>
        </p:nvCxnSpPr>
        <p:spPr>
          <a:xfrm>
            <a:off x="642551" y="2857500"/>
            <a:ext cx="33939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702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FFA10-ED99-4DAB-09C6-F2C7A4186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E0CDC7-B6E8-E4BB-C6AE-BBB44A23A9D9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Our Vision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896CB3-ECA8-977A-74BD-D9D27B3641B1}"/>
              </a:ext>
            </a:extLst>
          </p:cNvPr>
          <p:cNvSpPr txBox="1"/>
          <p:nvPr/>
        </p:nvSpPr>
        <p:spPr>
          <a:xfrm>
            <a:off x="469556" y="1418284"/>
            <a:ext cx="781770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noProof="1">
                <a:solidFill>
                  <a:srgbClr val="002060"/>
                </a:solidFill>
              </a:rPr>
              <a:t>Deductive verification’s most common way: just write and validate the proof of the program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PT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noProof="1">
                <a:solidFill>
                  <a:srgbClr val="002060"/>
                </a:solidFill>
              </a:rPr>
              <a:t>Consider a specific case where we have two versions of the same program: one simple but slow (P1) and another complex but efficient (P2)</a:t>
            </a:r>
          </a:p>
          <a:p>
            <a:endParaRPr lang="pt-PT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noProof="1">
                <a:solidFill>
                  <a:srgbClr val="002060"/>
                </a:solidFill>
              </a:rPr>
              <a:t>How to prove correctness of P2?</a:t>
            </a:r>
          </a:p>
          <a:p>
            <a:r>
              <a:rPr lang="pt-PT" noProof="1">
                <a:solidFill>
                  <a:srgbClr val="002060"/>
                </a:solidFill>
              </a:rPr>
              <a:t>		- Our approach: prove that P1 is correct and 							then establish that P1 and P2 are equivalent</a:t>
            </a:r>
          </a:p>
          <a:p>
            <a:endParaRPr lang="pt-PT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PT" noProof="1">
                <a:solidFill>
                  <a:srgbClr val="002060"/>
                </a:solidFill>
              </a:rPr>
              <a:t>Why? </a:t>
            </a:r>
          </a:p>
          <a:p>
            <a:pPr lvl="1"/>
            <a:r>
              <a:rPr lang="pt-PT" noProof="1">
                <a:solidFill>
                  <a:srgbClr val="002060"/>
                </a:solidFill>
              </a:rPr>
              <a:t>	- Proving equivalence is often simpler than proving correctness of 	complex programs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noProof="1">
              <a:solidFill>
                <a:srgbClr val="00206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A59B3C-4682-C1F9-F3AC-E7F21F37B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381293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AFA4B-9E40-839C-CC14-2188445C4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4F06FF-0B28-EDDA-5C04-CF110DABB56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Problem Definition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05CD8D-715D-ECB2-4829-9F818F4400C8}"/>
              </a:ext>
            </a:extLst>
          </p:cNvPr>
          <p:cNvSpPr txBox="1"/>
          <p:nvPr/>
        </p:nvSpPr>
        <p:spPr>
          <a:xfrm>
            <a:off x="1357184" y="2549093"/>
            <a:ext cx="64296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noProof="1">
                <a:solidFill>
                  <a:srgbClr val="002060"/>
                </a:solidFill>
              </a:rPr>
              <a:t>Can we automatically prove that two different programs are equivalent?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E23ED2-DECC-485A-D894-EB1A353D8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472323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C5F3-341B-CDA0-3B22-A015F4422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5F7AE157-3983-D646-088D-E1E2E8187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908" y="2311246"/>
            <a:ext cx="6858000" cy="2394086"/>
          </a:xfrm>
        </p:spPr>
        <p:txBody>
          <a:bodyPr>
            <a:noAutofit/>
          </a:bodyPr>
          <a:lstStyle/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WhyRel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bip2ml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Case Studies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Conclusions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18E59A-FE1A-37E4-F155-D8BDF0494D9D}"/>
              </a:ext>
            </a:extLst>
          </p:cNvPr>
          <p:cNvSpPr txBox="1"/>
          <p:nvPr/>
        </p:nvSpPr>
        <p:spPr>
          <a:xfrm>
            <a:off x="1416908" y="812984"/>
            <a:ext cx="63101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noProof="1">
                <a:solidFill>
                  <a:srgbClr val="002060"/>
                </a:solidFill>
              </a:rPr>
              <a:t>Presentation Structure</a:t>
            </a:r>
            <a:endParaRPr lang="en-US" sz="40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A381D-06C1-EC60-F50A-82AED36CB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30386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D69F5-EEB7-C983-89E8-5EAF9311E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4C6203-4DFE-71C1-7475-A0653237A23D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WhyRel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EC26C5-CF61-CD11-CADF-665A9E286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6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766478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215B1-E030-AB06-C90F-33AEEBE4C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756338-A3E7-8B31-23B0-FF6AAC0856B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What is WhyRel?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D3E8A-F9D1-A27A-9610-C79AA34FC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7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5808A7-0D85-02C4-9FD0-AC62B1E78378}"/>
              </a:ext>
            </a:extLst>
          </p:cNvPr>
          <p:cNvSpPr txBox="1"/>
          <p:nvPr/>
        </p:nvSpPr>
        <p:spPr>
          <a:xfrm>
            <a:off x="469556" y="1480530"/>
            <a:ext cx="7199872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A tool that aims to verify relational properties of pointer programs based on relational region logic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These auto-active tools enable the verification of a larger set of programs but require more user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WhyRel works as a translator for the why3 platform to perform formal verification 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WhyRel is the most important practical work for this thesis</a:t>
            </a:r>
          </a:p>
        </p:txBody>
      </p:sp>
    </p:spTree>
    <p:extLst>
      <p:ext uri="{BB962C8B-B14F-4D97-AF65-F5344CB8AC3E}">
        <p14:creationId xmlns:p14="http://schemas.microsoft.com/office/powerpoint/2010/main" val="2961865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1F5A8-F169-2814-0EC4-DF33D094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8B3932-2A7C-3A6E-6E7E-EEAB07A5228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From bip2ml 2 WhyRel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2067F-F56B-7D25-A9C7-976D469A4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8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01DFD2-1A28-5BB8-86A8-B175A9BADBA6}"/>
              </a:ext>
            </a:extLst>
          </p:cNvPr>
          <p:cNvSpPr txBox="1"/>
          <p:nvPr/>
        </p:nvSpPr>
        <p:spPr>
          <a:xfrm>
            <a:off x="469556" y="1884297"/>
            <a:ext cx="696097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noProof="1">
                <a:solidFill>
                  <a:srgbClr val="002060"/>
                </a:solidFill>
              </a:rPr>
              <a:t>Why bip2ml?</a:t>
            </a:r>
          </a:p>
          <a:p>
            <a:endParaRPr lang="en-US" sz="2400" i="1" noProof="1">
              <a:solidFill>
                <a:srgbClr val="002060"/>
              </a:solidFill>
            </a:endParaRPr>
          </a:p>
          <a:p>
            <a:r>
              <a:rPr lang="en-US" sz="2400" noProof="1">
                <a:solidFill>
                  <a:srgbClr val="002060"/>
                </a:solidFill>
              </a:rPr>
              <a:t>To allow programmers to verify relational properties about their OCaml projects without needing to:</a:t>
            </a:r>
          </a:p>
          <a:p>
            <a:pPr lvl="1"/>
            <a:r>
              <a:rPr lang="en-US" sz="2400" noProof="1">
                <a:solidFill>
                  <a:srgbClr val="002060"/>
                </a:solidFill>
              </a:rPr>
              <a:t>- Completely rewrite the code</a:t>
            </a:r>
          </a:p>
          <a:p>
            <a:pPr lvl="1"/>
            <a:r>
              <a:rPr lang="en-US" sz="2400" noProof="1">
                <a:solidFill>
                  <a:srgbClr val="002060"/>
                </a:solidFill>
              </a:rPr>
              <a:t>- Learn a different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3292277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0D219-590C-B954-1A55-6E398BBB8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34082B-5CA4-6116-FE7C-1C2099477B58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bip2ml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9FC01B-5B72-8DED-FCC8-3C3488E8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9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523452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96D9-A956-439C-64CD-BE3345CE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5E61C9-7408-2043-3AB4-9534A6C836AD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What is bip2ml?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AF3DB-62AF-2FF2-62F5-000DBFDA8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10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B3AE1B-E870-C78E-3804-A7F4A80E557E}"/>
              </a:ext>
            </a:extLst>
          </p:cNvPr>
          <p:cNvSpPr txBox="1"/>
          <p:nvPr/>
        </p:nvSpPr>
        <p:spPr>
          <a:xfrm>
            <a:off x="469556" y="1611054"/>
            <a:ext cx="666441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Our main contribution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A transpiler that eases verification of relational properties about OCaml programs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Transpiles biprograms using the translation rules defined by WhyRel’s authors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Input: Gospel-annotated BipLang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Output: Gospel-annotated OCaml code</a:t>
            </a:r>
          </a:p>
        </p:txBody>
      </p:sp>
    </p:spTree>
    <p:extLst>
      <p:ext uri="{BB962C8B-B14F-4D97-AF65-F5344CB8AC3E}">
        <p14:creationId xmlns:p14="http://schemas.microsoft.com/office/powerpoint/2010/main" val="1236774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04D3-2CAC-93FE-D706-98DDA75D4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7F3F82-E861-1DB0-DEF2-FE290186730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+ Cameleer Architecture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1D7D4F-A2D4-B858-6236-10F23496E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11</a:t>
            </a:fld>
            <a:endParaRPr lang="en-US" noProof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B1599C-094B-F8F3-5A1B-547C33687B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1921731"/>
            <a:ext cx="8674444" cy="8534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5945E5-8767-0F61-5B98-A3B6164543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3217384"/>
            <a:ext cx="8674444" cy="9897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957108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989A5-A444-961B-2B17-CD22242D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192653-D341-353F-5531-00974CDA9117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BipLang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B44FB-BE5D-5511-BC89-A8EA73F85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12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F1BD0A-DCBD-E2A9-F8C5-E7384F63E377}"/>
              </a:ext>
            </a:extLst>
          </p:cNvPr>
          <p:cNvSpPr txBox="1"/>
          <p:nvPr/>
        </p:nvSpPr>
        <p:spPr>
          <a:xfrm>
            <a:off x="469557" y="1514965"/>
            <a:ext cx="73152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Simplifies writing biprograms and is based on the biprograms language used in WhyRel’s work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Designed to be as similar as possible to OCaml in terms of syntax and semantics</a:t>
            </a:r>
          </a:p>
          <a:p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Some OCaml features are missing, but we add 3: 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	- Pipe: &lt;|&gt;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	- Floors: |_ and _|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	- Conditionally aligned loops</a:t>
            </a:r>
          </a:p>
        </p:txBody>
      </p:sp>
    </p:spTree>
    <p:extLst>
      <p:ext uri="{BB962C8B-B14F-4D97-AF65-F5344CB8AC3E}">
        <p14:creationId xmlns:p14="http://schemas.microsoft.com/office/powerpoint/2010/main" val="3909667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2E031-1460-8DA8-7CEE-523B15C71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7D16C2-D32D-2BF1-240E-4854A85217A6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Motivating Example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3391F-7F85-B32A-556F-401CCE30D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13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981B99-2721-B256-8957-0166F598BBAB}"/>
              </a:ext>
            </a:extLst>
          </p:cNvPr>
          <p:cNvSpPr txBox="1"/>
          <p:nvPr/>
        </p:nvSpPr>
        <p:spPr>
          <a:xfrm>
            <a:off x="469556" y="1671484"/>
            <a:ext cx="73152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example (|_ x : int _|) : |_ int _| = </a:t>
            </a:r>
            <a:r>
              <a:rPr lang="en-US" sz="2000" noProof="1">
                <a:solidFill>
                  <a:srgbClr val="F3530B"/>
                </a:solidFill>
              </a:rPr>
              <a:t>begin</a:t>
            </a:r>
          </a:p>
          <a:p>
            <a:r>
              <a:rPr lang="en-US" sz="2000" noProof="1">
                <a:solidFill>
                  <a:srgbClr val="F3530B"/>
                </a:solidFill>
              </a:rPr>
              <a:t>    let</a:t>
            </a:r>
            <a:r>
              <a:rPr lang="en-US" sz="2000" noProof="1">
                <a:solidFill>
                  <a:srgbClr val="002060"/>
                </a:solidFill>
              </a:rPr>
              <a:t> y = x + 2 &lt;|&gt; x * 2 </a:t>
            </a:r>
            <a:r>
              <a:rPr lang="en-US" sz="2000" noProof="1">
                <a:solidFill>
                  <a:srgbClr val="F3530B"/>
                </a:solidFill>
              </a:rPr>
              <a:t>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|_ y _|</a:t>
            </a:r>
          </a:p>
          <a:p>
            <a:r>
              <a:rPr lang="en-US" sz="2000" noProof="1">
                <a:solidFill>
                  <a:srgbClr val="F3530B"/>
                </a:solidFill>
              </a:rPr>
              <a:t>end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(*@ </a:t>
            </a:r>
            <a:r>
              <a:rPr lang="en-US" sz="2000" noProof="1">
                <a:solidFill>
                  <a:srgbClr val="F3530B"/>
                </a:solidFill>
              </a:rPr>
              <a:t>requires</a:t>
            </a:r>
            <a:r>
              <a:rPr lang="en-US" sz="2000" noProof="1">
                <a:solidFill>
                  <a:srgbClr val="002060"/>
                </a:solidFill>
              </a:rPr>
              <a:t>  x_l = 2 &amp;&amp; x_l = x_r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</a:t>
            </a:r>
            <a:r>
              <a:rPr lang="en-US" sz="2000" noProof="1">
                <a:solidFill>
                  <a:srgbClr val="F3530B"/>
                </a:solidFill>
              </a:rPr>
              <a:t>ensures</a:t>
            </a:r>
            <a:r>
              <a:rPr lang="en-US" sz="2000" noProof="1">
                <a:solidFill>
                  <a:srgbClr val="002060"/>
                </a:solidFill>
              </a:rPr>
              <a:t>  match result with (l_res, r_res) -&gt; l_res = r_res *)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97DA71-1273-3210-1C7F-FE0FBEECE553}"/>
              </a:ext>
            </a:extLst>
          </p:cNvPr>
          <p:cNvSpPr txBox="1"/>
          <p:nvPr/>
        </p:nvSpPr>
        <p:spPr>
          <a:xfrm>
            <a:off x="7526361" y="1671484"/>
            <a:ext cx="988989" cy="369332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pt-PT" i="1" dirty="0" err="1">
                <a:solidFill>
                  <a:srgbClr val="002060"/>
                </a:solidFill>
              </a:rPr>
              <a:t>BipLang</a:t>
            </a:r>
            <a:endParaRPr lang="en-US" sz="2000" i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39603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E6108-2CE4-B9FC-195B-AA83FBAA1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AED226-F884-3835-AAD1-36568A26FD4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Motivating Example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62D5B-842C-59BF-1EC7-E977C17D7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14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F016E8-FC76-1F52-D35C-AAAEBB274FFC}"/>
              </a:ext>
            </a:extLst>
          </p:cNvPr>
          <p:cNvSpPr txBox="1"/>
          <p:nvPr/>
        </p:nvSpPr>
        <p:spPr>
          <a:xfrm>
            <a:off x="469556" y="1655982"/>
            <a:ext cx="76776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example (x_l : int) (x_r : int) : int * int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</a:t>
            </a:r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y_l = (x_l + 2) </a:t>
            </a:r>
            <a:r>
              <a:rPr lang="en-US" sz="2000" noProof="1">
                <a:solidFill>
                  <a:srgbClr val="F3530B"/>
                </a:solidFill>
              </a:rPr>
              <a:t>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</a:t>
            </a:r>
            <a:r>
              <a:rPr lang="en-US" sz="2000" noProof="1">
                <a:solidFill>
                  <a:srgbClr val="F3530B"/>
                </a:solidFill>
              </a:rPr>
              <a:t>let</a:t>
            </a:r>
            <a:r>
              <a:rPr lang="en-US" sz="2000" noProof="1">
                <a:solidFill>
                  <a:srgbClr val="002060"/>
                </a:solidFill>
              </a:rPr>
              <a:t> y_r = (x_r * 2) </a:t>
            </a:r>
            <a:r>
              <a:rPr lang="en-US" sz="2000" noProof="1">
                <a:solidFill>
                  <a:srgbClr val="F3530B"/>
                </a:solidFill>
              </a:rPr>
              <a:t>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(y_l, y_r)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(*@ </a:t>
            </a:r>
            <a:r>
              <a:rPr lang="en-US" sz="2000" noProof="1">
                <a:solidFill>
                  <a:srgbClr val="F3530B"/>
                </a:solidFill>
              </a:rPr>
              <a:t>requires </a:t>
            </a:r>
            <a:r>
              <a:rPr lang="en-US" sz="2000" noProof="1">
                <a:solidFill>
                  <a:srgbClr val="002060"/>
                </a:solidFill>
              </a:rPr>
              <a:t> x_l = 2 &amp;&amp; x_l = x_r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	</a:t>
            </a:r>
            <a:r>
              <a:rPr lang="en-US" sz="2000" noProof="1">
                <a:solidFill>
                  <a:srgbClr val="F3530B"/>
                </a:solidFill>
              </a:rPr>
              <a:t>ensures</a:t>
            </a:r>
            <a:r>
              <a:rPr lang="en-US" sz="2000" noProof="1">
                <a:solidFill>
                  <a:srgbClr val="002060"/>
                </a:solidFill>
              </a:rPr>
              <a:t>  match result with (l_res, r_res) -&gt; l_res = r_res *)</a:t>
            </a:r>
          </a:p>
          <a:p>
            <a:endParaRPr lang="en-US" sz="2000" noProof="1">
              <a:solidFill>
                <a:srgbClr val="00206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E5A0C3-AB78-37A8-0DBE-161314C34014}"/>
              </a:ext>
            </a:extLst>
          </p:cNvPr>
          <p:cNvSpPr txBox="1"/>
          <p:nvPr/>
        </p:nvSpPr>
        <p:spPr>
          <a:xfrm>
            <a:off x="469556" y="3977177"/>
            <a:ext cx="42915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rgbClr val="F3530B"/>
                </a:solidFill>
              </a:rPr>
              <a:t>Input: </a:t>
            </a:r>
            <a:r>
              <a:rPr lang="pt-PT" dirty="0" err="1">
                <a:solidFill>
                  <a:srgbClr val="F3530B"/>
                </a:solidFill>
              </a:rPr>
              <a:t>let</a:t>
            </a:r>
            <a:r>
              <a:rPr lang="pt-PT" dirty="0">
                <a:solidFill>
                  <a:srgbClr val="F3530B"/>
                </a:solidFill>
              </a:rPr>
              <a:t> y = x + 2 &lt;|&gt; x * 2 in </a:t>
            </a:r>
          </a:p>
          <a:p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Result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: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let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y_l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=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x_l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+ 2 in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let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y_r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=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x_r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 * 2 in</a:t>
            </a:r>
            <a:endParaRPr lang="en-US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8E20D3-458B-9C08-721B-B4C9926735F9}"/>
              </a:ext>
            </a:extLst>
          </p:cNvPr>
          <p:cNvSpPr txBox="1"/>
          <p:nvPr/>
        </p:nvSpPr>
        <p:spPr>
          <a:xfrm>
            <a:off x="5381506" y="3977176"/>
            <a:ext cx="178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rgbClr val="F3530B"/>
                </a:solidFill>
              </a:rPr>
              <a:t>Input: |_ y _|</a:t>
            </a:r>
          </a:p>
          <a:p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Result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: (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y_l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, </a:t>
            </a:r>
            <a:r>
              <a:rPr lang="pt-PT" dirty="0" err="1">
                <a:solidFill>
                  <a:schemeClr val="accent3">
                    <a:lumMod val="50000"/>
                  </a:schemeClr>
                </a:solidFill>
              </a:rPr>
              <a:t>y_r</a:t>
            </a:r>
            <a:r>
              <a:rPr lang="pt-PT" dirty="0">
                <a:solidFill>
                  <a:schemeClr val="accent3">
                    <a:lumMod val="50000"/>
                  </a:schemeClr>
                </a:solidFill>
              </a:rPr>
              <a:t>)</a:t>
            </a:r>
            <a:endParaRPr lang="en-US" dirty="0">
              <a:solidFill>
                <a:schemeClr val="accent3">
                  <a:lumMod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A91A72-6BB0-119F-C9A9-00CA1375CDD9}"/>
              </a:ext>
            </a:extLst>
          </p:cNvPr>
          <p:cNvSpPr txBox="1"/>
          <p:nvPr/>
        </p:nvSpPr>
        <p:spPr>
          <a:xfrm>
            <a:off x="7622157" y="1655982"/>
            <a:ext cx="893193" cy="369332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pt-PT" i="1" dirty="0" err="1">
                <a:solidFill>
                  <a:srgbClr val="002060"/>
                </a:solidFill>
              </a:rPr>
              <a:t>OCaml</a:t>
            </a:r>
            <a:endParaRPr lang="en-US" sz="2000" i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2095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3BAF1-5FD1-166B-7045-0EE556BBB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DB56FE-145E-B781-5DD4-F5F6270AE1EE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Visualizer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573BA-FFA0-1BB5-B186-E9DBF9085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15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742195-A529-A857-26D9-2279AE52A266}"/>
              </a:ext>
            </a:extLst>
          </p:cNvPr>
          <p:cNvSpPr txBox="1"/>
          <p:nvPr/>
        </p:nvSpPr>
        <p:spPr>
          <a:xfrm>
            <a:off x="469556" y="1984521"/>
            <a:ext cx="684564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Allows using bip2ml in a website through a client-server dynamic (local only for now)</a:t>
            </a:r>
          </a:p>
          <a:p>
            <a:endParaRPr lang="en-US" sz="24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Enables visualization of BipLang and OCaml ASTs, as well as simplifying their comparison</a:t>
            </a:r>
          </a:p>
        </p:txBody>
      </p:sp>
    </p:spTree>
    <p:extLst>
      <p:ext uri="{BB962C8B-B14F-4D97-AF65-F5344CB8AC3E}">
        <p14:creationId xmlns:p14="http://schemas.microsoft.com/office/powerpoint/2010/main" val="441316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F67E0-3A69-CABE-9E0A-9F587DEAB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3BB568-520D-6683-04BA-FA626968DD3E}"/>
              </a:ext>
            </a:extLst>
          </p:cNvPr>
          <p:cNvSpPr txBox="1"/>
          <p:nvPr/>
        </p:nvSpPr>
        <p:spPr>
          <a:xfrm>
            <a:off x="1198606" y="2145439"/>
            <a:ext cx="67467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bip2ml Visualizer Demo 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A1877AE-6DB9-1A26-C0BA-3E09B261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16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140711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5B3A4-7FE9-F5E7-C57A-435740514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BAA36-B89C-45E5-9557-7B125D2E9E47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Case Studies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123094-7D5B-73D6-B454-6FDA27B18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17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7681972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B641-193F-38C8-53D8-87AE74B90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CD398-4FE2-78BB-20AC-437120CB1218}"/>
              </a:ext>
            </a:extLst>
          </p:cNvPr>
          <p:cNvSpPr txBox="1"/>
          <p:nvPr/>
        </p:nvSpPr>
        <p:spPr>
          <a:xfrm>
            <a:off x="469556" y="626071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Source Program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8AA87-54B8-6C37-3F26-5C8FDD9E4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18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43B5-6238-A236-23DC-473506BC36DE}"/>
              </a:ext>
            </a:extLst>
          </p:cNvPr>
          <p:cNvSpPr txBox="1"/>
          <p:nvPr/>
        </p:nvSpPr>
        <p:spPr>
          <a:xfrm>
            <a:off x="469556" y="1903254"/>
            <a:ext cx="6098977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induc_var_strength_red_source</a:t>
            </a:r>
            <a:r>
              <a:rPr lang="en-US" sz="1600" dirty="0"/>
              <a:t> (b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c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n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)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x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!i &lt; n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	j := !i * b + c;</a:t>
            </a:r>
          </a:p>
          <a:p>
            <a:pPr lvl="2"/>
            <a:r>
              <a:rPr lang="pt-PT" sz="1600" dirty="0"/>
              <a:t>x := !x + !j;</a:t>
            </a:r>
          </a:p>
          <a:p>
            <a:pPr lvl="2"/>
            <a:r>
              <a:rPr lang="pt-PT" sz="1600" dirty="0"/>
              <a:t>i := !i + 1</a:t>
            </a:r>
          </a:p>
          <a:p>
            <a:pPr lvl="1"/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!x</a:t>
            </a:r>
          </a:p>
          <a:p>
            <a:r>
              <a:rPr lang="pt-PT" sz="1600" dirty="0" err="1">
                <a:solidFill>
                  <a:srgbClr val="F3530B"/>
                </a:solidFill>
              </a:rPr>
              <a:t>end</a:t>
            </a:r>
            <a:endParaRPr lang="pt-PT" sz="1600" dirty="0">
              <a:solidFill>
                <a:srgbClr val="F3530B"/>
              </a:solidFill>
            </a:endParaRPr>
          </a:p>
          <a:p>
            <a:pPr lvl="1"/>
            <a:endParaRPr 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2D775F-0CDD-6342-FD8A-53E4ACA2EF82}"/>
              </a:ext>
            </a:extLst>
          </p:cNvPr>
          <p:cNvSpPr txBox="1"/>
          <p:nvPr/>
        </p:nvSpPr>
        <p:spPr>
          <a:xfrm>
            <a:off x="5675340" y="4769081"/>
            <a:ext cx="988989" cy="369332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pt-PT" i="1" dirty="0" err="1">
                <a:solidFill>
                  <a:srgbClr val="002060"/>
                </a:solidFill>
              </a:rPr>
              <a:t>BipLang</a:t>
            </a:r>
            <a:endParaRPr lang="en-US" sz="2000" i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08776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20B36-048C-8342-A682-61242236E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CB3481-2791-1108-3814-E74536B31B8F}"/>
              </a:ext>
            </a:extLst>
          </p:cNvPr>
          <p:cNvSpPr txBox="1"/>
          <p:nvPr/>
        </p:nvSpPr>
        <p:spPr>
          <a:xfrm>
            <a:off x="469556" y="626071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Optimized Program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DEFDC3-AE26-2FC4-1F10-057A2D0B6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19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EEA6E1-6242-7998-6CE8-F2E544B851F3}"/>
              </a:ext>
            </a:extLst>
          </p:cNvPr>
          <p:cNvSpPr txBox="1"/>
          <p:nvPr/>
        </p:nvSpPr>
        <p:spPr>
          <a:xfrm>
            <a:off x="469556" y="1903254"/>
            <a:ext cx="6368025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induc_var_strength_red_optimized</a:t>
            </a:r>
            <a:r>
              <a:rPr lang="en-US" sz="1600" dirty="0"/>
              <a:t> (b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c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, n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)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ref c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x = ref 0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!i &lt; n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	x := !x + !j;</a:t>
            </a:r>
          </a:p>
          <a:p>
            <a:pPr lvl="2"/>
            <a:r>
              <a:rPr lang="pt-PT" sz="1600" dirty="0"/>
              <a:t>j := !j + b;</a:t>
            </a:r>
          </a:p>
          <a:p>
            <a:pPr lvl="2"/>
            <a:r>
              <a:rPr lang="pt-PT" sz="1600" dirty="0"/>
              <a:t>i := !i + 1</a:t>
            </a:r>
          </a:p>
          <a:p>
            <a:pPr lvl="1"/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!x</a:t>
            </a:r>
          </a:p>
          <a:p>
            <a:r>
              <a:rPr lang="pt-PT" sz="1600" dirty="0" err="1">
                <a:solidFill>
                  <a:srgbClr val="F3530B"/>
                </a:solidFill>
              </a:rPr>
              <a:t>end</a:t>
            </a:r>
            <a:endParaRPr lang="pt-PT" sz="1600" dirty="0">
              <a:solidFill>
                <a:srgbClr val="F3530B"/>
              </a:solidFill>
            </a:endParaRPr>
          </a:p>
          <a:p>
            <a:pPr lvl="1"/>
            <a:endParaRPr 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3BBAB1-9BB1-87AE-7136-C7FFB1C9E165}"/>
              </a:ext>
            </a:extLst>
          </p:cNvPr>
          <p:cNvSpPr txBox="1"/>
          <p:nvPr/>
        </p:nvSpPr>
        <p:spPr>
          <a:xfrm>
            <a:off x="5848592" y="4766089"/>
            <a:ext cx="988989" cy="369332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pt-PT" i="1" dirty="0" err="1">
                <a:solidFill>
                  <a:srgbClr val="002060"/>
                </a:solidFill>
              </a:rPr>
              <a:t>BipLang</a:t>
            </a:r>
            <a:endParaRPr lang="en-US" sz="2000" i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75268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20733-55AD-4ED3-44A6-BA5CA7A39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E09081-DDD9-7A3F-11CB-68DCEF1CE62C}"/>
              </a:ext>
            </a:extLst>
          </p:cNvPr>
          <p:cNvSpPr txBox="1"/>
          <p:nvPr/>
        </p:nvSpPr>
        <p:spPr>
          <a:xfrm>
            <a:off x="469556" y="518979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Biprogram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2D6D9-0388-168C-1CFC-72AFA60AB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20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7F00FC-CCBA-53EB-320C-C7192B7C6C42}"/>
              </a:ext>
            </a:extLst>
          </p:cNvPr>
          <p:cNvSpPr txBox="1"/>
          <p:nvPr/>
        </p:nvSpPr>
        <p:spPr>
          <a:xfrm>
            <a:off x="469556" y="1235563"/>
            <a:ext cx="7601312" cy="42780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induc_var_strength_red_biprogram</a:t>
            </a:r>
            <a:r>
              <a:rPr lang="en-US" sz="1600" dirty="0"/>
              <a:t> (|_b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_|, |_c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_|, |_n : 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_|) : |_</a:t>
            </a:r>
            <a:r>
              <a:rPr lang="en-US" sz="1600" dirty="0">
                <a:solidFill>
                  <a:srgbClr val="F3530B"/>
                </a:solidFill>
              </a:rPr>
              <a:t>int</a:t>
            </a:r>
            <a:r>
              <a:rPr lang="en-US" sz="1600" dirty="0"/>
              <a:t>_| = </a:t>
            </a:r>
            <a:r>
              <a:rPr lang="en-US" sz="1600" dirty="0">
                <a:solidFill>
                  <a:srgbClr val="F3530B"/>
                </a:solidFill>
              </a:rPr>
              <a:t>begin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j = ref 0 &lt;|&gt; ref c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x = |_ ref 0 _|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|_ !i &lt; n _|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r>
              <a:rPr lang="pt-PT" sz="1600" dirty="0"/>
              <a:t>		(*@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x_l</a:t>
            </a:r>
            <a:r>
              <a:rPr lang="pt-PT" sz="1600" dirty="0"/>
              <a:t> = !</a:t>
            </a:r>
            <a:r>
              <a:rPr lang="pt-PT" sz="1600" dirty="0" err="1"/>
              <a:t>x_r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j_r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* </a:t>
            </a:r>
            <a:r>
              <a:rPr lang="pt-PT" sz="1600" dirty="0" err="1"/>
              <a:t>b_r</a:t>
            </a:r>
            <a:r>
              <a:rPr lang="pt-PT" sz="1600" dirty="0"/>
              <a:t> + </a:t>
            </a:r>
            <a:r>
              <a:rPr lang="pt-PT" sz="1600" dirty="0" err="1"/>
              <a:t>c_r</a:t>
            </a:r>
            <a:r>
              <a:rPr lang="pt-PT" sz="1600" dirty="0"/>
              <a:t> *)</a:t>
            </a:r>
          </a:p>
          <a:p>
            <a:pPr lvl="1"/>
            <a:r>
              <a:rPr lang="pt-PT" sz="1600" dirty="0"/>
              <a:t>	j := !i * b + c &lt;|&gt; x := !x + !j;</a:t>
            </a:r>
          </a:p>
          <a:p>
            <a:pPr lvl="2"/>
            <a:r>
              <a:rPr lang="pt-PT" sz="1600" dirty="0"/>
              <a:t>x := !x + !j 	   &lt;|&gt; j := !j + b;</a:t>
            </a:r>
          </a:p>
          <a:p>
            <a:pPr lvl="2"/>
            <a:r>
              <a:rPr lang="pt-PT" sz="1600" dirty="0"/>
              <a:t>i := |_ !i + 1 _| </a:t>
            </a:r>
          </a:p>
          <a:p>
            <a:pPr lvl="1"/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</a:t>
            </a:r>
          </a:p>
          <a:p>
            <a:r>
              <a:rPr lang="pt-PT" sz="1600" dirty="0"/>
              <a:t>	|_ !x _| </a:t>
            </a:r>
          </a:p>
          <a:p>
            <a:r>
              <a:rPr lang="pt-PT" sz="1600" dirty="0" err="1">
                <a:solidFill>
                  <a:srgbClr val="F3530B"/>
                </a:solidFill>
              </a:rPr>
              <a:t>end</a:t>
            </a:r>
            <a:r>
              <a:rPr lang="pt-PT" sz="1600" dirty="0"/>
              <a:t> </a:t>
            </a:r>
          </a:p>
          <a:p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b_l</a:t>
            </a:r>
            <a:r>
              <a:rPr lang="pt-PT" sz="1600" dirty="0"/>
              <a:t> = </a:t>
            </a:r>
            <a:r>
              <a:rPr lang="pt-PT" sz="1600" dirty="0" err="1"/>
              <a:t>b_r</a:t>
            </a:r>
            <a:r>
              <a:rPr lang="pt-PT" sz="1600" dirty="0"/>
              <a:t> &amp;&amp; </a:t>
            </a:r>
            <a:r>
              <a:rPr lang="pt-PT" sz="1600" dirty="0" err="1"/>
              <a:t>c_l</a:t>
            </a:r>
            <a:r>
              <a:rPr lang="pt-PT" sz="1600" dirty="0"/>
              <a:t> = </a:t>
            </a:r>
            <a:r>
              <a:rPr lang="pt-PT" sz="1600" dirty="0" err="1"/>
              <a:t>c_r</a:t>
            </a:r>
            <a:r>
              <a:rPr lang="pt-PT" sz="1600" dirty="0"/>
              <a:t> &amp;&amp;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</a:t>
            </a:r>
          </a:p>
          <a:p>
            <a:r>
              <a:rPr lang="pt-PT" sz="1600" dirty="0"/>
              <a:t>         </a:t>
            </a:r>
            <a:r>
              <a:rPr lang="pt-PT" sz="1600" dirty="0" err="1">
                <a:solidFill>
                  <a:srgbClr val="F3530B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8FCAC9-C901-F459-CCA7-1F7718B712A7}"/>
              </a:ext>
            </a:extLst>
          </p:cNvPr>
          <p:cNvSpPr txBox="1"/>
          <p:nvPr/>
        </p:nvSpPr>
        <p:spPr>
          <a:xfrm>
            <a:off x="7081879" y="4479437"/>
            <a:ext cx="988989" cy="369332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pt-PT" i="1" dirty="0" err="1">
                <a:solidFill>
                  <a:srgbClr val="002060"/>
                </a:solidFill>
              </a:rPr>
              <a:t>BipLang</a:t>
            </a:r>
            <a:endParaRPr lang="en-US" sz="2000" i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6168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5B06D-D839-F14B-4672-75B4F8945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A329DC-AEBA-6A4F-5C27-9E723C23FD98}"/>
              </a:ext>
            </a:extLst>
          </p:cNvPr>
          <p:cNvSpPr txBox="1"/>
          <p:nvPr/>
        </p:nvSpPr>
        <p:spPr>
          <a:xfrm>
            <a:off x="469556" y="459260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Product Program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D45AB-AD05-79BD-2F1D-3741401F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21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43738-9AEF-0B9F-F297-E7C42F6EE883}"/>
              </a:ext>
            </a:extLst>
          </p:cNvPr>
          <p:cNvSpPr txBox="1"/>
          <p:nvPr/>
        </p:nvSpPr>
        <p:spPr>
          <a:xfrm>
            <a:off x="469556" y="1491362"/>
            <a:ext cx="8139601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induc_var_strength_red_ocaml</a:t>
            </a:r>
            <a:r>
              <a:rPr lang="en-US" sz="1600" dirty="0"/>
              <a:t> </a:t>
            </a:r>
            <a:r>
              <a:rPr lang="sv-SE" sz="1600" dirty="0"/>
              <a:t>(b_l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(b_r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(c_l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(c_r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(n_l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(n_r :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) : </a:t>
            </a:r>
          </a:p>
          <a:p>
            <a:r>
              <a:rPr lang="sv-SE" sz="1600" dirty="0"/>
              <a:t>	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 * </a:t>
            </a:r>
            <a:r>
              <a:rPr lang="sv-SE" sz="1600" dirty="0">
                <a:solidFill>
                  <a:srgbClr val="F3530B"/>
                </a:solidFill>
              </a:rPr>
              <a:t>int</a:t>
            </a:r>
            <a:r>
              <a:rPr lang="sv-SE" sz="1600" dirty="0"/>
              <a:t> =</a:t>
            </a:r>
          </a:p>
          <a:p>
            <a:endParaRPr lang="en-US" sz="1600" dirty="0">
              <a:solidFill>
                <a:schemeClr val="accent2"/>
              </a:solidFill>
            </a:endParaRP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j_r</a:t>
            </a:r>
            <a:r>
              <a:rPr lang="en-US" sz="1600" dirty="0"/>
              <a:t> = ref (</a:t>
            </a:r>
            <a:r>
              <a:rPr lang="en-US" sz="1600" dirty="0" err="1"/>
              <a:t>c_r</a:t>
            </a:r>
            <a:r>
              <a:rPr lang="en-US" sz="1600" dirty="0"/>
              <a:t>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x_l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rgbClr val="F3530B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x_r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rgbClr val="F3530B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while</a:t>
            </a:r>
            <a:r>
              <a:rPr lang="pt-PT" sz="1600" dirty="0"/>
              <a:t> </a:t>
            </a:r>
            <a:r>
              <a:rPr lang="en-US" sz="1600" dirty="0"/>
              <a:t>(!</a:t>
            </a:r>
            <a:r>
              <a:rPr lang="en-US" sz="1600" dirty="0" err="1"/>
              <a:t>i_l</a:t>
            </a:r>
            <a:r>
              <a:rPr lang="en-US" sz="1600" dirty="0"/>
              <a:t> &lt; </a:t>
            </a:r>
            <a:r>
              <a:rPr lang="en-US" sz="1600" dirty="0" err="1"/>
              <a:t>n_l</a:t>
            </a:r>
            <a:r>
              <a:rPr lang="en-US" sz="1600" dirty="0"/>
              <a:t>) </a:t>
            </a:r>
            <a:r>
              <a:rPr lang="pt-PT" sz="1600" dirty="0">
                <a:solidFill>
                  <a:srgbClr val="F3530B"/>
                </a:solidFill>
              </a:rPr>
              <a:t>do</a:t>
            </a:r>
            <a:r>
              <a:rPr lang="pt-PT" sz="1600" dirty="0"/>
              <a:t> </a:t>
            </a:r>
          </a:p>
          <a:p>
            <a:r>
              <a:rPr lang="pt-PT" sz="1600" dirty="0"/>
              <a:t>		(*@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((!</a:t>
            </a:r>
            <a:r>
              <a:rPr lang="pt-PT" sz="1600" dirty="0" err="1"/>
              <a:t>i_l</a:t>
            </a:r>
            <a:r>
              <a:rPr lang="pt-PT" sz="1600" dirty="0"/>
              <a:t> &lt; </a:t>
            </a:r>
            <a:r>
              <a:rPr lang="pt-PT" sz="1600" dirty="0" err="1"/>
              <a:t>n_l</a:t>
            </a:r>
            <a:r>
              <a:rPr lang="pt-PT" sz="1600" dirty="0"/>
              <a:t>)) ↔ ((!</a:t>
            </a:r>
            <a:r>
              <a:rPr lang="pt-PT" sz="1600" dirty="0" err="1"/>
              <a:t>i_r</a:t>
            </a:r>
            <a:r>
              <a:rPr lang="pt-PT" sz="1600" dirty="0"/>
              <a:t> &lt; </a:t>
            </a:r>
            <a:r>
              <a:rPr lang="pt-PT" sz="1600" dirty="0" err="1"/>
              <a:t>n_r</a:t>
            </a:r>
            <a:r>
              <a:rPr lang="pt-PT" sz="1600" dirty="0"/>
              <a:t>))</a:t>
            </a:r>
          </a:p>
          <a:p>
            <a:r>
              <a:rPr lang="pt-PT" sz="1600" dirty="0">
                <a:solidFill>
                  <a:schemeClr val="accent2"/>
                </a:solidFill>
              </a:rPr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x_l</a:t>
            </a:r>
            <a:r>
              <a:rPr lang="pt-PT" sz="1600" dirty="0"/>
              <a:t> = !</a:t>
            </a:r>
            <a:r>
              <a:rPr lang="pt-PT" sz="1600" dirty="0" err="1"/>
              <a:t>x_r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rgbClr val="F3530B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j_r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* </a:t>
            </a:r>
            <a:r>
              <a:rPr lang="pt-PT" sz="1600" dirty="0" err="1"/>
              <a:t>b_r</a:t>
            </a:r>
            <a:r>
              <a:rPr lang="pt-PT" sz="1600" dirty="0"/>
              <a:t> + </a:t>
            </a:r>
            <a:r>
              <a:rPr lang="pt-PT" sz="1600" dirty="0" err="1"/>
              <a:t>c_r</a:t>
            </a:r>
            <a:r>
              <a:rPr lang="pt-PT" sz="1600" dirty="0"/>
              <a:t> *)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C79D1-0BBA-9A75-2C5C-88391008E030}"/>
              </a:ext>
            </a:extLst>
          </p:cNvPr>
          <p:cNvSpPr txBox="1"/>
          <p:nvPr/>
        </p:nvSpPr>
        <p:spPr>
          <a:xfrm>
            <a:off x="7421762" y="4321877"/>
            <a:ext cx="893193" cy="369332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pt-PT" i="1" dirty="0" err="1">
                <a:solidFill>
                  <a:srgbClr val="002060"/>
                </a:solidFill>
              </a:rPr>
              <a:t>OCaml</a:t>
            </a:r>
            <a:endParaRPr lang="en-US" sz="2000" i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9384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B914A-439F-DA5D-A3DD-FEC1C1E27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F84FB8-B2C7-8AD3-F208-3932D3502E15}"/>
              </a:ext>
            </a:extLst>
          </p:cNvPr>
          <p:cNvSpPr txBox="1"/>
          <p:nvPr/>
        </p:nvSpPr>
        <p:spPr>
          <a:xfrm>
            <a:off x="469556" y="626071"/>
            <a:ext cx="820488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</a:t>
            </a:r>
          </a:p>
          <a:p>
            <a:r>
              <a:rPr lang="pt-PT" sz="2800" noProof="1">
                <a:solidFill>
                  <a:srgbClr val="002060"/>
                </a:solidFill>
              </a:rPr>
              <a:t>Product Program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8D123-700C-C59D-3834-68A214DBC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22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E1EC12-0753-1288-6196-ED65D450434C}"/>
              </a:ext>
            </a:extLst>
          </p:cNvPr>
          <p:cNvSpPr txBox="1"/>
          <p:nvPr/>
        </p:nvSpPr>
        <p:spPr>
          <a:xfrm>
            <a:off x="469556" y="1936811"/>
            <a:ext cx="5458417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600" dirty="0"/>
              <a:t>		</a:t>
            </a:r>
            <a:r>
              <a:rPr lang="pt-PT" sz="1600" dirty="0" err="1"/>
              <a:t>j_l</a:t>
            </a:r>
            <a:r>
              <a:rPr lang="pt-PT" sz="1600" dirty="0"/>
              <a:t> := ((!</a:t>
            </a:r>
            <a:r>
              <a:rPr lang="pt-PT" sz="1600" dirty="0" err="1"/>
              <a:t>i_l</a:t>
            </a:r>
            <a:r>
              <a:rPr lang="pt-PT" sz="1600" dirty="0"/>
              <a:t> * </a:t>
            </a:r>
            <a:r>
              <a:rPr lang="pt-PT" sz="1600" dirty="0" err="1"/>
              <a:t>b_l</a:t>
            </a:r>
            <a:r>
              <a:rPr lang="pt-PT" sz="1600" dirty="0"/>
              <a:t>) + </a:t>
            </a:r>
            <a:r>
              <a:rPr lang="pt-PT" sz="1600" dirty="0" err="1"/>
              <a:t>c_l</a:t>
            </a:r>
            <a:r>
              <a:rPr lang="pt-PT" sz="1600" dirty="0"/>
              <a:t>);</a:t>
            </a:r>
          </a:p>
          <a:p>
            <a:r>
              <a:rPr lang="pt-PT" sz="1600" dirty="0"/>
              <a:t>		</a:t>
            </a:r>
            <a:r>
              <a:rPr lang="pt-PT" sz="1600" dirty="0" err="1"/>
              <a:t>x_r</a:t>
            </a:r>
            <a:r>
              <a:rPr lang="pt-PT" sz="1600" dirty="0"/>
              <a:t> := (!</a:t>
            </a:r>
            <a:r>
              <a:rPr lang="pt-PT" sz="1600" dirty="0" err="1"/>
              <a:t>x_r</a:t>
            </a:r>
            <a:r>
              <a:rPr lang="pt-PT" sz="1600" dirty="0"/>
              <a:t> + !</a:t>
            </a:r>
            <a:r>
              <a:rPr lang="pt-PT" sz="1600" dirty="0" err="1"/>
              <a:t>j_r</a:t>
            </a:r>
            <a:r>
              <a:rPr lang="pt-PT" sz="1600" dirty="0"/>
              <a:t>);</a:t>
            </a:r>
          </a:p>
          <a:p>
            <a:r>
              <a:rPr lang="pt-PT" sz="1600" dirty="0"/>
              <a:t>		</a:t>
            </a:r>
            <a:r>
              <a:rPr lang="pt-PT" sz="1600" dirty="0" err="1"/>
              <a:t>x_l</a:t>
            </a:r>
            <a:r>
              <a:rPr lang="pt-PT" sz="1600" dirty="0"/>
              <a:t> := (!</a:t>
            </a:r>
            <a:r>
              <a:rPr lang="pt-PT" sz="1600" dirty="0" err="1"/>
              <a:t>x_l</a:t>
            </a:r>
            <a:r>
              <a:rPr lang="pt-PT" sz="1600" dirty="0"/>
              <a:t> + !</a:t>
            </a:r>
            <a:r>
              <a:rPr lang="pt-PT" sz="1600" dirty="0" err="1"/>
              <a:t>j_l</a:t>
            </a:r>
            <a:r>
              <a:rPr lang="pt-PT" sz="1600" dirty="0"/>
              <a:t>);</a:t>
            </a:r>
          </a:p>
          <a:p>
            <a:pPr lvl="2"/>
            <a:r>
              <a:rPr lang="pt-PT" sz="1600" dirty="0" err="1"/>
              <a:t>j_r</a:t>
            </a:r>
            <a:r>
              <a:rPr lang="pt-PT" sz="1600" dirty="0"/>
              <a:t> := (!</a:t>
            </a:r>
            <a:r>
              <a:rPr lang="pt-PT" sz="1600" dirty="0" err="1"/>
              <a:t>j_r</a:t>
            </a:r>
            <a:r>
              <a:rPr lang="pt-PT" sz="1600" dirty="0"/>
              <a:t> + </a:t>
            </a:r>
            <a:r>
              <a:rPr lang="pt-PT" sz="1600" dirty="0" err="1"/>
              <a:t>b_r</a:t>
            </a:r>
            <a:r>
              <a:rPr lang="pt-PT" sz="1600" dirty="0"/>
              <a:t>);</a:t>
            </a:r>
          </a:p>
          <a:p>
            <a:pPr lvl="2"/>
            <a:r>
              <a:rPr lang="pt-PT" sz="1600" dirty="0" err="1"/>
              <a:t>i_l</a:t>
            </a:r>
            <a:r>
              <a:rPr lang="pt-PT" sz="1600" dirty="0"/>
              <a:t> := (!</a:t>
            </a:r>
            <a:r>
              <a:rPr lang="pt-PT" sz="1600" dirty="0" err="1"/>
              <a:t>i_l</a:t>
            </a:r>
            <a:r>
              <a:rPr lang="pt-PT" sz="1600" dirty="0"/>
              <a:t> + 1); </a:t>
            </a:r>
          </a:p>
          <a:p>
            <a:pPr lvl="2"/>
            <a:r>
              <a:rPr lang="pt-PT" sz="1600" dirty="0" err="1"/>
              <a:t>i_r</a:t>
            </a:r>
            <a:r>
              <a:rPr lang="pt-PT" sz="1600" dirty="0"/>
              <a:t> := (!</a:t>
            </a:r>
            <a:r>
              <a:rPr lang="pt-PT" sz="1600" dirty="0" err="1"/>
              <a:t>i_r</a:t>
            </a:r>
            <a:r>
              <a:rPr lang="pt-PT" sz="1600" dirty="0"/>
              <a:t> + 1) </a:t>
            </a:r>
          </a:p>
          <a:p>
            <a:r>
              <a:rPr lang="pt-PT" sz="1600" dirty="0"/>
              <a:t>	</a:t>
            </a:r>
            <a:r>
              <a:rPr lang="pt-PT" sz="1600" dirty="0" err="1">
                <a:solidFill>
                  <a:srgbClr val="F3530B"/>
                </a:solidFill>
              </a:rPr>
              <a:t>done</a:t>
            </a:r>
            <a:r>
              <a:rPr lang="pt-PT" sz="1600" dirty="0"/>
              <a:t>; </a:t>
            </a:r>
          </a:p>
          <a:p>
            <a:endParaRPr lang="pt-PT" sz="1600" dirty="0"/>
          </a:p>
          <a:p>
            <a:r>
              <a:rPr lang="pt-PT" sz="1600" dirty="0"/>
              <a:t>	(!</a:t>
            </a:r>
            <a:r>
              <a:rPr lang="pt-PT" sz="1600" dirty="0" err="1"/>
              <a:t>x_l</a:t>
            </a:r>
            <a:r>
              <a:rPr lang="pt-PT" sz="1600" dirty="0"/>
              <a:t>, !</a:t>
            </a:r>
            <a:r>
              <a:rPr lang="pt-PT" sz="1600" dirty="0" err="1"/>
              <a:t>x_r</a:t>
            </a:r>
            <a:r>
              <a:rPr lang="pt-PT" sz="1600" dirty="0"/>
              <a:t>) </a:t>
            </a:r>
          </a:p>
          <a:p>
            <a:r>
              <a:rPr lang="pt-PT" sz="1600" dirty="0"/>
              <a:t>(*@ </a:t>
            </a:r>
            <a:r>
              <a:rPr lang="pt-PT" sz="1600" dirty="0" err="1">
                <a:solidFill>
                  <a:srgbClr val="F3530B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b_l</a:t>
            </a:r>
            <a:r>
              <a:rPr lang="pt-PT" sz="1600" dirty="0"/>
              <a:t> = </a:t>
            </a:r>
            <a:r>
              <a:rPr lang="pt-PT" sz="1600" dirty="0" err="1"/>
              <a:t>b_r</a:t>
            </a:r>
            <a:r>
              <a:rPr lang="pt-PT" sz="1600" dirty="0"/>
              <a:t> &amp;&amp; </a:t>
            </a:r>
            <a:r>
              <a:rPr lang="pt-PT" sz="1600" dirty="0" err="1"/>
              <a:t>c_l</a:t>
            </a:r>
            <a:r>
              <a:rPr lang="pt-PT" sz="1600" dirty="0"/>
              <a:t> = </a:t>
            </a:r>
            <a:r>
              <a:rPr lang="pt-PT" sz="1600" dirty="0" err="1"/>
              <a:t>c_r</a:t>
            </a:r>
            <a:r>
              <a:rPr lang="pt-PT" sz="1600" dirty="0"/>
              <a:t> &amp;&amp;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</a:t>
            </a:r>
          </a:p>
          <a:p>
            <a:r>
              <a:rPr lang="pt-PT" sz="1600" dirty="0"/>
              <a:t>         </a:t>
            </a:r>
            <a:r>
              <a:rPr lang="pt-PT" sz="1600" dirty="0" err="1">
                <a:solidFill>
                  <a:srgbClr val="F3530B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A848BC-854F-4F5E-1390-34D1893D54A5}"/>
              </a:ext>
            </a:extLst>
          </p:cNvPr>
          <p:cNvSpPr txBox="1"/>
          <p:nvPr/>
        </p:nvSpPr>
        <p:spPr>
          <a:xfrm>
            <a:off x="7486650" y="1936811"/>
            <a:ext cx="893193" cy="369332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pt-PT" i="1" dirty="0" err="1">
                <a:solidFill>
                  <a:srgbClr val="002060"/>
                </a:solidFill>
              </a:rPr>
              <a:t>OCaml</a:t>
            </a:r>
            <a:endParaRPr lang="en-US" sz="2000" i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0790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A507E-E9EF-476E-C642-422F2B75A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2DAB50-D575-58DC-DD1E-645D74019E70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Translation Rules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EB04F8-B974-4381-C0C2-C7255B408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23</a:t>
            </a:fld>
            <a:endParaRPr lang="en-US" noProof="1"/>
          </a:p>
        </p:txBody>
      </p:sp>
      <p:pic>
        <p:nvPicPr>
          <p:cNvPr id="5" name="Picture 4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86434F73-6A19-CA90-9010-06047899B3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9" t="41831" b="25311"/>
          <a:stretch>
            <a:fillRect/>
          </a:stretch>
        </p:blipFill>
        <p:spPr>
          <a:xfrm>
            <a:off x="469556" y="1270565"/>
            <a:ext cx="6680887" cy="2288547"/>
          </a:xfrm>
          <a:prstGeom prst="rect">
            <a:avLst/>
          </a:prstGeom>
        </p:spPr>
      </p:pic>
      <p:pic>
        <p:nvPicPr>
          <p:cNvPr id="3" name="Picture 2" descr="A screenshot of a computer code">
            <a:extLst>
              <a:ext uri="{FF2B5EF4-FFF2-40B4-BE49-F238E27FC236}">
                <a16:creationId xmlns:a16="http://schemas.microsoft.com/office/drawing/2014/main" id="{BAFA61C1-CC1C-378A-9AE5-E6D4BB20B9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0" t="74526" r="239" b="-668"/>
          <a:stretch>
            <a:fillRect/>
          </a:stretch>
        </p:blipFill>
        <p:spPr>
          <a:xfrm>
            <a:off x="1313934" y="3559112"/>
            <a:ext cx="6680887" cy="1820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3668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BEEB2-A2E7-A095-0D67-C8F49CCE5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E3E384-093A-B9CE-78A1-77D4EAC837BE}"/>
              </a:ext>
            </a:extLst>
          </p:cNvPr>
          <p:cNvSpPr txBox="1"/>
          <p:nvPr/>
        </p:nvSpPr>
        <p:spPr>
          <a:xfrm>
            <a:off x="2148016" y="1965578"/>
            <a:ext cx="48479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Conclusions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AAEED0-1424-4359-EE48-501447F5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1916046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B5FB5-7586-D717-91C7-741C84D5C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350F9-99DD-2B75-33DB-749AAED00065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Contributions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750DE-2CEA-2561-1153-039EF8AE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25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3D1327-50A1-0AE7-EAF9-3F8F177E5AC7}"/>
              </a:ext>
            </a:extLst>
          </p:cNvPr>
          <p:cNvSpPr txBox="1"/>
          <p:nvPr/>
        </p:nvSpPr>
        <p:spPr>
          <a:xfrm>
            <a:off x="1116225" y="1785812"/>
            <a:ext cx="6911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u="sng" noProof="1">
                <a:solidFill>
                  <a:srgbClr val="002060"/>
                </a:solidFill>
              </a:rPr>
              <a:t>Verify program equivalence and other relational properties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F3E87A-4C4F-A88B-2DEB-BF8635F38C3A}"/>
              </a:ext>
            </a:extLst>
          </p:cNvPr>
          <p:cNvCxnSpPr/>
          <p:nvPr/>
        </p:nvCxnSpPr>
        <p:spPr>
          <a:xfrm>
            <a:off x="4376352" y="213856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CBA38FC-E9DF-2BF3-596E-934B90710206}"/>
              </a:ext>
            </a:extLst>
          </p:cNvPr>
          <p:cNvCxnSpPr/>
          <p:nvPr/>
        </p:nvCxnSpPr>
        <p:spPr>
          <a:xfrm>
            <a:off x="4376351" y="3031023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0E3C4B-A089-BE80-ABD7-5273455A3BD5}"/>
              </a:ext>
            </a:extLst>
          </p:cNvPr>
          <p:cNvCxnSpPr/>
          <p:nvPr/>
        </p:nvCxnSpPr>
        <p:spPr>
          <a:xfrm>
            <a:off x="4376351" y="392347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9D56771-2BF2-2AEB-6DE7-6643B703A113}"/>
              </a:ext>
            </a:extLst>
          </p:cNvPr>
          <p:cNvSpPr txBox="1"/>
          <p:nvPr/>
        </p:nvSpPr>
        <p:spPr>
          <a:xfrm>
            <a:off x="1167477" y="2678568"/>
            <a:ext cx="68090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Bring the translation rules of WhyRel into the world of OCaml</a:t>
            </a:r>
            <a:endParaRPr lang="pt-PT" sz="2000" noProof="1">
              <a:solidFill>
                <a:srgbClr val="00206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E2C493-16B0-B0B4-3669-4B91741668D7}"/>
              </a:ext>
            </a:extLst>
          </p:cNvPr>
          <p:cNvSpPr txBox="1"/>
          <p:nvPr/>
        </p:nvSpPr>
        <p:spPr>
          <a:xfrm>
            <a:off x="2567266" y="4463478"/>
            <a:ext cx="36181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BipLang – adaptation of OCaml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3D5E08-9237-E3CC-651E-9B11DA4DD13D}"/>
              </a:ext>
            </a:extLst>
          </p:cNvPr>
          <p:cNvSpPr txBox="1"/>
          <p:nvPr/>
        </p:nvSpPr>
        <p:spPr>
          <a:xfrm>
            <a:off x="1892563" y="3571023"/>
            <a:ext cx="49675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PT" sz="2000" noProof="1">
                <a:solidFill>
                  <a:srgbClr val="002060"/>
                </a:solidFill>
              </a:rPr>
              <a:t>bip2ml </a:t>
            </a:r>
            <a:r>
              <a:rPr lang="en-US" sz="2000" noProof="1">
                <a:solidFill>
                  <a:srgbClr val="002060"/>
                </a:solidFill>
              </a:rPr>
              <a:t>–</a:t>
            </a:r>
            <a:r>
              <a:rPr lang="pt-PT" sz="2000" noProof="1">
                <a:solidFill>
                  <a:srgbClr val="002060"/>
                </a:solidFill>
              </a:rPr>
              <a:t> O</a:t>
            </a:r>
            <a:r>
              <a:rPr lang="en-US" sz="2000" noProof="1">
                <a:solidFill>
                  <a:srgbClr val="002060"/>
                </a:solidFill>
              </a:rPr>
              <a:t>Caml relational verification tool</a:t>
            </a:r>
          </a:p>
        </p:txBody>
      </p:sp>
    </p:spTree>
    <p:extLst>
      <p:ext uri="{BB962C8B-B14F-4D97-AF65-F5344CB8AC3E}">
        <p14:creationId xmlns:p14="http://schemas.microsoft.com/office/powerpoint/2010/main" val="6306411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3C991-DEE5-ACC4-4FAD-F4AC40B63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60CD7C-D619-788E-9392-AD791E2160AE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Limitations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61056C-1D23-C251-AFC5-DD28D79BB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26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3714B2-C1F5-56DD-577E-6936CB34E77F}"/>
              </a:ext>
            </a:extLst>
          </p:cNvPr>
          <p:cNvSpPr txBox="1"/>
          <p:nvPr/>
        </p:nvSpPr>
        <p:spPr>
          <a:xfrm>
            <a:off x="469556" y="2099739"/>
            <a:ext cx="66644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BipLang does not contain all OCaml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Automatic verification depends on the interpretation of “automatic”</a:t>
            </a:r>
          </a:p>
        </p:txBody>
      </p:sp>
    </p:spTree>
    <p:extLst>
      <p:ext uri="{BB962C8B-B14F-4D97-AF65-F5344CB8AC3E}">
        <p14:creationId xmlns:p14="http://schemas.microsoft.com/office/powerpoint/2010/main" val="29515619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03A83-A2E0-75A9-CAF8-76845C105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27CC9D-A2C0-8251-1C28-9FA3786BFE78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Future Work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48BCD-CB87-56DE-A29E-8F58536D6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27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67E19D-BC23-C69B-75B1-B3507E6D1851}"/>
              </a:ext>
            </a:extLst>
          </p:cNvPr>
          <p:cNvSpPr txBox="1"/>
          <p:nvPr/>
        </p:nvSpPr>
        <p:spPr>
          <a:xfrm>
            <a:off x="469556" y="2022795"/>
            <a:ext cx="612895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Higher-order constructs (iter, fold…)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Pointer based programs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Dynamic programming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Program evolution</a:t>
            </a:r>
          </a:p>
        </p:txBody>
      </p:sp>
    </p:spTree>
    <p:extLst>
      <p:ext uri="{BB962C8B-B14F-4D97-AF65-F5344CB8AC3E}">
        <p14:creationId xmlns:p14="http://schemas.microsoft.com/office/powerpoint/2010/main" val="22390269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4C233-D244-61BA-BDF8-CB6D060B5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0274D2-09B6-D69D-1B09-52211756F8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4494" y="716690"/>
            <a:ext cx="7655011" cy="571043"/>
          </a:xfrm>
        </p:spPr>
        <p:txBody>
          <a:bodyPr>
            <a:normAutofit/>
          </a:bodyPr>
          <a:lstStyle/>
          <a:p>
            <a:r>
              <a:rPr lang="en-US" sz="32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296B62-9DC8-8E89-BBD7-11E0414C0F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2999" y="3355925"/>
            <a:ext cx="6858000" cy="1379802"/>
          </a:xfrm>
        </p:spPr>
        <p:txBody>
          <a:bodyPr>
            <a:no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88A04-F651-B4D5-7DA9-E26D50D91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28</a:t>
            </a:fld>
            <a:endParaRPr lang="en-US" noProof="1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B787C8E-BF42-9283-4789-2CA358339C70}"/>
              </a:ext>
            </a:extLst>
          </p:cNvPr>
          <p:cNvSpPr txBox="1">
            <a:spLocks/>
          </p:cNvSpPr>
          <p:nvPr/>
        </p:nvSpPr>
        <p:spPr>
          <a:xfrm>
            <a:off x="3189587" y="2091846"/>
            <a:ext cx="2764824" cy="57104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noProof="1">
                <a:solidFill>
                  <a:srgbClr val="002060"/>
                </a:solidFill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6953530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1554</TotalTime>
  <Words>1568</Words>
  <Application>Microsoft Office PowerPoint</Application>
  <PresentationFormat>On-screen Show (16:10)</PresentationFormat>
  <Paragraphs>230</Paragraphs>
  <Slides>28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Aptos</vt:lpstr>
      <vt:lpstr>Aptos Display</vt:lpstr>
      <vt:lpstr>Arial</vt:lpstr>
      <vt:lpstr>Tema do Office</vt:lpstr>
      <vt:lpstr>Formal Verification of Programs Equivalence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Formal Verification of Programs Equivalence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Joao Francisco Serrenho Nini</dc:creator>
  <cp:lastModifiedBy>João Nini</cp:lastModifiedBy>
  <cp:revision>103</cp:revision>
  <dcterms:created xsi:type="dcterms:W3CDTF">2025-02-13T13:42:37Z</dcterms:created>
  <dcterms:modified xsi:type="dcterms:W3CDTF">2025-12-12T23:43:25Z</dcterms:modified>
</cp:coreProperties>
</file>