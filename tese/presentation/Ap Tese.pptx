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0"/>
  </p:notesMasterIdLst>
  <p:sldIdLst>
    <p:sldId id="256" r:id="rId2"/>
    <p:sldId id="292" r:id="rId3"/>
    <p:sldId id="331" r:id="rId4"/>
    <p:sldId id="293" r:id="rId5"/>
    <p:sldId id="257" r:id="rId6"/>
    <p:sldId id="294" r:id="rId7"/>
    <p:sldId id="308" r:id="rId8"/>
    <p:sldId id="305" r:id="rId9"/>
    <p:sldId id="295" r:id="rId10"/>
    <p:sldId id="314" r:id="rId11"/>
    <p:sldId id="304" r:id="rId12"/>
    <p:sldId id="313" r:id="rId13"/>
    <p:sldId id="332" r:id="rId14"/>
    <p:sldId id="333" r:id="rId15"/>
    <p:sldId id="320" r:id="rId16"/>
    <p:sldId id="323" r:id="rId17"/>
    <p:sldId id="296" r:id="rId18"/>
    <p:sldId id="315" r:id="rId19"/>
    <p:sldId id="325" r:id="rId20"/>
    <p:sldId id="324" r:id="rId21"/>
    <p:sldId id="317" r:id="rId22"/>
    <p:sldId id="318" r:id="rId23"/>
    <p:sldId id="334" r:id="rId24"/>
    <p:sldId id="297" r:id="rId25"/>
    <p:sldId id="298" r:id="rId26"/>
    <p:sldId id="300" r:id="rId27"/>
    <p:sldId id="299" r:id="rId28"/>
    <p:sldId id="301" r:id="rId29"/>
  </p:sldIdLst>
  <p:sldSz cx="9144000" cy="5715000" type="screen16x1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530B"/>
    <a:srgbClr val="ACCFEE"/>
    <a:srgbClr val="90BEE8"/>
    <a:srgbClr val="81AADB"/>
    <a:srgbClr val="78B8F8"/>
    <a:srgbClr val="9CCBFA"/>
    <a:srgbClr val="6EA0F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8265" autoAdjust="0"/>
    <p:restoredTop sz="81046" autoAdjust="0"/>
  </p:normalViewPr>
  <p:slideViewPr>
    <p:cSldViewPr snapToGrid="0">
      <p:cViewPr varScale="1">
        <p:scale>
          <a:sx n="80" d="100"/>
          <a:sy n="80" d="100"/>
        </p:scale>
        <p:origin x="941" y="48"/>
      </p:cViewPr>
      <p:guideLst/>
    </p:cSldViewPr>
  </p:slideViewPr>
  <p:notesTextViewPr>
    <p:cViewPr>
      <p:scale>
        <a:sx n="3" d="2"/>
        <a:sy n="3" d="2"/>
      </p:scale>
      <p:origin x="0" y="-336"/>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4D7271-F55A-4686-93D9-9528AEDA1906}" type="datetimeFigureOut">
              <a:rPr lang="en-US" smtClean="0"/>
              <a:t>12/13/2025</a:t>
            </a:fld>
            <a:endParaRPr lang="en-US"/>
          </a:p>
        </p:txBody>
      </p:sp>
      <p:sp>
        <p:nvSpPr>
          <p:cNvPr id="4" name="Slide Image Placeholder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3F2602-38FE-4418-A7EF-ADB22DAE42F9}" type="slidenum">
              <a:rPr lang="en-US" smtClean="0"/>
              <a:t>‹#›</a:t>
            </a:fld>
            <a:endParaRPr lang="en-US"/>
          </a:p>
        </p:txBody>
      </p:sp>
    </p:spTree>
    <p:extLst>
      <p:ext uri="{BB962C8B-B14F-4D97-AF65-F5344CB8AC3E}">
        <p14:creationId xmlns:p14="http://schemas.microsoft.com/office/powerpoint/2010/main" val="955389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PT" dirty="0"/>
              <a:t>Todos nós já passámos por situações em que percebemos um erro nalgum tipo de software, seja um site, aplicação ou jogo.</a:t>
            </a:r>
          </a:p>
          <a:p>
            <a:r>
              <a:rPr lang="pt-PT" dirty="0"/>
              <a:t>Alguns destes casos incluem, por exemplo, bugs irritantes num jogo que nos fazem perder uma partida ou problemas em aplicações de entrega de comida ao domicílio que nos fazem ficar sem almoço ou que, pelo menos, este demore mais tempo a chegar.</a:t>
            </a:r>
          </a:p>
          <a:p>
            <a:r>
              <a:rPr lang="pt-PT" dirty="0"/>
              <a:t>No entanto, nenhuma destas situações é comparável a casos em que erros de software levam a perda de vidas humanas ou </a:t>
            </a:r>
            <a:r>
              <a:rPr lang="pt-PT"/>
              <a:t>expressivos danos económicos.</a:t>
            </a:r>
            <a:endParaRPr lang="pt-PT" dirty="0"/>
          </a:p>
          <a:p>
            <a:endParaRPr lang="en-US" dirty="0"/>
          </a:p>
        </p:txBody>
      </p:sp>
      <p:sp>
        <p:nvSpPr>
          <p:cNvPr id="4" name="Slide Number Placeholder 3"/>
          <p:cNvSpPr>
            <a:spLocks noGrp="1"/>
          </p:cNvSpPr>
          <p:nvPr>
            <p:ph type="sldNum" sz="quarter" idx="5"/>
          </p:nvPr>
        </p:nvSpPr>
        <p:spPr/>
        <p:txBody>
          <a:bodyPr/>
          <a:lstStyle/>
          <a:p>
            <a:fld id="{0B3F2602-38FE-4418-A7EF-ADB22DAE42F9}" type="slidenum">
              <a:rPr lang="en-US" smtClean="0"/>
              <a:t>2</a:t>
            </a:fld>
            <a:endParaRPr lang="en-US"/>
          </a:p>
        </p:txBody>
      </p:sp>
    </p:spTree>
    <p:extLst>
      <p:ext uri="{BB962C8B-B14F-4D97-AF65-F5344CB8AC3E}">
        <p14:creationId xmlns:p14="http://schemas.microsoft.com/office/powerpoint/2010/main" val="9386711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a:t>
            </a:r>
            <a:r>
              <a:rPr lang="en-US" dirty="0" err="1"/>
              <a:t>falamos</a:t>
            </a:r>
            <a:r>
              <a:rPr lang="en-US" dirty="0"/>
              <a:t> </a:t>
            </a:r>
            <a:r>
              <a:rPr lang="en-US" dirty="0" err="1"/>
              <a:t>em</a:t>
            </a:r>
            <a:r>
              <a:rPr lang="en-US" dirty="0"/>
              <a:t> </a:t>
            </a:r>
            <a:r>
              <a:rPr lang="en-US" dirty="0" err="1"/>
              <a:t>prova</a:t>
            </a:r>
            <a:r>
              <a:rPr lang="en-US" dirty="0"/>
              <a:t> </a:t>
            </a:r>
            <a:r>
              <a:rPr lang="en-US" dirty="0" err="1"/>
              <a:t>automática</a:t>
            </a:r>
            <a:r>
              <a:rPr lang="en-US" dirty="0"/>
              <a:t> de </a:t>
            </a:r>
            <a:r>
              <a:rPr lang="en-US" dirty="0" err="1"/>
              <a:t>equivalência</a:t>
            </a:r>
            <a:r>
              <a:rPr lang="en-US" dirty="0"/>
              <a:t>, </a:t>
            </a:r>
            <a:r>
              <a:rPr lang="en-US" dirty="0" err="1"/>
              <a:t>queremos</a:t>
            </a:r>
            <a:r>
              <a:rPr lang="en-US" dirty="0"/>
              <a:t> </a:t>
            </a:r>
            <a:r>
              <a:rPr lang="en-US" dirty="0" err="1"/>
              <a:t>dizer</a:t>
            </a:r>
            <a:r>
              <a:rPr lang="en-US" dirty="0"/>
              <a:t> </a:t>
            </a:r>
            <a:r>
              <a:rPr lang="en-US" dirty="0" err="1"/>
              <a:t>sem</a:t>
            </a:r>
            <a:r>
              <a:rPr lang="en-US" dirty="0"/>
              <a:t> </a:t>
            </a:r>
            <a:r>
              <a:rPr lang="en-US" dirty="0" err="1"/>
              <a:t>interação</a:t>
            </a:r>
            <a:r>
              <a:rPr lang="en-US" dirty="0"/>
              <a:t> do </a:t>
            </a:r>
            <a:r>
              <a:rPr lang="en-US" dirty="0" err="1"/>
              <a:t>utilizador</a:t>
            </a:r>
            <a:r>
              <a:rPr lang="en-US" dirty="0"/>
              <a:t> </a:t>
            </a:r>
            <a:r>
              <a:rPr lang="en-US" dirty="0" err="1"/>
              <a:t>depois</a:t>
            </a:r>
            <a:r>
              <a:rPr lang="en-US" dirty="0"/>
              <a:t> da </a:t>
            </a:r>
            <a:r>
              <a:rPr lang="en-US" dirty="0" err="1"/>
              <a:t>escrita</a:t>
            </a:r>
            <a:r>
              <a:rPr lang="en-US" dirty="0"/>
              <a:t> da </a:t>
            </a:r>
            <a:r>
              <a:rPr lang="en-US" dirty="0" err="1"/>
              <a:t>especificação</a:t>
            </a:r>
            <a:r>
              <a:rPr lang="en-US" dirty="0"/>
              <a:t>.</a:t>
            </a:r>
          </a:p>
        </p:txBody>
      </p:sp>
      <p:sp>
        <p:nvSpPr>
          <p:cNvPr id="4" name="Slide Number Placeholder 3"/>
          <p:cNvSpPr>
            <a:spLocks noGrp="1"/>
          </p:cNvSpPr>
          <p:nvPr>
            <p:ph type="sldNum" sz="quarter" idx="5"/>
          </p:nvPr>
        </p:nvSpPr>
        <p:spPr/>
        <p:txBody>
          <a:bodyPr/>
          <a:lstStyle/>
          <a:p>
            <a:fld id="{0B3F2602-38FE-4418-A7EF-ADB22DAE42F9}" type="slidenum">
              <a:rPr lang="en-US" smtClean="0"/>
              <a:t>4</a:t>
            </a:fld>
            <a:endParaRPr lang="en-US"/>
          </a:p>
        </p:txBody>
      </p:sp>
    </p:spTree>
    <p:extLst>
      <p:ext uri="{BB962C8B-B14F-4D97-AF65-F5344CB8AC3E}">
        <p14:creationId xmlns:p14="http://schemas.microsoft.com/office/powerpoint/2010/main" val="2740535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B3F2602-38FE-4418-A7EF-ADB22DAE42F9}" type="slidenum">
              <a:rPr lang="en-US" smtClean="0"/>
              <a:t>18</a:t>
            </a:fld>
            <a:endParaRPr lang="en-US"/>
          </a:p>
        </p:txBody>
      </p:sp>
    </p:spTree>
    <p:extLst>
      <p:ext uri="{BB962C8B-B14F-4D97-AF65-F5344CB8AC3E}">
        <p14:creationId xmlns:p14="http://schemas.microsoft.com/office/powerpoint/2010/main" val="27341091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F8597-CF9F-4020-2510-8250018A8E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FA2086-778C-2731-8FF2-66E6F7BF96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2B735D-0845-C0A7-6580-7C14303C9C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C30F77-6870-1AF1-7FB6-C618D64B615F}"/>
              </a:ext>
            </a:extLst>
          </p:cNvPr>
          <p:cNvSpPr>
            <a:spLocks noGrp="1"/>
          </p:cNvSpPr>
          <p:nvPr>
            <p:ph type="sldNum" sz="quarter" idx="5"/>
          </p:nvPr>
        </p:nvSpPr>
        <p:spPr/>
        <p:txBody>
          <a:bodyPr/>
          <a:lstStyle/>
          <a:p>
            <a:fld id="{0B3F2602-38FE-4418-A7EF-ADB22DAE42F9}" type="slidenum">
              <a:rPr lang="en-US" smtClean="0"/>
              <a:t>19</a:t>
            </a:fld>
            <a:endParaRPr lang="en-US"/>
          </a:p>
        </p:txBody>
      </p:sp>
    </p:spTree>
    <p:extLst>
      <p:ext uri="{BB962C8B-B14F-4D97-AF65-F5344CB8AC3E}">
        <p14:creationId xmlns:p14="http://schemas.microsoft.com/office/powerpoint/2010/main" val="1377576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FA7401-CD86-6C61-93A6-984C44365F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9E712F-641A-85A1-9E28-B73DD58A87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30BF0D-67E7-A7A3-CE75-9ACFD2BA33E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D41903-4911-B03E-B6ED-09FDAB76792A}"/>
              </a:ext>
            </a:extLst>
          </p:cNvPr>
          <p:cNvSpPr>
            <a:spLocks noGrp="1"/>
          </p:cNvSpPr>
          <p:nvPr>
            <p:ph type="sldNum" sz="quarter" idx="5"/>
          </p:nvPr>
        </p:nvSpPr>
        <p:spPr/>
        <p:txBody>
          <a:bodyPr/>
          <a:lstStyle/>
          <a:p>
            <a:fld id="{0B3F2602-38FE-4418-A7EF-ADB22DAE42F9}" type="slidenum">
              <a:rPr lang="en-US" smtClean="0"/>
              <a:t>20</a:t>
            </a:fld>
            <a:endParaRPr lang="en-US"/>
          </a:p>
        </p:txBody>
      </p:sp>
    </p:spTree>
    <p:extLst>
      <p:ext uri="{BB962C8B-B14F-4D97-AF65-F5344CB8AC3E}">
        <p14:creationId xmlns:p14="http://schemas.microsoft.com/office/powerpoint/2010/main" val="39119826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o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p:spPr>
        <p:txBody>
          <a:bodyPr anchor="b"/>
          <a:lstStyle>
            <a:lvl1pPr algn="ctr">
              <a:defRPr sz="4500"/>
            </a:lvl1pPr>
          </a:lstStyle>
          <a:p>
            <a:r>
              <a:rPr lang="pt-PT"/>
              <a:t>Clique para editar o estilo de título do Modelo Global</a:t>
            </a:r>
            <a:endParaRPr lang="en-US" dirty="0"/>
          </a:p>
        </p:txBody>
      </p:sp>
      <p:sp>
        <p:nvSpPr>
          <p:cNvPr id="3" name="Subtitle 2"/>
          <p:cNvSpPr>
            <a:spLocks noGrp="1"/>
          </p:cNvSpPr>
          <p:nvPr>
            <p:ph type="subTitle" idx="1"/>
          </p:nvPr>
        </p:nvSpPr>
        <p:spPr>
          <a:xfrm>
            <a:off x="1143000" y="3001698"/>
            <a:ext cx="6858000" cy="137980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pt-PT"/>
              <a:t>Clique para editar o estilo de subtítulo do Modelo Global</a:t>
            </a:r>
            <a:endParaRPr lang="en-US" dirty="0"/>
          </a:p>
        </p:txBody>
      </p:sp>
      <p:sp>
        <p:nvSpPr>
          <p:cNvPr id="4" name="Date Placeholder 3"/>
          <p:cNvSpPr>
            <a:spLocks noGrp="1"/>
          </p:cNvSpPr>
          <p:nvPr>
            <p:ph type="dt" sz="half" idx="10"/>
          </p:nvPr>
        </p:nvSpPr>
        <p:spPr/>
        <p:txBody>
          <a:bodyPr/>
          <a:lstStyle/>
          <a:p>
            <a:fld id="{1E5BF2F9-84AD-46CB-8486-EB732804F762}" type="datetime1">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lvl1pPr>
              <a:defRPr sz="2000">
                <a:solidFill>
                  <a:srgbClr val="002060"/>
                </a:solidFill>
              </a:defRPr>
            </a:lvl1pPr>
          </a:lstStyle>
          <a:p>
            <a:fld id="{292A9FD8-515A-4698-9313-0AB17EE9632B}" type="slidenum">
              <a:rPr lang="en-US" smtClean="0"/>
              <a:pPr/>
              <a:t>‹#›</a:t>
            </a:fld>
            <a:endParaRPr lang="en-US" dirty="0"/>
          </a:p>
        </p:txBody>
      </p:sp>
    </p:spTree>
    <p:extLst>
      <p:ext uri="{BB962C8B-B14F-4D97-AF65-F5344CB8AC3E}">
        <p14:creationId xmlns:p14="http://schemas.microsoft.com/office/powerpoint/2010/main" val="40567934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Obje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PT"/>
              <a:t>Clique para editar o estilo de título do Modelo Global</a:t>
            </a:r>
            <a:endParaRPr lang="en-US" dirty="0"/>
          </a:p>
        </p:txBody>
      </p:sp>
      <p:sp>
        <p:nvSpPr>
          <p:cNvPr id="3" name="Content Placeholder 2"/>
          <p:cNvSpPr>
            <a:spLocks noGrp="1"/>
          </p:cNvSpPr>
          <p:nvPr>
            <p:ph idx="1"/>
          </p:nvPr>
        </p:nvSpPr>
        <p:spPr/>
        <p:txBody>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4" name="Date Placeholder 3"/>
          <p:cNvSpPr>
            <a:spLocks noGrp="1"/>
          </p:cNvSpPr>
          <p:nvPr>
            <p:ph type="dt" sz="half" idx="10"/>
          </p:nvPr>
        </p:nvSpPr>
        <p:spPr/>
        <p:txBody>
          <a:bodyPr/>
          <a:lstStyle/>
          <a:p>
            <a:fld id="{C4D54784-9B75-4DBC-ACA0-9F51227CD78F}" type="datetime1">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2A9FD8-515A-4698-9313-0AB17EE9632B}" type="slidenum">
              <a:rPr lang="en-US" smtClean="0"/>
              <a:t>‹#›</a:t>
            </a:fld>
            <a:endParaRPr lang="en-US"/>
          </a:p>
        </p:txBody>
      </p:sp>
    </p:spTree>
    <p:extLst>
      <p:ext uri="{BB962C8B-B14F-4D97-AF65-F5344CB8AC3E}">
        <p14:creationId xmlns:p14="http://schemas.microsoft.com/office/powerpoint/2010/main" val="38462062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cção">
    <p:spTree>
      <p:nvGrpSpPr>
        <p:cNvPr id="1" name=""/>
        <p:cNvGrpSpPr/>
        <p:nvPr/>
      </p:nvGrpSpPr>
      <p:grpSpPr>
        <a:xfrm>
          <a:off x="0" y="0"/>
          <a:ext cx="0" cy="0"/>
          <a:chOff x="0" y="0"/>
          <a:chExt cx="0" cy="0"/>
        </a:xfrm>
      </p:grpSpPr>
      <p:sp>
        <p:nvSpPr>
          <p:cNvPr id="2" name="Title 1"/>
          <p:cNvSpPr>
            <a:spLocks noGrp="1"/>
          </p:cNvSpPr>
          <p:nvPr>
            <p:ph type="title"/>
          </p:nvPr>
        </p:nvSpPr>
        <p:spPr>
          <a:xfrm>
            <a:off x="623888" y="1424782"/>
            <a:ext cx="7886700" cy="2377281"/>
          </a:xfrm>
        </p:spPr>
        <p:txBody>
          <a:bodyPr anchor="b"/>
          <a:lstStyle>
            <a:lvl1pPr>
              <a:defRPr sz="4500"/>
            </a:lvl1pPr>
          </a:lstStyle>
          <a:p>
            <a:r>
              <a:rPr lang="pt-PT"/>
              <a:t>Clique para editar o estilo de título do Modelo Global</a:t>
            </a:r>
            <a:endParaRPr lang="en-US" dirty="0"/>
          </a:p>
        </p:txBody>
      </p:sp>
      <p:sp>
        <p:nvSpPr>
          <p:cNvPr id="3" name="Text Placeholder 2"/>
          <p:cNvSpPr>
            <a:spLocks noGrp="1"/>
          </p:cNvSpPr>
          <p:nvPr>
            <p:ph type="body" idx="1"/>
          </p:nvPr>
        </p:nvSpPr>
        <p:spPr>
          <a:xfrm>
            <a:off x="623888" y="3824553"/>
            <a:ext cx="7886700" cy="1250156"/>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pt-PT"/>
              <a:t>Clique para editar os estilos do texto de Modelo Global</a:t>
            </a:r>
          </a:p>
        </p:txBody>
      </p:sp>
      <p:sp>
        <p:nvSpPr>
          <p:cNvPr id="4" name="Date Placeholder 3"/>
          <p:cNvSpPr>
            <a:spLocks noGrp="1"/>
          </p:cNvSpPr>
          <p:nvPr>
            <p:ph type="dt" sz="half" idx="10"/>
          </p:nvPr>
        </p:nvSpPr>
        <p:spPr/>
        <p:txBody>
          <a:bodyPr/>
          <a:lstStyle/>
          <a:p>
            <a:fld id="{3D9E4D52-32DE-4F35-8CB6-5A44573D3FC9}" type="datetime1">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2A9FD8-515A-4698-9313-0AB17EE9632B}" type="slidenum">
              <a:rPr lang="en-US" smtClean="0"/>
              <a:t>‹#›</a:t>
            </a:fld>
            <a:endParaRPr lang="en-US"/>
          </a:p>
        </p:txBody>
      </p:sp>
    </p:spTree>
    <p:extLst>
      <p:ext uri="{BB962C8B-B14F-4D97-AF65-F5344CB8AC3E}">
        <p14:creationId xmlns:p14="http://schemas.microsoft.com/office/powerpoint/2010/main" val="816404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Conteúdo Dup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PT"/>
              <a:t>Clique para editar o estilo de título do Modelo Global</a:t>
            </a:r>
            <a:endParaRPr lang="en-US" dirty="0"/>
          </a:p>
        </p:txBody>
      </p:sp>
      <p:sp>
        <p:nvSpPr>
          <p:cNvPr id="3" name="Content Placeholder 2"/>
          <p:cNvSpPr>
            <a:spLocks noGrp="1"/>
          </p:cNvSpPr>
          <p:nvPr>
            <p:ph sz="half" idx="1"/>
          </p:nvPr>
        </p:nvSpPr>
        <p:spPr>
          <a:xfrm>
            <a:off x="628650" y="1521354"/>
            <a:ext cx="3886200" cy="3626115"/>
          </a:xfrm>
        </p:spPr>
        <p:txBody>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4" name="Content Placeholder 3"/>
          <p:cNvSpPr>
            <a:spLocks noGrp="1"/>
          </p:cNvSpPr>
          <p:nvPr>
            <p:ph sz="half" idx="2"/>
          </p:nvPr>
        </p:nvSpPr>
        <p:spPr>
          <a:xfrm>
            <a:off x="4629150" y="1521354"/>
            <a:ext cx="3886200" cy="3626115"/>
          </a:xfrm>
        </p:spPr>
        <p:txBody>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5" name="Date Placeholder 4"/>
          <p:cNvSpPr>
            <a:spLocks noGrp="1"/>
          </p:cNvSpPr>
          <p:nvPr>
            <p:ph type="dt" sz="half" idx="10"/>
          </p:nvPr>
        </p:nvSpPr>
        <p:spPr/>
        <p:txBody>
          <a:bodyPr/>
          <a:lstStyle/>
          <a:p>
            <a:fld id="{D0FFB22E-8A21-4AF6-BDE0-993A2F9B14BB}" type="datetime1">
              <a:rPr lang="en-US" smtClean="0"/>
              <a:t>12/13/2025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2A9FD8-515A-4698-9313-0AB17EE9632B}" type="slidenum">
              <a:rPr lang="en-US" smtClean="0"/>
              <a:t>‹#›</a:t>
            </a:fld>
            <a:endParaRPr lang="en-US"/>
          </a:p>
        </p:txBody>
      </p:sp>
    </p:spTree>
    <p:extLst>
      <p:ext uri="{BB962C8B-B14F-4D97-AF65-F5344CB8AC3E}">
        <p14:creationId xmlns:p14="http://schemas.microsoft.com/office/powerpoint/2010/main" val="21329053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itle 1"/>
          <p:cNvSpPr>
            <a:spLocks noGrp="1"/>
          </p:cNvSpPr>
          <p:nvPr>
            <p:ph type="title"/>
          </p:nvPr>
        </p:nvSpPr>
        <p:spPr>
          <a:xfrm>
            <a:off x="629841" y="304271"/>
            <a:ext cx="7886700" cy="1104636"/>
          </a:xfrm>
        </p:spPr>
        <p:txBody>
          <a:bodyPr/>
          <a:lstStyle/>
          <a:p>
            <a:r>
              <a:rPr lang="pt-PT"/>
              <a:t>Clique para editar o estilo de título do Modelo Global</a:t>
            </a:r>
            <a:endParaRPr lang="en-US" dirty="0"/>
          </a:p>
        </p:txBody>
      </p:sp>
      <p:sp>
        <p:nvSpPr>
          <p:cNvPr id="3" name="Text Placeholder 2"/>
          <p:cNvSpPr>
            <a:spLocks noGrp="1"/>
          </p:cNvSpPr>
          <p:nvPr>
            <p:ph type="body" idx="1"/>
          </p:nvPr>
        </p:nvSpPr>
        <p:spPr>
          <a:xfrm>
            <a:off x="629842" y="1400969"/>
            <a:ext cx="3868340" cy="686593"/>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pt-PT"/>
              <a:t>Clique para editar os estilos do texto de Modelo Global</a:t>
            </a:r>
          </a:p>
        </p:txBody>
      </p:sp>
      <p:sp>
        <p:nvSpPr>
          <p:cNvPr id="4" name="Content Placeholder 3"/>
          <p:cNvSpPr>
            <a:spLocks noGrp="1"/>
          </p:cNvSpPr>
          <p:nvPr>
            <p:ph sz="half" idx="2"/>
          </p:nvPr>
        </p:nvSpPr>
        <p:spPr>
          <a:xfrm>
            <a:off x="629842" y="2087563"/>
            <a:ext cx="3868340" cy="3070490"/>
          </a:xfrm>
        </p:spPr>
        <p:txBody>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5" name="Text Placeholder 4"/>
          <p:cNvSpPr>
            <a:spLocks noGrp="1"/>
          </p:cNvSpPr>
          <p:nvPr>
            <p:ph type="body" sz="quarter" idx="3"/>
          </p:nvPr>
        </p:nvSpPr>
        <p:spPr>
          <a:xfrm>
            <a:off x="4629150" y="1400969"/>
            <a:ext cx="3887391" cy="686593"/>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pt-PT"/>
              <a:t>Clique para editar os estilos do texto de Modelo Global</a:t>
            </a:r>
          </a:p>
        </p:txBody>
      </p:sp>
      <p:sp>
        <p:nvSpPr>
          <p:cNvPr id="6" name="Content Placeholder 5"/>
          <p:cNvSpPr>
            <a:spLocks noGrp="1"/>
          </p:cNvSpPr>
          <p:nvPr>
            <p:ph sz="quarter" idx="4"/>
          </p:nvPr>
        </p:nvSpPr>
        <p:spPr>
          <a:xfrm>
            <a:off x="4629150" y="2087563"/>
            <a:ext cx="3887391" cy="3070490"/>
          </a:xfrm>
        </p:spPr>
        <p:txBody>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7" name="Date Placeholder 6"/>
          <p:cNvSpPr>
            <a:spLocks noGrp="1"/>
          </p:cNvSpPr>
          <p:nvPr>
            <p:ph type="dt" sz="half" idx="10"/>
          </p:nvPr>
        </p:nvSpPr>
        <p:spPr/>
        <p:txBody>
          <a:bodyPr/>
          <a:lstStyle/>
          <a:p>
            <a:fld id="{AC41D9E4-527D-47F1-B47F-963D62CCBC76}" type="datetime1">
              <a:rPr lang="en-US" smtClean="0"/>
              <a:t>12/13/2025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92A9FD8-515A-4698-9313-0AB17EE9632B}" type="slidenum">
              <a:rPr lang="en-US" smtClean="0"/>
              <a:t>‹#›</a:t>
            </a:fld>
            <a:endParaRPr lang="en-US"/>
          </a:p>
        </p:txBody>
      </p:sp>
    </p:spTree>
    <p:extLst>
      <p:ext uri="{BB962C8B-B14F-4D97-AF65-F5344CB8AC3E}">
        <p14:creationId xmlns:p14="http://schemas.microsoft.com/office/powerpoint/2010/main" val="32211256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PT"/>
              <a:t>Clique para editar o estilo de título do Modelo Global</a:t>
            </a:r>
            <a:endParaRPr lang="en-US" dirty="0"/>
          </a:p>
        </p:txBody>
      </p:sp>
      <p:sp>
        <p:nvSpPr>
          <p:cNvPr id="3" name="Date Placeholder 2"/>
          <p:cNvSpPr>
            <a:spLocks noGrp="1"/>
          </p:cNvSpPr>
          <p:nvPr>
            <p:ph type="dt" sz="half" idx="10"/>
          </p:nvPr>
        </p:nvSpPr>
        <p:spPr/>
        <p:txBody>
          <a:bodyPr/>
          <a:lstStyle/>
          <a:p>
            <a:fld id="{9906A608-925A-4874-BCA4-36BA40FADF76}" type="datetime1">
              <a:rPr lang="en-US" smtClean="0"/>
              <a:t>12/13/2025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92A9FD8-515A-4698-9313-0AB17EE9632B}" type="slidenum">
              <a:rPr lang="en-US" smtClean="0"/>
              <a:t>‹#›</a:t>
            </a:fld>
            <a:endParaRPr lang="en-US"/>
          </a:p>
        </p:txBody>
      </p:sp>
    </p:spTree>
    <p:extLst>
      <p:ext uri="{BB962C8B-B14F-4D97-AF65-F5344CB8AC3E}">
        <p14:creationId xmlns:p14="http://schemas.microsoft.com/office/powerpoint/2010/main" val="30894097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CCB426-3683-4E7C-B869-5155B20F8BC6}" type="datetime1">
              <a:rPr lang="en-US" smtClean="0"/>
              <a:t>12/13/2025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92A9FD8-515A-4698-9313-0AB17EE9632B}" type="slidenum">
              <a:rPr lang="en-US" smtClean="0"/>
              <a:t>‹#›</a:t>
            </a:fld>
            <a:endParaRPr lang="en-US"/>
          </a:p>
        </p:txBody>
      </p:sp>
    </p:spTree>
    <p:extLst>
      <p:ext uri="{BB962C8B-B14F-4D97-AF65-F5344CB8AC3E}">
        <p14:creationId xmlns:p14="http://schemas.microsoft.com/office/powerpoint/2010/main" val="1403615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p:spPr>
        <p:txBody>
          <a:bodyPr anchor="b"/>
          <a:lstStyle>
            <a:lvl1pPr>
              <a:defRPr sz="2400"/>
            </a:lvl1pPr>
          </a:lstStyle>
          <a:p>
            <a:r>
              <a:rPr lang="pt-PT"/>
              <a:t>Clique para editar o estilo de título do Modelo Global</a:t>
            </a:r>
            <a:endParaRPr lang="en-US" dirty="0"/>
          </a:p>
        </p:txBody>
      </p:sp>
      <p:sp>
        <p:nvSpPr>
          <p:cNvPr id="3" name="Content Placeholder 2"/>
          <p:cNvSpPr>
            <a:spLocks noGrp="1"/>
          </p:cNvSpPr>
          <p:nvPr>
            <p:ph idx="1"/>
          </p:nvPr>
        </p:nvSpPr>
        <p:spPr>
          <a:xfrm>
            <a:off x="3887391" y="822855"/>
            <a:ext cx="4629150" cy="4061354"/>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4" name="Text Placeholder 3"/>
          <p:cNvSpPr>
            <a:spLocks noGrp="1"/>
          </p:cNvSpPr>
          <p:nvPr>
            <p:ph type="body" sz="half" idx="2"/>
          </p:nvPr>
        </p:nvSpPr>
        <p:spPr>
          <a:xfrm>
            <a:off x="629841" y="1714500"/>
            <a:ext cx="2949178" cy="3176323"/>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pt-PT"/>
              <a:t>Clique para editar os estilos do texto de Modelo Global</a:t>
            </a:r>
          </a:p>
        </p:txBody>
      </p:sp>
      <p:sp>
        <p:nvSpPr>
          <p:cNvPr id="5" name="Date Placeholder 4"/>
          <p:cNvSpPr>
            <a:spLocks noGrp="1"/>
          </p:cNvSpPr>
          <p:nvPr>
            <p:ph type="dt" sz="half" idx="10"/>
          </p:nvPr>
        </p:nvSpPr>
        <p:spPr/>
        <p:txBody>
          <a:bodyPr/>
          <a:lstStyle/>
          <a:p>
            <a:fld id="{3351EA60-24F6-40E8-A0D7-2067F6ECA6B2}" type="datetime1">
              <a:rPr lang="en-US" smtClean="0"/>
              <a:t>12/13/2025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2A9FD8-515A-4698-9313-0AB17EE9632B}" type="slidenum">
              <a:rPr lang="en-US" smtClean="0"/>
              <a:t>‹#›</a:t>
            </a:fld>
            <a:endParaRPr lang="en-US"/>
          </a:p>
        </p:txBody>
      </p:sp>
    </p:spTree>
    <p:extLst>
      <p:ext uri="{BB962C8B-B14F-4D97-AF65-F5344CB8AC3E}">
        <p14:creationId xmlns:p14="http://schemas.microsoft.com/office/powerpoint/2010/main" val="13970863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p:spPr>
        <p:txBody>
          <a:bodyPr anchor="b"/>
          <a:lstStyle>
            <a:lvl1pPr>
              <a:defRPr sz="2400"/>
            </a:lvl1pPr>
          </a:lstStyle>
          <a:p>
            <a:r>
              <a:rPr lang="pt-PT"/>
              <a:t>Clique para editar o estilo de título do Modelo Global</a:t>
            </a:r>
            <a:endParaRPr lang="en-US" dirty="0"/>
          </a:p>
        </p:txBody>
      </p:sp>
      <p:sp>
        <p:nvSpPr>
          <p:cNvPr id="3" name="Picture Placeholder 2"/>
          <p:cNvSpPr>
            <a:spLocks noGrp="1" noChangeAspect="1"/>
          </p:cNvSpPr>
          <p:nvPr>
            <p:ph type="pic" idx="1"/>
          </p:nvPr>
        </p:nvSpPr>
        <p:spPr>
          <a:xfrm>
            <a:off x="3887391" y="822855"/>
            <a:ext cx="4629150" cy="4061354"/>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pt-PT"/>
              <a:t>Clique no ícone para adicionar uma imagem</a:t>
            </a:r>
            <a:endParaRPr lang="en-US" dirty="0"/>
          </a:p>
        </p:txBody>
      </p:sp>
      <p:sp>
        <p:nvSpPr>
          <p:cNvPr id="4" name="Text Placeholder 3"/>
          <p:cNvSpPr>
            <a:spLocks noGrp="1"/>
          </p:cNvSpPr>
          <p:nvPr>
            <p:ph type="body" sz="half" idx="2"/>
          </p:nvPr>
        </p:nvSpPr>
        <p:spPr>
          <a:xfrm>
            <a:off x="629841" y="1714500"/>
            <a:ext cx="2949178" cy="3176323"/>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pt-PT"/>
              <a:t>Clique para editar os estilos do texto de Modelo Global</a:t>
            </a:r>
          </a:p>
        </p:txBody>
      </p:sp>
      <p:sp>
        <p:nvSpPr>
          <p:cNvPr id="5" name="Date Placeholder 4"/>
          <p:cNvSpPr>
            <a:spLocks noGrp="1"/>
          </p:cNvSpPr>
          <p:nvPr>
            <p:ph type="dt" sz="half" idx="10"/>
          </p:nvPr>
        </p:nvSpPr>
        <p:spPr/>
        <p:txBody>
          <a:bodyPr/>
          <a:lstStyle/>
          <a:p>
            <a:fld id="{C6106440-8C5F-4111-9AD5-D0C1FDF01CE9}" type="datetime1">
              <a:rPr lang="en-US" smtClean="0"/>
              <a:t>12/13/2025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2A9FD8-515A-4698-9313-0AB17EE9632B}" type="slidenum">
              <a:rPr lang="en-US" smtClean="0"/>
              <a:t>‹#›</a:t>
            </a:fld>
            <a:endParaRPr lang="en-US"/>
          </a:p>
        </p:txBody>
      </p:sp>
    </p:spTree>
    <p:extLst>
      <p:ext uri="{BB962C8B-B14F-4D97-AF65-F5344CB8AC3E}">
        <p14:creationId xmlns:p14="http://schemas.microsoft.com/office/powerpoint/2010/main" val="12425243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PT"/>
              <a:t>Clique para editar o estilo de título do Modelo Global</a:t>
            </a:r>
            <a:endParaRPr lang="en-US" dirty="0"/>
          </a:p>
        </p:txBody>
      </p:sp>
      <p:sp>
        <p:nvSpPr>
          <p:cNvPr id="3" name="Vertical Text Placeholder 2"/>
          <p:cNvSpPr>
            <a:spLocks noGrp="1"/>
          </p:cNvSpPr>
          <p:nvPr>
            <p:ph type="body" orient="vert" idx="1"/>
          </p:nvPr>
        </p:nvSpPr>
        <p:spPr/>
        <p:txBody>
          <a:bodyPr vert="eaVert"/>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4" name="Date Placeholder 3"/>
          <p:cNvSpPr>
            <a:spLocks noGrp="1"/>
          </p:cNvSpPr>
          <p:nvPr>
            <p:ph type="dt" sz="half" idx="10"/>
          </p:nvPr>
        </p:nvSpPr>
        <p:spPr/>
        <p:txBody>
          <a:bodyPr/>
          <a:lstStyle/>
          <a:p>
            <a:fld id="{23618752-90E6-4B57-86C0-C43DD2320A2D}" type="datetime1">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2A9FD8-515A-4698-9313-0AB17EE9632B}" type="slidenum">
              <a:rPr lang="en-US" smtClean="0"/>
              <a:t>‹#›</a:t>
            </a:fld>
            <a:endParaRPr lang="en-US"/>
          </a:p>
        </p:txBody>
      </p:sp>
    </p:spTree>
    <p:extLst>
      <p:ext uri="{BB962C8B-B14F-4D97-AF65-F5344CB8AC3E}">
        <p14:creationId xmlns:p14="http://schemas.microsoft.com/office/powerpoint/2010/main" val="24121185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e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04271"/>
            <a:ext cx="1971675" cy="4843198"/>
          </a:xfrm>
        </p:spPr>
        <p:txBody>
          <a:bodyPr vert="eaVert"/>
          <a:lstStyle/>
          <a:p>
            <a:r>
              <a:rPr lang="pt-PT"/>
              <a:t>Clique para editar o estilo de título do Modelo Global</a:t>
            </a:r>
            <a:endParaRPr lang="en-US" dirty="0"/>
          </a:p>
        </p:txBody>
      </p:sp>
      <p:sp>
        <p:nvSpPr>
          <p:cNvPr id="3" name="Vertical Text Placeholder 2"/>
          <p:cNvSpPr>
            <a:spLocks noGrp="1"/>
          </p:cNvSpPr>
          <p:nvPr>
            <p:ph type="body" orient="vert" idx="1"/>
          </p:nvPr>
        </p:nvSpPr>
        <p:spPr>
          <a:xfrm>
            <a:off x="628650" y="304271"/>
            <a:ext cx="5800725" cy="4843198"/>
          </a:xfrm>
        </p:spPr>
        <p:txBody>
          <a:bodyPr vert="eaVert"/>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4" name="Date Placeholder 3"/>
          <p:cNvSpPr>
            <a:spLocks noGrp="1"/>
          </p:cNvSpPr>
          <p:nvPr>
            <p:ph type="dt" sz="half" idx="10"/>
          </p:nvPr>
        </p:nvSpPr>
        <p:spPr/>
        <p:txBody>
          <a:bodyPr/>
          <a:lstStyle/>
          <a:p>
            <a:fld id="{85BE5269-252E-4ABC-B047-AD967E98EA5E}" type="datetime1">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2A9FD8-515A-4698-9313-0AB17EE9632B}" type="slidenum">
              <a:rPr lang="en-US" smtClean="0"/>
              <a:t>‹#›</a:t>
            </a:fld>
            <a:endParaRPr lang="en-US"/>
          </a:p>
        </p:txBody>
      </p:sp>
    </p:spTree>
    <p:extLst>
      <p:ext uri="{BB962C8B-B14F-4D97-AF65-F5344CB8AC3E}">
        <p14:creationId xmlns:p14="http://schemas.microsoft.com/office/powerpoint/2010/main" val="8923257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ACCFEE"/>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04271"/>
            <a:ext cx="7886700" cy="1104636"/>
          </a:xfrm>
          <a:prstGeom prst="rect">
            <a:avLst/>
          </a:prstGeom>
        </p:spPr>
        <p:txBody>
          <a:bodyPr vert="horz" lIns="91440" tIns="45720" rIns="91440" bIns="45720" rtlCol="0" anchor="ctr">
            <a:normAutofit/>
          </a:bodyPr>
          <a:lstStyle/>
          <a:p>
            <a:r>
              <a:rPr lang="pt-PT"/>
              <a:t>Clique para editar o estilo de título do Modelo Global</a:t>
            </a:r>
            <a:endParaRPr lang="en-US" dirty="0"/>
          </a:p>
        </p:txBody>
      </p:sp>
      <p:sp>
        <p:nvSpPr>
          <p:cNvPr id="3" name="Text Placeholder 2"/>
          <p:cNvSpPr>
            <a:spLocks noGrp="1"/>
          </p:cNvSpPr>
          <p:nvPr>
            <p:ph type="body" idx="1"/>
          </p:nvPr>
        </p:nvSpPr>
        <p:spPr>
          <a:xfrm>
            <a:off x="628650" y="1521354"/>
            <a:ext cx="7886700" cy="3626115"/>
          </a:xfrm>
          <a:prstGeom prst="rect">
            <a:avLst/>
          </a:prstGeom>
        </p:spPr>
        <p:txBody>
          <a:bodyPr vert="horz" lIns="91440" tIns="45720" rIns="91440" bIns="45720" rtlCol="0">
            <a:normAutofit/>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4" name="Date Placeholder 3"/>
          <p:cNvSpPr>
            <a:spLocks noGrp="1"/>
          </p:cNvSpPr>
          <p:nvPr>
            <p:ph type="dt" sz="half" idx="2"/>
          </p:nvPr>
        </p:nvSpPr>
        <p:spPr>
          <a:xfrm>
            <a:off x="628650" y="5296959"/>
            <a:ext cx="2057400" cy="304271"/>
          </a:xfrm>
          <a:prstGeom prst="rect">
            <a:avLst/>
          </a:prstGeom>
        </p:spPr>
        <p:txBody>
          <a:bodyPr vert="horz" lIns="91440" tIns="45720" rIns="91440" bIns="45720" rtlCol="0" anchor="ctr"/>
          <a:lstStyle>
            <a:lvl1pPr algn="l">
              <a:defRPr sz="900">
                <a:solidFill>
                  <a:schemeClr val="tx1">
                    <a:tint val="82000"/>
                  </a:schemeClr>
                </a:solidFill>
              </a:defRPr>
            </a:lvl1pPr>
          </a:lstStyle>
          <a:p>
            <a:fld id="{2A16FEB8-5B01-4F5E-B573-CC516A2AD5E4}" type="datetime1">
              <a:rPr lang="en-US" smtClean="0"/>
              <a:t>12/13/2025</a:t>
            </a:fld>
            <a:endParaRPr lang="en-US"/>
          </a:p>
        </p:txBody>
      </p:sp>
      <p:sp>
        <p:nvSpPr>
          <p:cNvPr id="5" name="Footer Placeholder 4"/>
          <p:cNvSpPr>
            <a:spLocks noGrp="1"/>
          </p:cNvSpPr>
          <p:nvPr>
            <p:ph type="ftr" sz="quarter" idx="3"/>
          </p:nvPr>
        </p:nvSpPr>
        <p:spPr>
          <a:xfrm>
            <a:off x="3028950" y="5296959"/>
            <a:ext cx="3086100" cy="304271"/>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457950" y="5296959"/>
            <a:ext cx="2057400" cy="304271"/>
          </a:xfrm>
          <a:prstGeom prst="rect">
            <a:avLst/>
          </a:prstGeom>
        </p:spPr>
        <p:txBody>
          <a:bodyPr vert="horz" lIns="91440" tIns="45720" rIns="91440" bIns="45720" rtlCol="0" anchor="ctr"/>
          <a:lstStyle>
            <a:lvl1pPr algn="r">
              <a:defRPr sz="900">
                <a:solidFill>
                  <a:schemeClr val="tx1">
                    <a:tint val="82000"/>
                  </a:schemeClr>
                </a:solidFill>
              </a:defRPr>
            </a:lvl1pPr>
          </a:lstStyle>
          <a:p>
            <a:fld id="{292A9FD8-515A-4698-9313-0AB17EE9632B}" type="slidenum">
              <a:rPr lang="en-US" smtClean="0"/>
              <a:t>‹#›</a:t>
            </a:fld>
            <a:endParaRPr lang="en-US"/>
          </a:p>
        </p:txBody>
      </p:sp>
    </p:spTree>
    <p:extLst>
      <p:ext uri="{BB962C8B-B14F-4D97-AF65-F5344CB8AC3E}">
        <p14:creationId xmlns:p14="http://schemas.microsoft.com/office/powerpoint/2010/main" val="114486380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DD9373C-2D23-F449-45CC-7F420DB7E667}"/>
              </a:ext>
            </a:extLst>
          </p:cNvPr>
          <p:cNvSpPr>
            <a:spLocks noGrp="1"/>
          </p:cNvSpPr>
          <p:nvPr>
            <p:ph type="ctrTitle"/>
          </p:nvPr>
        </p:nvSpPr>
        <p:spPr>
          <a:xfrm>
            <a:off x="1143000" y="588433"/>
            <a:ext cx="6858000" cy="1687842"/>
          </a:xfrm>
        </p:spPr>
        <p:txBody>
          <a:bodyPr>
            <a:normAutofit/>
          </a:bodyPr>
          <a:lstStyle/>
          <a:p>
            <a:r>
              <a:rPr lang="en-US" sz="4400" noProof="1">
                <a:solidFill>
                  <a:srgbClr val="002060"/>
                </a:solidFill>
              </a:rPr>
              <a:t>Formal Verification of Programs Equivalence</a:t>
            </a:r>
          </a:p>
        </p:txBody>
      </p:sp>
      <p:sp>
        <p:nvSpPr>
          <p:cNvPr id="4" name="Slide Number Placeholder 3">
            <a:extLst>
              <a:ext uri="{FF2B5EF4-FFF2-40B4-BE49-F238E27FC236}">
                <a16:creationId xmlns:a16="http://schemas.microsoft.com/office/drawing/2014/main" id="{F9777CF3-8E6D-455B-29AC-2426301587E0}"/>
              </a:ext>
            </a:extLst>
          </p:cNvPr>
          <p:cNvSpPr>
            <a:spLocks noGrp="1"/>
          </p:cNvSpPr>
          <p:nvPr>
            <p:ph type="sldNum" sz="quarter" idx="12"/>
          </p:nvPr>
        </p:nvSpPr>
        <p:spPr/>
        <p:txBody>
          <a:bodyPr/>
          <a:lstStyle/>
          <a:p>
            <a:fld id="{292A9FD8-515A-4698-9313-0AB17EE9632B}" type="slidenum">
              <a:rPr lang="en-US" noProof="1" dirty="0" smtClean="0"/>
              <a:t>1</a:t>
            </a:fld>
            <a:endParaRPr lang="en-US" noProof="1"/>
          </a:p>
        </p:txBody>
      </p:sp>
      <p:sp>
        <p:nvSpPr>
          <p:cNvPr id="5" name="Subtítulo 2">
            <a:extLst>
              <a:ext uri="{FF2B5EF4-FFF2-40B4-BE49-F238E27FC236}">
                <a16:creationId xmlns:a16="http://schemas.microsoft.com/office/drawing/2014/main" id="{EFD5CCAB-49EF-292A-B1D6-C8D6E36210E2}"/>
              </a:ext>
            </a:extLst>
          </p:cNvPr>
          <p:cNvSpPr txBox="1">
            <a:spLocks/>
          </p:cNvSpPr>
          <p:nvPr/>
        </p:nvSpPr>
        <p:spPr>
          <a:xfrm>
            <a:off x="1143000" y="3207644"/>
            <a:ext cx="6858000" cy="1379802"/>
          </a:xfrm>
          <a:prstGeom prst="rect">
            <a:avLst/>
          </a:prstGeom>
        </p:spPr>
        <p:txBody>
          <a:bodyPr vert="horz" lIns="91440" tIns="45720" rIns="91440" bIns="45720" rtlCol="0">
            <a:noAutofit/>
          </a:bodyPr>
          <a:lstStyle>
            <a:lvl1pPr marL="0" indent="0" algn="ctr" defTabSz="685800" rtl="0" eaLnBrk="1" latinLnBrk="0" hangingPunct="1">
              <a:lnSpc>
                <a:spcPct val="90000"/>
              </a:lnSpc>
              <a:spcBef>
                <a:spcPts val="750"/>
              </a:spcBef>
              <a:buFont typeface="Arial" panose="020B0604020202020204" pitchFamily="34" charset="0"/>
              <a:buNone/>
              <a:defRPr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9pPr>
          </a:lstStyle>
          <a:p>
            <a:r>
              <a:rPr lang="en-US" sz="2000" noProof="1">
                <a:solidFill>
                  <a:srgbClr val="002060"/>
                </a:solidFill>
              </a:rPr>
              <a:t>João Nini</a:t>
            </a:r>
          </a:p>
          <a:p>
            <a:r>
              <a:rPr lang="en-US" sz="2000" noProof="1">
                <a:solidFill>
                  <a:srgbClr val="002060"/>
                </a:solidFill>
              </a:rPr>
              <a:t>Advisor: Mário Pereira</a:t>
            </a:r>
          </a:p>
          <a:p>
            <a:pPr>
              <a:lnSpc>
                <a:spcPct val="50000"/>
              </a:lnSpc>
            </a:pPr>
            <a:endParaRPr lang="en-US" sz="2000" noProof="1">
              <a:solidFill>
                <a:srgbClr val="002060"/>
              </a:solidFill>
            </a:endParaRPr>
          </a:p>
          <a:p>
            <a:pPr>
              <a:lnSpc>
                <a:spcPct val="50000"/>
              </a:lnSpc>
            </a:pPr>
            <a:r>
              <a:rPr lang="en-US" sz="2000" noProof="1">
                <a:solidFill>
                  <a:srgbClr val="002060"/>
                </a:solidFill>
              </a:rPr>
              <a:t>December 16, 2025</a:t>
            </a:r>
          </a:p>
        </p:txBody>
      </p:sp>
    </p:spTree>
    <p:extLst>
      <p:ext uri="{BB962C8B-B14F-4D97-AF65-F5344CB8AC3E}">
        <p14:creationId xmlns:p14="http://schemas.microsoft.com/office/powerpoint/2010/main" val="11843060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57819D-22DF-BB89-F824-CADBC161770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CDD2D7D-902F-2269-3BB0-FB38B484CA03}"/>
              </a:ext>
            </a:extLst>
          </p:cNvPr>
          <p:cNvSpPr txBox="1"/>
          <p:nvPr/>
        </p:nvSpPr>
        <p:spPr>
          <a:xfrm>
            <a:off x="469556" y="626071"/>
            <a:ext cx="6845644" cy="523220"/>
          </a:xfrm>
          <a:prstGeom prst="rect">
            <a:avLst/>
          </a:prstGeom>
          <a:noFill/>
        </p:spPr>
        <p:txBody>
          <a:bodyPr wrap="square" rtlCol="0">
            <a:spAutoFit/>
          </a:bodyPr>
          <a:lstStyle/>
          <a:p>
            <a:r>
              <a:rPr lang="en-US" sz="2800" noProof="1">
                <a:solidFill>
                  <a:srgbClr val="002060"/>
                </a:solidFill>
              </a:rPr>
              <a:t>Motivation</a:t>
            </a:r>
            <a:endParaRPr lang="en-US" sz="2800" noProof="1"/>
          </a:p>
        </p:txBody>
      </p:sp>
      <p:sp>
        <p:nvSpPr>
          <p:cNvPr id="3" name="TextBox 2">
            <a:extLst>
              <a:ext uri="{FF2B5EF4-FFF2-40B4-BE49-F238E27FC236}">
                <a16:creationId xmlns:a16="http://schemas.microsoft.com/office/drawing/2014/main" id="{BC024C74-BD52-17A9-B912-C9D5D2C76EFB}"/>
              </a:ext>
            </a:extLst>
          </p:cNvPr>
          <p:cNvSpPr txBox="1"/>
          <p:nvPr/>
        </p:nvSpPr>
        <p:spPr>
          <a:xfrm>
            <a:off x="469556" y="2041892"/>
            <a:ext cx="3566985" cy="1631216"/>
          </a:xfrm>
          <a:prstGeom prst="rect">
            <a:avLst/>
          </a:prstGeom>
          <a:noFill/>
        </p:spPr>
        <p:txBody>
          <a:bodyPr wrap="square" rtlCol="0">
            <a:spAutoFit/>
          </a:bodyPr>
          <a:lstStyle/>
          <a:p>
            <a:pPr algn="r"/>
            <a:r>
              <a:rPr lang="en-US" sz="2000" noProof="1">
                <a:solidFill>
                  <a:srgbClr val="002060"/>
                </a:solidFill>
              </a:rPr>
              <a:t>Annoying bugs in games </a:t>
            </a:r>
          </a:p>
          <a:p>
            <a:pPr algn="r"/>
            <a:r>
              <a:rPr lang="en-US" sz="2000" noProof="1">
                <a:solidFill>
                  <a:srgbClr val="002060"/>
                </a:solidFill>
              </a:rPr>
              <a:t>Errors in food delivery apps</a:t>
            </a:r>
          </a:p>
          <a:p>
            <a:pPr algn="r"/>
            <a:endParaRPr lang="en-US" sz="2000" noProof="1">
              <a:solidFill>
                <a:srgbClr val="002060"/>
              </a:solidFill>
            </a:endParaRPr>
          </a:p>
          <a:p>
            <a:pPr algn="r"/>
            <a:r>
              <a:rPr lang="en-US" sz="2000" noProof="1">
                <a:solidFill>
                  <a:srgbClr val="002060"/>
                </a:solidFill>
              </a:rPr>
              <a:t>Therac-25 radiation overdoses</a:t>
            </a:r>
          </a:p>
          <a:p>
            <a:pPr algn="r"/>
            <a:r>
              <a:rPr lang="en-US" sz="2000" noProof="1">
                <a:solidFill>
                  <a:srgbClr val="002060"/>
                </a:solidFill>
              </a:rPr>
              <a:t>AWS and Cloudflare outages </a:t>
            </a:r>
          </a:p>
        </p:txBody>
      </p:sp>
      <p:sp>
        <p:nvSpPr>
          <p:cNvPr id="4" name="Right Brace 3">
            <a:extLst>
              <a:ext uri="{FF2B5EF4-FFF2-40B4-BE49-F238E27FC236}">
                <a16:creationId xmlns:a16="http://schemas.microsoft.com/office/drawing/2014/main" id="{6E119382-9F46-F38D-6705-65FDB3D1A255}"/>
              </a:ext>
            </a:extLst>
          </p:cNvPr>
          <p:cNvSpPr/>
          <p:nvPr/>
        </p:nvSpPr>
        <p:spPr>
          <a:xfrm>
            <a:off x="4036541" y="1890585"/>
            <a:ext cx="527222" cy="193899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1"/>
          </a:p>
        </p:txBody>
      </p:sp>
      <p:sp>
        <p:nvSpPr>
          <p:cNvPr id="6" name="TextBox 5">
            <a:extLst>
              <a:ext uri="{FF2B5EF4-FFF2-40B4-BE49-F238E27FC236}">
                <a16:creationId xmlns:a16="http://schemas.microsoft.com/office/drawing/2014/main" id="{55C3EECF-AB62-BF50-D520-5784A13E1375}"/>
              </a:ext>
            </a:extLst>
          </p:cNvPr>
          <p:cNvSpPr txBox="1"/>
          <p:nvPr/>
        </p:nvSpPr>
        <p:spPr>
          <a:xfrm>
            <a:off x="4563763" y="2510983"/>
            <a:ext cx="2722606" cy="1107996"/>
          </a:xfrm>
          <a:prstGeom prst="rect">
            <a:avLst/>
          </a:prstGeom>
          <a:noFill/>
        </p:spPr>
        <p:txBody>
          <a:bodyPr wrap="square" rtlCol="0">
            <a:spAutoFit/>
          </a:bodyPr>
          <a:lstStyle/>
          <a:p>
            <a:pPr algn="ctr"/>
            <a:r>
              <a:rPr lang="en-US" sz="2400" b="1" noProof="1">
                <a:solidFill>
                  <a:srgbClr val="C00000"/>
                </a:solidFill>
              </a:rPr>
              <a:t>Avoidable!</a:t>
            </a:r>
          </a:p>
          <a:p>
            <a:pPr algn="ctr"/>
            <a:r>
              <a:rPr lang="en-US" sz="2000" noProof="1">
                <a:solidFill>
                  <a:srgbClr val="002060"/>
                </a:solidFill>
              </a:rPr>
              <a:t>What is the most reliable way?</a:t>
            </a:r>
          </a:p>
        </p:txBody>
      </p:sp>
      <p:cxnSp>
        <p:nvCxnSpPr>
          <p:cNvPr id="8" name="Straight Arrow Connector 7">
            <a:extLst>
              <a:ext uri="{FF2B5EF4-FFF2-40B4-BE49-F238E27FC236}">
                <a16:creationId xmlns:a16="http://schemas.microsoft.com/office/drawing/2014/main" id="{F9C54A17-3D95-2445-AA2A-1BE0F7278DDC}"/>
              </a:ext>
            </a:extLst>
          </p:cNvPr>
          <p:cNvCxnSpPr>
            <a:stCxn id="6" idx="2"/>
          </p:cNvCxnSpPr>
          <p:nvPr/>
        </p:nvCxnSpPr>
        <p:spPr>
          <a:xfrm>
            <a:off x="5925066" y="3618979"/>
            <a:ext cx="0" cy="5400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455FBB35-68D0-AB12-DB55-E8D45DF787E1}"/>
              </a:ext>
            </a:extLst>
          </p:cNvPr>
          <p:cNvSpPr txBox="1"/>
          <p:nvPr/>
        </p:nvSpPr>
        <p:spPr>
          <a:xfrm>
            <a:off x="4188941" y="4239377"/>
            <a:ext cx="3472250" cy="461665"/>
          </a:xfrm>
          <a:prstGeom prst="rect">
            <a:avLst/>
          </a:prstGeom>
          <a:noFill/>
        </p:spPr>
        <p:txBody>
          <a:bodyPr wrap="square" rtlCol="0">
            <a:spAutoFit/>
          </a:bodyPr>
          <a:lstStyle/>
          <a:p>
            <a:pPr algn="ctr"/>
            <a:r>
              <a:rPr lang="en-US" sz="2400" u="sng" noProof="1">
                <a:solidFill>
                  <a:srgbClr val="002060"/>
                </a:solidFill>
              </a:rPr>
              <a:t>Deductive verification</a:t>
            </a:r>
          </a:p>
        </p:txBody>
      </p:sp>
      <p:sp>
        <p:nvSpPr>
          <p:cNvPr id="5" name="Slide Number Placeholder 4">
            <a:extLst>
              <a:ext uri="{FF2B5EF4-FFF2-40B4-BE49-F238E27FC236}">
                <a16:creationId xmlns:a16="http://schemas.microsoft.com/office/drawing/2014/main" id="{80C0FAB0-762B-10DB-6F17-118438930F99}"/>
              </a:ext>
            </a:extLst>
          </p:cNvPr>
          <p:cNvSpPr>
            <a:spLocks noGrp="1"/>
          </p:cNvSpPr>
          <p:nvPr>
            <p:ph type="sldNum" sz="quarter" idx="12"/>
          </p:nvPr>
        </p:nvSpPr>
        <p:spPr/>
        <p:txBody>
          <a:bodyPr/>
          <a:lstStyle/>
          <a:p>
            <a:fld id="{292A9FD8-515A-4698-9313-0AB17EE9632B}" type="slidenum">
              <a:rPr lang="en-US" noProof="1" dirty="0" smtClean="0"/>
              <a:t>2</a:t>
            </a:fld>
            <a:endParaRPr lang="en-US" noProof="1"/>
          </a:p>
        </p:txBody>
      </p:sp>
      <p:cxnSp>
        <p:nvCxnSpPr>
          <p:cNvPr id="10" name="Straight Connector 9">
            <a:extLst>
              <a:ext uri="{FF2B5EF4-FFF2-40B4-BE49-F238E27FC236}">
                <a16:creationId xmlns:a16="http://schemas.microsoft.com/office/drawing/2014/main" id="{57AA87C7-57BE-D543-C4FF-917CD044392B}"/>
              </a:ext>
            </a:extLst>
          </p:cNvPr>
          <p:cNvCxnSpPr>
            <a:cxnSpLocks/>
          </p:cNvCxnSpPr>
          <p:nvPr/>
        </p:nvCxnSpPr>
        <p:spPr>
          <a:xfrm>
            <a:off x="642551" y="2857500"/>
            <a:ext cx="3393990"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37027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FFA10-ED99-4DAB-09C6-F2C7A41861F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FE0CDC7-B6E8-E4BB-C6AE-BBB44A23A9D9}"/>
              </a:ext>
            </a:extLst>
          </p:cNvPr>
          <p:cNvSpPr txBox="1"/>
          <p:nvPr/>
        </p:nvSpPr>
        <p:spPr>
          <a:xfrm>
            <a:off x="469556" y="626071"/>
            <a:ext cx="6845644" cy="523220"/>
          </a:xfrm>
          <a:prstGeom prst="rect">
            <a:avLst/>
          </a:prstGeom>
          <a:noFill/>
        </p:spPr>
        <p:txBody>
          <a:bodyPr wrap="square" rtlCol="0">
            <a:spAutoFit/>
          </a:bodyPr>
          <a:lstStyle/>
          <a:p>
            <a:r>
              <a:rPr lang="en-US" sz="2800" noProof="1">
                <a:solidFill>
                  <a:srgbClr val="002060"/>
                </a:solidFill>
              </a:rPr>
              <a:t>Our Vision</a:t>
            </a:r>
            <a:endParaRPr lang="en-US" sz="2800" noProof="1"/>
          </a:p>
        </p:txBody>
      </p:sp>
      <p:sp>
        <p:nvSpPr>
          <p:cNvPr id="3" name="TextBox 2">
            <a:extLst>
              <a:ext uri="{FF2B5EF4-FFF2-40B4-BE49-F238E27FC236}">
                <a16:creationId xmlns:a16="http://schemas.microsoft.com/office/drawing/2014/main" id="{8E896CB3-ECA8-977A-74BD-D9D27B3641B1}"/>
              </a:ext>
            </a:extLst>
          </p:cNvPr>
          <p:cNvSpPr txBox="1"/>
          <p:nvPr/>
        </p:nvSpPr>
        <p:spPr>
          <a:xfrm>
            <a:off x="469556" y="1418284"/>
            <a:ext cx="7817709" cy="3970318"/>
          </a:xfrm>
          <a:prstGeom prst="rect">
            <a:avLst/>
          </a:prstGeom>
          <a:noFill/>
        </p:spPr>
        <p:txBody>
          <a:bodyPr wrap="square" rtlCol="0">
            <a:spAutoFit/>
          </a:bodyPr>
          <a:lstStyle/>
          <a:p>
            <a:pPr marL="342900" indent="-342900">
              <a:buFont typeface="Arial" panose="020B0604020202020204" pitchFamily="34" charset="0"/>
              <a:buChar char="•"/>
            </a:pPr>
            <a:r>
              <a:rPr lang="pt-PT" noProof="1">
                <a:solidFill>
                  <a:srgbClr val="002060"/>
                </a:solidFill>
              </a:rPr>
              <a:t>Deductive verification’s most common way: just write and validate the proof of the program</a:t>
            </a:r>
          </a:p>
          <a:p>
            <a:pPr marL="342900" indent="-342900">
              <a:buFont typeface="Arial" panose="020B0604020202020204" pitchFamily="34" charset="0"/>
              <a:buChar char="•"/>
            </a:pPr>
            <a:endParaRPr lang="pt-PT" noProof="1">
              <a:solidFill>
                <a:srgbClr val="002060"/>
              </a:solidFill>
            </a:endParaRPr>
          </a:p>
          <a:p>
            <a:pPr marL="342900" indent="-342900">
              <a:buFont typeface="Arial" panose="020B0604020202020204" pitchFamily="34" charset="0"/>
              <a:buChar char="•"/>
            </a:pPr>
            <a:r>
              <a:rPr lang="pt-PT" noProof="1">
                <a:solidFill>
                  <a:srgbClr val="002060"/>
                </a:solidFill>
              </a:rPr>
              <a:t>Consider a specific case where we have two versions of the same program: one simple but slow (P1) and another complex but efficient (P2)</a:t>
            </a:r>
          </a:p>
          <a:p>
            <a:endParaRPr lang="pt-PT" noProof="1">
              <a:solidFill>
                <a:srgbClr val="002060"/>
              </a:solidFill>
            </a:endParaRPr>
          </a:p>
          <a:p>
            <a:pPr marL="342900" indent="-342900">
              <a:buFont typeface="Arial" panose="020B0604020202020204" pitchFamily="34" charset="0"/>
              <a:buChar char="•"/>
            </a:pPr>
            <a:r>
              <a:rPr lang="pt-PT" noProof="1">
                <a:solidFill>
                  <a:srgbClr val="002060"/>
                </a:solidFill>
              </a:rPr>
              <a:t>How to prove correctness of P2?</a:t>
            </a:r>
          </a:p>
          <a:p>
            <a:r>
              <a:rPr lang="pt-PT" noProof="1">
                <a:solidFill>
                  <a:srgbClr val="002060"/>
                </a:solidFill>
              </a:rPr>
              <a:t>		- Our approach: prove that P1 is correct and 							then establish that P1 and P2 are equivalent</a:t>
            </a:r>
          </a:p>
          <a:p>
            <a:endParaRPr lang="pt-PT" noProof="1">
              <a:solidFill>
                <a:srgbClr val="002060"/>
              </a:solidFill>
            </a:endParaRPr>
          </a:p>
          <a:p>
            <a:pPr marL="342900" indent="-342900">
              <a:buFont typeface="Arial" panose="020B0604020202020204" pitchFamily="34" charset="0"/>
              <a:buChar char="•"/>
            </a:pPr>
            <a:r>
              <a:rPr lang="pt-PT" noProof="1">
                <a:solidFill>
                  <a:srgbClr val="002060"/>
                </a:solidFill>
              </a:rPr>
              <a:t>Why? </a:t>
            </a:r>
          </a:p>
          <a:p>
            <a:pPr lvl="1"/>
            <a:r>
              <a:rPr lang="pt-PT" noProof="1">
                <a:solidFill>
                  <a:srgbClr val="002060"/>
                </a:solidFill>
              </a:rPr>
              <a:t>	- Proving equivalence is often simpler than proving correctness of 	complex programs </a:t>
            </a:r>
          </a:p>
          <a:p>
            <a:pPr marL="342900" indent="-342900">
              <a:buFont typeface="Arial" panose="020B0604020202020204" pitchFamily="34" charset="0"/>
              <a:buChar char="•"/>
            </a:pPr>
            <a:endParaRPr lang="en-US" noProof="1">
              <a:solidFill>
                <a:srgbClr val="002060"/>
              </a:solidFill>
            </a:endParaRPr>
          </a:p>
        </p:txBody>
      </p:sp>
      <p:sp>
        <p:nvSpPr>
          <p:cNvPr id="5" name="Slide Number Placeholder 4">
            <a:extLst>
              <a:ext uri="{FF2B5EF4-FFF2-40B4-BE49-F238E27FC236}">
                <a16:creationId xmlns:a16="http://schemas.microsoft.com/office/drawing/2014/main" id="{09A59B3C-4682-C1F9-F3AC-E7F21F37BBFD}"/>
              </a:ext>
            </a:extLst>
          </p:cNvPr>
          <p:cNvSpPr>
            <a:spLocks noGrp="1"/>
          </p:cNvSpPr>
          <p:nvPr>
            <p:ph type="sldNum" sz="quarter" idx="12"/>
          </p:nvPr>
        </p:nvSpPr>
        <p:spPr/>
        <p:txBody>
          <a:bodyPr/>
          <a:lstStyle/>
          <a:p>
            <a:fld id="{292A9FD8-515A-4698-9313-0AB17EE9632B}" type="slidenum">
              <a:rPr lang="en-US" noProof="1" dirty="0" smtClean="0"/>
              <a:t>3</a:t>
            </a:fld>
            <a:endParaRPr lang="en-US" noProof="1"/>
          </a:p>
        </p:txBody>
      </p:sp>
    </p:spTree>
    <p:extLst>
      <p:ext uri="{BB962C8B-B14F-4D97-AF65-F5344CB8AC3E}">
        <p14:creationId xmlns:p14="http://schemas.microsoft.com/office/powerpoint/2010/main" val="23812934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AFA4B-9E40-839C-CC14-2188445C4A4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94F06FF-0B28-EDDA-5C04-CF110DABB56F}"/>
              </a:ext>
            </a:extLst>
          </p:cNvPr>
          <p:cNvSpPr txBox="1"/>
          <p:nvPr/>
        </p:nvSpPr>
        <p:spPr>
          <a:xfrm>
            <a:off x="469556" y="626071"/>
            <a:ext cx="6845644" cy="523220"/>
          </a:xfrm>
          <a:prstGeom prst="rect">
            <a:avLst/>
          </a:prstGeom>
          <a:noFill/>
        </p:spPr>
        <p:txBody>
          <a:bodyPr wrap="square" rtlCol="0">
            <a:spAutoFit/>
          </a:bodyPr>
          <a:lstStyle/>
          <a:p>
            <a:r>
              <a:rPr lang="en-US" sz="2800" noProof="1">
                <a:solidFill>
                  <a:srgbClr val="002060"/>
                </a:solidFill>
              </a:rPr>
              <a:t>Problem Definition</a:t>
            </a:r>
            <a:endParaRPr lang="en-US" sz="2800" noProof="1"/>
          </a:p>
        </p:txBody>
      </p:sp>
      <p:sp>
        <p:nvSpPr>
          <p:cNvPr id="3" name="TextBox 2">
            <a:extLst>
              <a:ext uri="{FF2B5EF4-FFF2-40B4-BE49-F238E27FC236}">
                <a16:creationId xmlns:a16="http://schemas.microsoft.com/office/drawing/2014/main" id="{DD05CD8D-715D-ECB2-4829-9F818F4400C8}"/>
              </a:ext>
            </a:extLst>
          </p:cNvPr>
          <p:cNvSpPr txBox="1"/>
          <p:nvPr/>
        </p:nvSpPr>
        <p:spPr>
          <a:xfrm>
            <a:off x="1357184" y="2549093"/>
            <a:ext cx="6429632" cy="830997"/>
          </a:xfrm>
          <a:prstGeom prst="rect">
            <a:avLst/>
          </a:prstGeom>
          <a:noFill/>
        </p:spPr>
        <p:txBody>
          <a:bodyPr wrap="square" rtlCol="0">
            <a:spAutoFit/>
          </a:bodyPr>
          <a:lstStyle/>
          <a:p>
            <a:pPr algn="ctr"/>
            <a:r>
              <a:rPr lang="en-US" sz="2400" i="1" noProof="1">
                <a:solidFill>
                  <a:srgbClr val="002060"/>
                </a:solidFill>
              </a:rPr>
              <a:t>Can we automatically prove that two different programs are equivalent?</a:t>
            </a:r>
          </a:p>
        </p:txBody>
      </p:sp>
      <p:sp>
        <p:nvSpPr>
          <p:cNvPr id="4" name="Slide Number Placeholder 3">
            <a:extLst>
              <a:ext uri="{FF2B5EF4-FFF2-40B4-BE49-F238E27FC236}">
                <a16:creationId xmlns:a16="http://schemas.microsoft.com/office/drawing/2014/main" id="{8AE23ED2-DECC-485A-D894-EB1A353D8A27}"/>
              </a:ext>
            </a:extLst>
          </p:cNvPr>
          <p:cNvSpPr>
            <a:spLocks noGrp="1"/>
          </p:cNvSpPr>
          <p:nvPr>
            <p:ph type="sldNum" sz="quarter" idx="12"/>
          </p:nvPr>
        </p:nvSpPr>
        <p:spPr/>
        <p:txBody>
          <a:bodyPr/>
          <a:lstStyle/>
          <a:p>
            <a:fld id="{292A9FD8-515A-4698-9313-0AB17EE9632B}" type="slidenum">
              <a:rPr lang="en-US" noProof="1" dirty="0" smtClean="0"/>
              <a:t>4</a:t>
            </a:fld>
            <a:endParaRPr lang="en-US" noProof="1"/>
          </a:p>
        </p:txBody>
      </p:sp>
    </p:spTree>
    <p:extLst>
      <p:ext uri="{BB962C8B-B14F-4D97-AF65-F5344CB8AC3E}">
        <p14:creationId xmlns:p14="http://schemas.microsoft.com/office/powerpoint/2010/main" val="34723231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3C5F3-341B-CDA0-3B22-A015F44226CC}"/>
            </a:ext>
          </a:extLst>
        </p:cNvPr>
        <p:cNvGrpSpPr/>
        <p:nvPr/>
      </p:nvGrpSpPr>
      <p:grpSpPr>
        <a:xfrm>
          <a:off x="0" y="0"/>
          <a:ext cx="0" cy="0"/>
          <a:chOff x="0" y="0"/>
          <a:chExt cx="0" cy="0"/>
        </a:xfrm>
      </p:grpSpPr>
      <p:sp>
        <p:nvSpPr>
          <p:cNvPr id="3" name="Subtítulo 2">
            <a:extLst>
              <a:ext uri="{FF2B5EF4-FFF2-40B4-BE49-F238E27FC236}">
                <a16:creationId xmlns:a16="http://schemas.microsoft.com/office/drawing/2014/main" id="{5F7AE157-3983-D646-088D-E1E2E8187371}"/>
              </a:ext>
            </a:extLst>
          </p:cNvPr>
          <p:cNvSpPr>
            <a:spLocks noGrp="1"/>
          </p:cNvSpPr>
          <p:nvPr>
            <p:ph type="subTitle" idx="1"/>
          </p:nvPr>
        </p:nvSpPr>
        <p:spPr>
          <a:xfrm>
            <a:off x="1416908" y="2311246"/>
            <a:ext cx="6858000" cy="2394086"/>
          </a:xfrm>
        </p:spPr>
        <p:txBody>
          <a:bodyPr>
            <a:noAutofit/>
          </a:bodyPr>
          <a:lstStyle/>
          <a:p>
            <a:pPr marL="457200" indent="-457200" algn="l">
              <a:buFont typeface="+mj-lt"/>
              <a:buAutoNum type="arabicPeriod"/>
            </a:pPr>
            <a:r>
              <a:rPr lang="en-US" sz="2400" noProof="1">
                <a:solidFill>
                  <a:srgbClr val="002060"/>
                </a:solidFill>
              </a:rPr>
              <a:t>WhyRel</a:t>
            </a:r>
          </a:p>
          <a:p>
            <a:pPr marL="457200" indent="-457200" algn="l">
              <a:buFont typeface="+mj-lt"/>
              <a:buAutoNum type="arabicPeriod"/>
            </a:pPr>
            <a:r>
              <a:rPr lang="en-US" sz="2400" noProof="1">
                <a:solidFill>
                  <a:srgbClr val="002060"/>
                </a:solidFill>
              </a:rPr>
              <a:t>bip2ml</a:t>
            </a:r>
          </a:p>
          <a:p>
            <a:pPr marL="457200" indent="-457200" algn="l">
              <a:buFont typeface="+mj-lt"/>
              <a:buAutoNum type="arabicPeriod"/>
            </a:pPr>
            <a:r>
              <a:rPr lang="en-US" sz="2400" noProof="1">
                <a:solidFill>
                  <a:srgbClr val="002060"/>
                </a:solidFill>
              </a:rPr>
              <a:t>Case Studies</a:t>
            </a:r>
          </a:p>
          <a:p>
            <a:pPr marL="457200" indent="-457200" algn="l">
              <a:buFont typeface="+mj-lt"/>
              <a:buAutoNum type="arabicPeriod"/>
            </a:pPr>
            <a:r>
              <a:rPr lang="en-US" sz="2400" noProof="1">
                <a:solidFill>
                  <a:srgbClr val="002060"/>
                </a:solidFill>
              </a:rPr>
              <a:t>Conclusions</a:t>
            </a:r>
          </a:p>
        </p:txBody>
      </p:sp>
      <p:sp>
        <p:nvSpPr>
          <p:cNvPr id="2" name="TextBox 1">
            <a:extLst>
              <a:ext uri="{FF2B5EF4-FFF2-40B4-BE49-F238E27FC236}">
                <a16:creationId xmlns:a16="http://schemas.microsoft.com/office/drawing/2014/main" id="{BE18E59A-FE1A-37E4-F155-D8BDF0494D9D}"/>
              </a:ext>
            </a:extLst>
          </p:cNvPr>
          <p:cNvSpPr txBox="1"/>
          <p:nvPr/>
        </p:nvSpPr>
        <p:spPr>
          <a:xfrm>
            <a:off x="1416908" y="812984"/>
            <a:ext cx="6310183" cy="707886"/>
          </a:xfrm>
          <a:prstGeom prst="rect">
            <a:avLst/>
          </a:prstGeom>
          <a:noFill/>
        </p:spPr>
        <p:txBody>
          <a:bodyPr wrap="square" rtlCol="0">
            <a:spAutoFit/>
          </a:bodyPr>
          <a:lstStyle/>
          <a:p>
            <a:pPr algn="ctr"/>
            <a:r>
              <a:rPr lang="en-US" sz="4000" noProof="1">
                <a:solidFill>
                  <a:srgbClr val="002060"/>
                </a:solidFill>
              </a:rPr>
              <a:t>Presentation Structure</a:t>
            </a:r>
            <a:endParaRPr lang="en-US" sz="4000" noProof="1"/>
          </a:p>
        </p:txBody>
      </p:sp>
      <p:sp>
        <p:nvSpPr>
          <p:cNvPr id="4" name="Slide Number Placeholder 3">
            <a:extLst>
              <a:ext uri="{FF2B5EF4-FFF2-40B4-BE49-F238E27FC236}">
                <a16:creationId xmlns:a16="http://schemas.microsoft.com/office/drawing/2014/main" id="{C8DA381D-06C1-EC60-F50A-82AED36CBF68}"/>
              </a:ext>
            </a:extLst>
          </p:cNvPr>
          <p:cNvSpPr>
            <a:spLocks noGrp="1"/>
          </p:cNvSpPr>
          <p:nvPr>
            <p:ph type="sldNum" sz="quarter" idx="12"/>
          </p:nvPr>
        </p:nvSpPr>
        <p:spPr/>
        <p:txBody>
          <a:bodyPr/>
          <a:lstStyle/>
          <a:p>
            <a:fld id="{292A9FD8-515A-4698-9313-0AB17EE9632B}" type="slidenum">
              <a:rPr lang="en-US" noProof="1" dirty="0" smtClean="0"/>
              <a:t>5</a:t>
            </a:fld>
            <a:endParaRPr lang="en-US" noProof="1"/>
          </a:p>
        </p:txBody>
      </p:sp>
    </p:spTree>
    <p:extLst>
      <p:ext uri="{BB962C8B-B14F-4D97-AF65-F5344CB8AC3E}">
        <p14:creationId xmlns:p14="http://schemas.microsoft.com/office/powerpoint/2010/main" val="130386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69F5-EEB7-C983-89E8-5EAF9311E80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4C6203-4DFE-71C1-7475-A0653237A23D}"/>
              </a:ext>
            </a:extLst>
          </p:cNvPr>
          <p:cNvSpPr txBox="1"/>
          <p:nvPr/>
        </p:nvSpPr>
        <p:spPr>
          <a:xfrm>
            <a:off x="2397211" y="2026503"/>
            <a:ext cx="4349577" cy="830997"/>
          </a:xfrm>
          <a:prstGeom prst="rect">
            <a:avLst/>
          </a:prstGeom>
          <a:noFill/>
        </p:spPr>
        <p:txBody>
          <a:bodyPr wrap="square" rtlCol="0">
            <a:spAutoFit/>
          </a:bodyPr>
          <a:lstStyle/>
          <a:p>
            <a:pPr algn="ctr"/>
            <a:r>
              <a:rPr lang="en-US" sz="4800" noProof="1">
                <a:solidFill>
                  <a:srgbClr val="002060"/>
                </a:solidFill>
              </a:rPr>
              <a:t>WhyRel</a:t>
            </a:r>
            <a:endParaRPr lang="en-US" sz="4800" noProof="1"/>
          </a:p>
        </p:txBody>
      </p:sp>
      <p:sp>
        <p:nvSpPr>
          <p:cNvPr id="3" name="Slide Number Placeholder 2">
            <a:extLst>
              <a:ext uri="{FF2B5EF4-FFF2-40B4-BE49-F238E27FC236}">
                <a16:creationId xmlns:a16="http://schemas.microsoft.com/office/drawing/2014/main" id="{ECEC26C5-CF61-CD11-CADF-665A9E2867D1}"/>
              </a:ext>
            </a:extLst>
          </p:cNvPr>
          <p:cNvSpPr>
            <a:spLocks noGrp="1"/>
          </p:cNvSpPr>
          <p:nvPr>
            <p:ph type="sldNum" sz="quarter" idx="12"/>
          </p:nvPr>
        </p:nvSpPr>
        <p:spPr/>
        <p:txBody>
          <a:bodyPr/>
          <a:lstStyle/>
          <a:p>
            <a:fld id="{292A9FD8-515A-4698-9313-0AB17EE9632B}" type="slidenum">
              <a:rPr lang="en-US" noProof="1" dirty="0" smtClean="0"/>
              <a:t>6</a:t>
            </a:fld>
            <a:endParaRPr lang="en-US" noProof="1"/>
          </a:p>
        </p:txBody>
      </p:sp>
    </p:spTree>
    <p:extLst>
      <p:ext uri="{BB962C8B-B14F-4D97-AF65-F5344CB8AC3E}">
        <p14:creationId xmlns:p14="http://schemas.microsoft.com/office/powerpoint/2010/main" val="17664783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215B1-E030-AB06-C90F-33AEEBE4C53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D756338-A3E7-8B31-23B0-FF6AAC0856B0}"/>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What is WhyRel?</a:t>
            </a:r>
            <a:endParaRPr lang="en-US" sz="2800" noProof="1"/>
          </a:p>
        </p:txBody>
      </p:sp>
      <p:sp>
        <p:nvSpPr>
          <p:cNvPr id="4" name="Slide Number Placeholder 3">
            <a:extLst>
              <a:ext uri="{FF2B5EF4-FFF2-40B4-BE49-F238E27FC236}">
                <a16:creationId xmlns:a16="http://schemas.microsoft.com/office/drawing/2014/main" id="{E42D3E8A-F9D1-A27A-9610-C79AA34FCE37}"/>
              </a:ext>
            </a:extLst>
          </p:cNvPr>
          <p:cNvSpPr>
            <a:spLocks noGrp="1"/>
          </p:cNvSpPr>
          <p:nvPr>
            <p:ph type="sldNum" sz="quarter" idx="12"/>
          </p:nvPr>
        </p:nvSpPr>
        <p:spPr/>
        <p:txBody>
          <a:bodyPr/>
          <a:lstStyle/>
          <a:p>
            <a:fld id="{292A9FD8-515A-4698-9313-0AB17EE9632B}" type="slidenum">
              <a:rPr lang="en-US" noProof="1" dirty="0" smtClean="0"/>
              <a:t>7</a:t>
            </a:fld>
            <a:endParaRPr lang="en-US" noProof="1"/>
          </a:p>
        </p:txBody>
      </p:sp>
      <p:sp>
        <p:nvSpPr>
          <p:cNvPr id="10" name="TextBox 9">
            <a:extLst>
              <a:ext uri="{FF2B5EF4-FFF2-40B4-BE49-F238E27FC236}">
                <a16:creationId xmlns:a16="http://schemas.microsoft.com/office/drawing/2014/main" id="{535808A7-0D85-02C4-9FD0-AC62B1E78378}"/>
              </a:ext>
            </a:extLst>
          </p:cNvPr>
          <p:cNvSpPr txBox="1"/>
          <p:nvPr/>
        </p:nvSpPr>
        <p:spPr>
          <a:xfrm>
            <a:off x="469556" y="1480530"/>
            <a:ext cx="7199872" cy="3816429"/>
          </a:xfrm>
          <a:prstGeom prst="rect">
            <a:avLst/>
          </a:prstGeom>
          <a:noFill/>
        </p:spPr>
        <p:txBody>
          <a:bodyPr wrap="square" rtlCol="0">
            <a:spAutoFit/>
          </a:bodyPr>
          <a:lstStyle/>
          <a:p>
            <a:pPr marL="342900" indent="-342900">
              <a:buFont typeface="Arial" panose="020B0604020202020204" pitchFamily="34" charset="0"/>
              <a:buChar char="•"/>
            </a:pPr>
            <a:r>
              <a:rPr lang="en-US" sz="2200" noProof="1">
                <a:solidFill>
                  <a:srgbClr val="002060"/>
                </a:solidFill>
              </a:rPr>
              <a:t>A tool that aims to verify relational properties of pointer programs based on relational region logic</a:t>
            </a:r>
          </a:p>
          <a:p>
            <a:endParaRPr lang="en-US" sz="2200" noProof="1">
              <a:solidFill>
                <a:srgbClr val="002060"/>
              </a:solidFill>
            </a:endParaRPr>
          </a:p>
          <a:p>
            <a:pPr marL="342900" indent="-342900">
              <a:buFont typeface="Arial" panose="020B0604020202020204" pitchFamily="34" charset="0"/>
              <a:buChar char="•"/>
            </a:pPr>
            <a:r>
              <a:rPr lang="en-US" sz="2200" noProof="1">
                <a:solidFill>
                  <a:srgbClr val="002060"/>
                </a:solidFill>
              </a:rPr>
              <a:t>These auto-active tools enable the verification of a larger set of programs but require more user input</a:t>
            </a:r>
          </a:p>
          <a:p>
            <a:pPr marL="342900" indent="-342900">
              <a:buFont typeface="Arial" panose="020B0604020202020204" pitchFamily="34" charset="0"/>
              <a:buChar char="•"/>
            </a:pPr>
            <a:endParaRPr lang="en-US" sz="2200" noProof="1">
              <a:solidFill>
                <a:srgbClr val="002060"/>
              </a:solidFill>
            </a:endParaRPr>
          </a:p>
          <a:p>
            <a:pPr marL="342900" indent="-342900">
              <a:buFont typeface="Arial" panose="020B0604020202020204" pitchFamily="34" charset="0"/>
              <a:buChar char="•"/>
            </a:pPr>
            <a:r>
              <a:rPr lang="en-US" sz="2200" noProof="1">
                <a:solidFill>
                  <a:srgbClr val="002060"/>
                </a:solidFill>
              </a:rPr>
              <a:t>WhyRel works as a translator for the why3 platform to perform formal verification </a:t>
            </a:r>
          </a:p>
          <a:p>
            <a:endParaRPr lang="en-US" sz="2200" noProof="1">
              <a:solidFill>
                <a:srgbClr val="002060"/>
              </a:solidFill>
            </a:endParaRPr>
          </a:p>
          <a:p>
            <a:pPr marL="342900" indent="-342900">
              <a:buFont typeface="Arial" panose="020B0604020202020204" pitchFamily="34" charset="0"/>
              <a:buChar char="•"/>
            </a:pPr>
            <a:r>
              <a:rPr lang="en-US" sz="2200" noProof="1">
                <a:solidFill>
                  <a:srgbClr val="002060"/>
                </a:solidFill>
              </a:rPr>
              <a:t>WhyRel is the most important practical work for this thesis</a:t>
            </a:r>
          </a:p>
        </p:txBody>
      </p:sp>
    </p:spTree>
    <p:extLst>
      <p:ext uri="{BB962C8B-B14F-4D97-AF65-F5344CB8AC3E}">
        <p14:creationId xmlns:p14="http://schemas.microsoft.com/office/powerpoint/2010/main" val="29618652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1F5A8-F169-2814-0EC4-DF33D094EA1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58B3932-2A7C-3A6E-6E7E-EEAB07A52280}"/>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From bip2ml 2 WhyRel</a:t>
            </a:r>
            <a:endParaRPr lang="en-US" sz="2800" noProof="1"/>
          </a:p>
        </p:txBody>
      </p:sp>
      <p:sp>
        <p:nvSpPr>
          <p:cNvPr id="4" name="Slide Number Placeholder 3">
            <a:extLst>
              <a:ext uri="{FF2B5EF4-FFF2-40B4-BE49-F238E27FC236}">
                <a16:creationId xmlns:a16="http://schemas.microsoft.com/office/drawing/2014/main" id="{3122067F-F56B-7D25-A9C7-976D469A4E69}"/>
              </a:ext>
            </a:extLst>
          </p:cNvPr>
          <p:cNvSpPr>
            <a:spLocks noGrp="1"/>
          </p:cNvSpPr>
          <p:nvPr>
            <p:ph type="sldNum" sz="quarter" idx="12"/>
          </p:nvPr>
        </p:nvSpPr>
        <p:spPr/>
        <p:txBody>
          <a:bodyPr/>
          <a:lstStyle/>
          <a:p>
            <a:fld id="{292A9FD8-515A-4698-9313-0AB17EE9632B}" type="slidenum">
              <a:rPr lang="en-US" noProof="1" dirty="0" smtClean="0"/>
              <a:t>8</a:t>
            </a:fld>
            <a:endParaRPr lang="en-US" noProof="1"/>
          </a:p>
        </p:txBody>
      </p:sp>
      <p:sp>
        <p:nvSpPr>
          <p:cNvPr id="10" name="TextBox 9">
            <a:extLst>
              <a:ext uri="{FF2B5EF4-FFF2-40B4-BE49-F238E27FC236}">
                <a16:creationId xmlns:a16="http://schemas.microsoft.com/office/drawing/2014/main" id="{AF01DFD2-1A28-5BB8-86A8-B175A9BADBA6}"/>
              </a:ext>
            </a:extLst>
          </p:cNvPr>
          <p:cNvSpPr txBox="1"/>
          <p:nvPr/>
        </p:nvSpPr>
        <p:spPr>
          <a:xfrm>
            <a:off x="469556" y="1884297"/>
            <a:ext cx="6960974" cy="2308324"/>
          </a:xfrm>
          <a:prstGeom prst="rect">
            <a:avLst/>
          </a:prstGeom>
          <a:noFill/>
        </p:spPr>
        <p:txBody>
          <a:bodyPr wrap="square" rtlCol="0">
            <a:spAutoFit/>
          </a:bodyPr>
          <a:lstStyle/>
          <a:p>
            <a:r>
              <a:rPr lang="en-US" sz="2400" i="1" noProof="1">
                <a:solidFill>
                  <a:srgbClr val="002060"/>
                </a:solidFill>
              </a:rPr>
              <a:t>Why bip2ml?</a:t>
            </a:r>
          </a:p>
          <a:p>
            <a:endParaRPr lang="en-US" sz="2400" i="1" noProof="1">
              <a:solidFill>
                <a:srgbClr val="002060"/>
              </a:solidFill>
            </a:endParaRPr>
          </a:p>
          <a:p>
            <a:r>
              <a:rPr lang="en-US" sz="2400" noProof="1">
                <a:solidFill>
                  <a:srgbClr val="002060"/>
                </a:solidFill>
              </a:rPr>
              <a:t>To allow programmers to verify relational properties about their OCaml projects without needing to:</a:t>
            </a:r>
          </a:p>
          <a:p>
            <a:pPr lvl="1"/>
            <a:r>
              <a:rPr lang="en-US" sz="2400" noProof="1">
                <a:solidFill>
                  <a:srgbClr val="002060"/>
                </a:solidFill>
              </a:rPr>
              <a:t>- Completely rewrite the code</a:t>
            </a:r>
          </a:p>
          <a:p>
            <a:pPr lvl="1"/>
            <a:r>
              <a:rPr lang="en-US" sz="2400" noProof="1">
                <a:solidFill>
                  <a:srgbClr val="002060"/>
                </a:solidFill>
              </a:rPr>
              <a:t>- Learn a different programming language</a:t>
            </a:r>
          </a:p>
        </p:txBody>
      </p:sp>
    </p:spTree>
    <p:extLst>
      <p:ext uri="{BB962C8B-B14F-4D97-AF65-F5344CB8AC3E}">
        <p14:creationId xmlns:p14="http://schemas.microsoft.com/office/powerpoint/2010/main" val="32922777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0D219-590C-B954-1A55-6E398BBB89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B34082B-5CA4-6116-FE7C-1C2099477B58}"/>
              </a:ext>
            </a:extLst>
          </p:cNvPr>
          <p:cNvSpPr txBox="1"/>
          <p:nvPr/>
        </p:nvSpPr>
        <p:spPr>
          <a:xfrm>
            <a:off x="2397211" y="2026503"/>
            <a:ext cx="4349577" cy="830997"/>
          </a:xfrm>
          <a:prstGeom prst="rect">
            <a:avLst/>
          </a:prstGeom>
          <a:noFill/>
        </p:spPr>
        <p:txBody>
          <a:bodyPr wrap="square" rtlCol="0">
            <a:spAutoFit/>
          </a:bodyPr>
          <a:lstStyle/>
          <a:p>
            <a:pPr algn="ctr"/>
            <a:r>
              <a:rPr lang="en-US" sz="4800" noProof="1">
                <a:solidFill>
                  <a:srgbClr val="002060"/>
                </a:solidFill>
              </a:rPr>
              <a:t>bip2ml</a:t>
            </a:r>
            <a:endParaRPr lang="en-US" sz="4800" noProof="1"/>
          </a:p>
        </p:txBody>
      </p:sp>
      <p:sp>
        <p:nvSpPr>
          <p:cNvPr id="3" name="Slide Number Placeholder 2">
            <a:extLst>
              <a:ext uri="{FF2B5EF4-FFF2-40B4-BE49-F238E27FC236}">
                <a16:creationId xmlns:a16="http://schemas.microsoft.com/office/drawing/2014/main" id="{D99FC01B-5B72-8DED-FCC8-3C3488E82994}"/>
              </a:ext>
            </a:extLst>
          </p:cNvPr>
          <p:cNvSpPr>
            <a:spLocks noGrp="1"/>
          </p:cNvSpPr>
          <p:nvPr>
            <p:ph type="sldNum" sz="quarter" idx="12"/>
          </p:nvPr>
        </p:nvSpPr>
        <p:spPr/>
        <p:txBody>
          <a:bodyPr/>
          <a:lstStyle/>
          <a:p>
            <a:fld id="{292A9FD8-515A-4698-9313-0AB17EE9632B}" type="slidenum">
              <a:rPr lang="en-US" noProof="1" dirty="0" smtClean="0"/>
              <a:t>9</a:t>
            </a:fld>
            <a:endParaRPr lang="en-US" noProof="1"/>
          </a:p>
        </p:txBody>
      </p:sp>
    </p:spTree>
    <p:extLst>
      <p:ext uri="{BB962C8B-B14F-4D97-AF65-F5344CB8AC3E}">
        <p14:creationId xmlns:p14="http://schemas.microsoft.com/office/powerpoint/2010/main" val="5234523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1096D9-A956-439C-64CD-BE3345CEA81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D5E61C9-7408-2043-3AB4-9534A6C836AD}"/>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What is bip2ml?</a:t>
            </a:r>
            <a:endParaRPr lang="en-US" sz="2800" noProof="1"/>
          </a:p>
        </p:txBody>
      </p:sp>
      <p:sp>
        <p:nvSpPr>
          <p:cNvPr id="4" name="Slide Number Placeholder 3">
            <a:extLst>
              <a:ext uri="{FF2B5EF4-FFF2-40B4-BE49-F238E27FC236}">
                <a16:creationId xmlns:a16="http://schemas.microsoft.com/office/drawing/2014/main" id="{463AF3DB-62AF-2FF2-62F5-000DBFDA80F6}"/>
              </a:ext>
            </a:extLst>
          </p:cNvPr>
          <p:cNvSpPr>
            <a:spLocks noGrp="1"/>
          </p:cNvSpPr>
          <p:nvPr>
            <p:ph type="sldNum" sz="quarter" idx="12"/>
          </p:nvPr>
        </p:nvSpPr>
        <p:spPr/>
        <p:txBody>
          <a:bodyPr/>
          <a:lstStyle/>
          <a:p>
            <a:fld id="{292A9FD8-515A-4698-9313-0AB17EE9632B}" type="slidenum">
              <a:rPr lang="en-US" noProof="1" dirty="0" smtClean="0"/>
              <a:t>10</a:t>
            </a:fld>
            <a:endParaRPr lang="en-US" noProof="1"/>
          </a:p>
        </p:txBody>
      </p:sp>
      <p:sp>
        <p:nvSpPr>
          <p:cNvPr id="10" name="TextBox 9">
            <a:extLst>
              <a:ext uri="{FF2B5EF4-FFF2-40B4-BE49-F238E27FC236}">
                <a16:creationId xmlns:a16="http://schemas.microsoft.com/office/drawing/2014/main" id="{3EB3AE1B-E870-C78E-3804-A7F4A80E557E}"/>
              </a:ext>
            </a:extLst>
          </p:cNvPr>
          <p:cNvSpPr txBox="1"/>
          <p:nvPr/>
        </p:nvSpPr>
        <p:spPr>
          <a:xfrm>
            <a:off x="469556" y="1611054"/>
            <a:ext cx="6664412" cy="3477875"/>
          </a:xfrm>
          <a:prstGeom prst="rect">
            <a:avLst/>
          </a:prstGeom>
          <a:noFill/>
        </p:spPr>
        <p:txBody>
          <a:bodyPr wrap="square" rtlCol="0">
            <a:spAutoFit/>
          </a:bodyPr>
          <a:lstStyle/>
          <a:p>
            <a:pPr marL="342900" indent="-342900">
              <a:buFont typeface="Arial" panose="020B0604020202020204" pitchFamily="34" charset="0"/>
              <a:buChar char="•"/>
            </a:pPr>
            <a:r>
              <a:rPr lang="en-US" sz="2200" noProof="1">
                <a:solidFill>
                  <a:srgbClr val="002060"/>
                </a:solidFill>
              </a:rPr>
              <a:t>Our main contribution</a:t>
            </a:r>
          </a:p>
          <a:p>
            <a:pPr marL="342900" indent="-342900">
              <a:buFont typeface="Arial" panose="020B0604020202020204" pitchFamily="34" charset="0"/>
              <a:buChar char="•"/>
            </a:pPr>
            <a:endParaRPr lang="en-US" sz="2200" noProof="1">
              <a:solidFill>
                <a:srgbClr val="002060"/>
              </a:solidFill>
            </a:endParaRPr>
          </a:p>
          <a:p>
            <a:pPr marL="342900" indent="-342900">
              <a:buFont typeface="Arial" panose="020B0604020202020204" pitchFamily="34" charset="0"/>
              <a:buChar char="•"/>
            </a:pPr>
            <a:r>
              <a:rPr lang="en-US" sz="2200" noProof="1">
                <a:solidFill>
                  <a:srgbClr val="002060"/>
                </a:solidFill>
              </a:rPr>
              <a:t>A transpiler that eases verification of relational properties about OCaml programs</a:t>
            </a:r>
          </a:p>
          <a:p>
            <a:pPr marL="342900" indent="-342900">
              <a:buFont typeface="Arial" panose="020B0604020202020204" pitchFamily="34" charset="0"/>
              <a:buChar char="•"/>
            </a:pPr>
            <a:endParaRPr lang="en-US" sz="2200" noProof="1">
              <a:solidFill>
                <a:srgbClr val="002060"/>
              </a:solidFill>
            </a:endParaRPr>
          </a:p>
          <a:p>
            <a:pPr marL="342900" indent="-342900">
              <a:buFont typeface="Arial" panose="020B0604020202020204" pitchFamily="34" charset="0"/>
              <a:buChar char="•"/>
            </a:pPr>
            <a:r>
              <a:rPr lang="en-US" sz="2200" noProof="1">
                <a:solidFill>
                  <a:srgbClr val="002060"/>
                </a:solidFill>
              </a:rPr>
              <a:t>Transpiles biprograms using the translation rules defined by WhyRel’s authors</a:t>
            </a:r>
          </a:p>
          <a:p>
            <a:pPr marL="342900" indent="-342900">
              <a:buFont typeface="Arial" panose="020B0604020202020204" pitchFamily="34" charset="0"/>
              <a:buChar char="•"/>
            </a:pPr>
            <a:endParaRPr lang="en-US" sz="2200" noProof="1">
              <a:solidFill>
                <a:srgbClr val="002060"/>
              </a:solidFill>
            </a:endParaRPr>
          </a:p>
          <a:p>
            <a:pPr marL="342900" indent="-342900">
              <a:buFont typeface="Arial" panose="020B0604020202020204" pitchFamily="34" charset="0"/>
              <a:buChar char="•"/>
            </a:pPr>
            <a:r>
              <a:rPr lang="en-US" sz="2200" noProof="1">
                <a:solidFill>
                  <a:srgbClr val="002060"/>
                </a:solidFill>
              </a:rPr>
              <a:t>Input: Gospel-annotated BipLang code</a:t>
            </a:r>
          </a:p>
          <a:p>
            <a:pPr marL="342900" indent="-342900">
              <a:buFont typeface="Arial" panose="020B0604020202020204" pitchFamily="34" charset="0"/>
              <a:buChar char="•"/>
            </a:pPr>
            <a:r>
              <a:rPr lang="en-US" sz="2200" noProof="1">
                <a:solidFill>
                  <a:srgbClr val="002060"/>
                </a:solidFill>
              </a:rPr>
              <a:t>Output: Gospel-annotated OCaml code</a:t>
            </a:r>
          </a:p>
        </p:txBody>
      </p:sp>
    </p:spTree>
    <p:extLst>
      <p:ext uri="{BB962C8B-B14F-4D97-AF65-F5344CB8AC3E}">
        <p14:creationId xmlns:p14="http://schemas.microsoft.com/office/powerpoint/2010/main" val="12367742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2204D3-2CAC-93FE-D706-98DDA75D427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17F3F82-E861-1DB0-DEF2-FE290186730F}"/>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bip2ml + Cameleer Architecture</a:t>
            </a:r>
            <a:endParaRPr lang="en-US" sz="2800" noProof="1"/>
          </a:p>
        </p:txBody>
      </p:sp>
      <p:sp>
        <p:nvSpPr>
          <p:cNvPr id="4" name="Slide Number Placeholder 3">
            <a:extLst>
              <a:ext uri="{FF2B5EF4-FFF2-40B4-BE49-F238E27FC236}">
                <a16:creationId xmlns:a16="http://schemas.microsoft.com/office/drawing/2014/main" id="{DA1D7D4F-A2D4-B858-6236-10F23496E4B8}"/>
              </a:ext>
            </a:extLst>
          </p:cNvPr>
          <p:cNvSpPr>
            <a:spLocks noGrp="1"/>
          </p:cNvSpPr>
          <p:nvPr>
            <p:ph type="sldNum" sz="quarter" idx="12"/>
          </p:nvPr>
        </p:nvSpPr>
        <p:spPr/>
        <p:txBody>
          <a:bodyPr/>
          <a:lstStyle/>
          <a:p>
            <a:fld id="{292A9FD8-515A-4698-9313-0AB17EE9632B}" type="slidenum">
              <a:rPr lang="en-US" noProof="1" dirty="0" smtClean="0"/>
              <a:t>11</a:t>
            </a:fld>
            <a:endParaRPr lang="en-US" noProof="1"/>
          </a:p>
        </p:txBody>
      </p:sp>
      <p:pic>
        <p:nvPicPr>
          <p:cNvPr id="9" name="Picture 8">
            <a:extLst>
              <a:ext uri="{FF2B5EF4-FFF2-40B4-BE49-F238E27FC236}">
                <a16:creationId xmlns:a16="http://schemas.microsoft.com/office/drawing/2014/main" id="{B4B1599C-094B-F8F3-5A1B-547C33687B1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4778" y="1921731"/>
            <a:ext cx="8674444" cy="853439"/>
          </a:xfrm>
          <a:prstGeom prst="rect">
            <a:avLst/>
          </a:prstGeom>
          <a:ln>
            <a:noFill/>
          </a:ln>
          <a:effectLst>
            <a:outerShdw blurRad="292100" dist="139700" dir="2700000" algn="tl" rotWithShape="0">
              <a:srgbClr val="333333">
                <a:alpha val="65000"/>
              </a:srgbClr>
            </a:outerShdw>
          </a:effectLst>
        </p:spPr>
      </p:pic>
      <p:pic>
        <p:nvPicPr>
          <p:cNvPr id="6" name="Picture 5">
            <a:extLst>
              <a:ext uri="{FF2B5EF4-FFF2-40B4-BE49-F238E27FC236}">
                <a16:creationId xmlns:a16="http://schemas.microsoft.com/office/drawing/2014/main" id="{BD5945E5-8767-0F61-5B98-A3B6164543A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4778" y="3217384"/>
            <a:ext cx="8674444" cy="989770"/>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0957108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989A5-A444-961B-2B17-CD22242D02D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192653-D341-353F-5531-00974CDA9117}"/>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BipLang</a:t>
            </a:r>
            <a:endParaRPr lang="en-US" sz="2800" noProof="1"/>
          </a:p>
        </p:txBody>
      </p:sp>
      <p:sp>
        <p:nvSpPr>
          <p:cNvPr id="4" name="Slide Number Placeholder 3">
            <a:extLst>
              <a:ext uri="{FF2B5EF4-FFF2-40B4-BE49-F238E27FC236}">
                <a16:creationId xmlns:a16="http://schemas.microsoft.com/office/drawing/2014/main" id="{3FCB44FB-BE5D-5511-BC89-A8EA73F85DF9}"/>
              </a:ext>
            </a:extLst>
          </p:cNvPr>
          <p:cNvSpPr>
            <a:spLocks noGrp="1"/>
          </p:cNvSpPr>
          <p:nvPr>
            <p:ph type="sldNum" sz="quarter" idx="12"/>
          </p:nvPr>
        </p:nvSpPr>
        <p:spPr/>
        <p:txBody>
          <a:bodyPr/>
          <a:lstStyle/>
          <a:p>
            <a:fld id="{292A9FD8-515A-4698-9313-0AB17EE9632B}" type="slidenum">
              <a:rPr lang="en-US" noProof="1" dirty="0" smtClean="0"/>
              <a:t>12</a:t>
            </a:fld>
            <a:endParaRPr lang="en-US" noProof="1"/>
          </a:p>
        </p:txBody>
      </p:sp>
      <p:sp>
        <p:nvSpPr>
          <p:cNvPr id="10" name="TextBox 9">
            <a:extLst>
              <a:ext uri="{FF2B5EF4-FFF2-40B4-BE49-F238E27FC236}">
                <a16:creationId xmlns:a16="http://schemas.microsoft.com/office/drawing/2014/main" id="{F2F1BD0A-DCBD-E2A9-F8C5-E7384F63E377}"/>
              </a:ext>
            </a:extLst>
          </p:cNvPr>
          <p:cNvSpPr txBox="1"/>
          <p:nvPr/>
        </p:nvSpPr>
        <p:spPr>
          <a:xfrm>
            <a:off x="469557" y="1514965"/>
            <a:ext cx="7315200" cy="3477875"/>
          </a:xfrm>
          <a:prstGeom prst="rect">
            <a:avLst/>
          </a:prstGeom>
          <a:noFill/>
        </p:spPr>
        <p:txBody>
          <a:bodyPr wrap="square" rtlCol="0">
            <a:spAutoFit/>
          </a:bodyPr>
          <a:lstStyle/>
          <a:p>
            <a:pPr marL="342900" indent="-342900">
              <a:buFont typeface="Arial" panose="020B0604020202020204" pitchFamily="34" charset="0"/>
              <a:buChar char="•"/>
            </a:pPr>
            <a:r>
              <a:rPr lang="en-US" sz="2200" noProof="1">
                <a:solidFill>
                  <a:srgbClr val="002060"/>
                </a:solidFill>
              </a:rPr>
              <a:t>Simplifies writing biprograms and is based on the biprograms language used in WhyRel’s work</a:t>
            </a:r>
          </a:p>
          <a:p>
            <a:endParaRPr lang="en-US" sz="2200" noProof="1">
              <a:solidFill>
                <a:srgbClr val="002060"/>
              </a:solidFill>
            </a:endParaRPr>
          </a:p>
          <a:p>
            <a:pPr marL="342900" indent="-342900">
              <a:buFont typeface="Arial" panose="020B0604020202020204" pitchFamily="34" charset="0"/>
              <a:buChar char="•"/>
            </a:pPr>
            <a:r>
              <a:rPr lang="en-US" sz="2200" noProof="1">
                <a:solidFill>
                  <a:srgbClr val="002060"/>
                </a:solidFill>
              </a:rPr>
              <a:t>Designed to be as similar as possible to OCaml in terms of syntax and semantics</a:t>
            </a:r>
          </a:p>
          <a:p>
            <a:endParaRPr lang="en-US" sz="2200" noProof="1">
              <a:solidFill>
                <a:srgbClr val="002060"/>
              </a:solidFill>
            </a:endParaRPr>
          </a:p>
          <a:p>
            <a:pPr marL="342900" indent="-342900">
              <a:buFont typeface="Arial" panose="020B0604020202020204" pitchFamily="34" charset="0"/>
              <a:buChar char="•"/>
            </a:pPr>
            <a:r>
              <a:rPr lang="en-US" sz="2200" noProof="1">
                <a:solidFill>
                  <a:srgbClr val="002060"/>
                </a:solidFill>
              </a:rPr>
              <a:t>Some OCaml features are missing, but we add 3: </a:t>
            </a:r>
          </a:p>
          <a:p>
            <a:r>
              <a:rPr lang="en-US" sz="2200" noProof="1">
                <a:solidFill>
                  <a:srgbClr val="002060"/>
                </a:solidFill>
              </a:rPr>
              <a:t>	- Pipe: &lt;|&gt;</a:t>
            </a:r>
          </a:p>
          <a:p>
            <a:r>
              <a:rPr lang="en-US" sz="2200" noProof="1">
                <a:solidFill>
                  <a:srgbClr val="002060"/>
                </a:solidFill>
              </a:rPr>
              <a:t>	- Floors: |_ and _|</a:t>
            </a:r>
          </a:p>
          <a:p>
            <a:r>
              <a:rPr lang="en-US" sz="2200" noProof="1">
                <a:solidFill>
                  <a:srgbClr val="002060"/>
                </a:solidFill>
              </a:rPr>
              <a:t>	- Conditionally aligned loops</a:t>
            </a:r>
          </a:p>
        </p:txBody>
      </p:sp>
    </p:spTree>
    <p:extLst>
      <p:ext uri="{BB962C8B-B14F-4D97-AF65-F5344CB8AC3E}">
        <p14:creationId xmlns:p14="http://schemas.microsoft.com/office/powerpoint/2010/main" val="39096673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2E031-1460-8DA8-7CEE-523B15C710D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97D16C2-D32D-2BF1-240E-4854A85217A6}"/>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Motivating Example (1/2)</a:t>
            </a:r>
            <a:endParaRPr lang="en-US" sz="2800" noProof="1"/>
          </a:p>
        </p:txBody>
      </p:sp>
      <p:sp>
        <p:nvSpPr>
          <p:cNvPr id="4" name="Slide Number Placeholder 3">
            <a:extLst>
              <a:ext uri="{FF2B5EF4-FFF2-40B4-BE49-F238E27FC236}">
                <a16:creationId xmlns:a16="http://schemas.microsoft.com/office/drawing/2014/main" id="{7BF3391F-7F85-B32A-556F-401CCE30DD6E}"/>
              </a:ext>
            </a:extLst>
          </p:cNvPr>
          <p:cNvSpPr>
            <a:spLocks noGrp="1"/>
          </p:cNvSpPr>
          <p:nvPr>
            <p:ph type="sldNum" sz="quarter" idx="12"/>
          </p:nvPr>
        </p:nvSpPr>
        <p:spPr/>
        <p:txBody>
          <a:bodyPr/>
          <a:lstStyle/>
          <a:p>
            <a:fld id="{292A9FD8-515A-4698-9313-0AB17EE9632B}" type="slidenum">
              <a:rPr lang="en-US" noProof="1" dirty="0" smtClean="0"/>
              <a:t>13</a:t>
            </a:fld>
            <a:endParaRPr lang="en-US" noProof="1"/>
          </a:p>
        </p:txBody>
      </p:sp>
      <p:sp>
        <p:nvSpPr>
          <p:cNvPr id="10" name="TextBox 9">
            <a:extLst>
              <a:ext uri="{FF2B5EF4-FFF2-40B4-BE49-F238E27FC236}">
                <a16:creationId xmlns:a16="http://schemas.microsoft.com/office/drawing/2014/main" id="{37981B99-2721-B256-8957-0166F598BBAB}"/>
              </a:ext>
            </a:extLst>
          </p:cNvPr>
          <p:cNvSpPr txBox="1"/>
          <p:nvPr/>
        </p:nvSpPr>
        <p:spPr>
          <a:xfrm>
            <a:off x="469556" y="1671484"/>
            <a:ext cx="7315200" cy="1938992"/>
          </a:xfrm>
          <a:prstGeom prst="rect">
            <a:avLst/>
          </a:prstGeom>
          <a:noFill/>
        </p:spPr>
        <p:txBody>
          <a:bodyPr wrap="square" rtlCol="0">
            <a:spAutoFit/>
          </a:bodyPr>
          <a:lstStyle/>
          <a:p>
            <a:r>
              <a:rPr lang="en-US" sz="2000" noProof="1">
                <a:solidFill>
                  <a:srgbClr val="F3530B"/>
                </a:solidFill>
              </a:rPr>
              <a:t>let</a:t>
            </a:r>
            <a:r>
              <a:rPr lang="en-US" sz="2000" noProof="1">
                <a:solidFill>
                  <a:srgbClr val="002060"/>
                </a:solidFill>
              </a:rPr>
              <a:t> example (|_ x : </a:t>
            </a:r>
            <a:r>
              <a:rPr lang="en-US" sz="2000" noProof="1">
                <a:solidFill>
                  <a:srgbClr val="F3530B"/>
                </a:solidFill>
              </a:rPr>
              <a:t>int</a:t>
            </a:r>
            <a:r>
              <a:rPr lang="en-US" sz="2000" noProof="1">
                <a:solidFill>
                  <a:srgbClr val="002060"/>
                </a:solidFill>
              </a:rPr>
              <a:t> _|) : |_ </a:t>
            </a:r>
            <a:r>
              <a:rPr lang="en-US" sz="2000" noProof="1">
                <a:solidFill>
                  <a:srgbClr val="F3530B"/>
                </a:solidFill>
              </a:rPr>
              <a:t>int</a:t>
            </a:r>
            <a:r>
              <a:rPr lang="en-US" sz="2000" noProof="1">
                <a:solidFill>
                  <a:srgbClr val="002060"/>
                </a:solidFill>
              </a:rPr>
              <a:t> _| = </a:t>
            </a:r>
            <a:r>
              <a:rPr lang="en-US" sz="2000" noProof="1">
                <a:solidFill>
                  <a:srgbClr val="F3530B"/>
                </a:solidFill>
              </a:rPr>
              <a:t>begin</a:t>
            </a:r>
          </a:p>
          <a:p>
            <a:r>
              <a:rPr lang="en-US" sz="2000" noProof="1">
                <a:solidFill>
                  <a:srgbClr val="F3530B"/>
                </a:solidFill>
              </a:rPr>
              <a:t>    let</a:t>
            </a:r>
            <a:r>
              <a:rPr lang="en-US" sz="2000" noProof="1">
                <a:solidFill>
                  <a:srgbClr val="002060"/>
                </a:solidFill>
              </a:rPr>
              <a:t> y = x + 2 &lt;|&gt; x * 2 </a:t>
            </a:r>
            <a:r>
              <a:rPr lang="en-US" sz="2000" noProof="1">
                <a:solidFill>
                  <a:srgbClr val="F3530B"/>
                </a:solidFill>
              </a:rPr>
              <a:t>in</a:t>
            </a:r>
          </a:p>
          <a:p>
            <a:r>
              <a:rPr lang="en-US" sz="2000" noProof="1">
                <a:solidFill>
                  <a:srgbClr val="002060"/>
                </a:solidFill>
              </a:rPr>
              <a:t>    |_ y _|</a:t>
            </a:r>
          </a:p>
          <a:p>
            <a:r>
              <a:rPr lang="en-US" sz="2000" noProof="1">
                <a:solidFill>
                  <a:srgbClr val="F3530B"/>
                </a:solidFill>
              </a:rPr>
              <a:t>end</a:t>
            </a:r>
          </a:p>
          <a:p>
            <a:r>
              <a:rPr lang="en-US" sz="2000" noProof="1">
                <a:solidFill>
                  <a:srgbClr val="002060"/>
                </a:solidFill>
              </a:rPr>
              <a:t>(*@ </a:t>
            </a:r>
            <a:r>
              <a:rPr lang="en-US" sz="2000" noProof="1">
                <a:solidFill>
                  <a:srgbClr val="F3530B"/>
                </a:solidFill>
              </a:rPr>
              <a:t>requires</a:t>
            </a:r>
            <a:r>
              <a:rPr lang="en-US" sz="2000" noProof="1">
                <a:solidFill>
                  <a:srgbClr val="002060"/>
                </a:solidFill>
              </a:rPr>
              <a:t>  x_l = 2 &amp;&amp; x_l = x_r</a:t>
            </a:r>
          </a:p>
          <a:p>
            <a:r>
              <a:rPr lang="en-US" sz="2000" noProof="1">
                <a:solidFill>
                  <a:srgbClr val="002060"/>
                </a:solidFill>
              </a:rPr>
              <a:t>         </a:t>
            </a:r>
            <a:r>
              <a:rPr lang="en-US" sz="2000" noProof="1">
                <a:solidFill>
                  <a:srgbClr val="F3530B"/>
                </a:solidFill>
              </a:rPr>
              <a:t>ensures</a:t>
            </a:r>
            <a:r>
              <a:rPr lang="en-US" sz="2000" noProof="1">
                <a:solidFill>
                  <a:srgbClr val="002060"/>
                </a:solidFill>
              </a:rPr>
              <a:t>  match result with (l_res, r_res) -&gt; l_res = r_res *)</a:t>
            </a:r>
          </a:p>
        </p:txBody>
      </p:sp>
      <p:sp>
        <p:nvSpPr>
          <p:cNvPr id="3" name="TextBox 2">
            <a:extLst>
              <a:ext uri="{FF2B5EF4-FFF2-40B4-BE49-F238E27FC236}">
                <a16:creationId xmlns:a16="http://schemas.microsoft.com/office/drawing/2014/main" id="{C597DA71-1273-3210-1C7F-FE0FBEECE553}"/>
              </a:ext>
            </a:extLst>
          </p:cNvPr>
          <p:cNvSpPr txBox="1"/>
          <p:nvPr/>
        </p:nvSpPr>
        <p:spPr>
          <a:xfrm>
            <a:off x="7526361" y="1671484"/>
            <a:ext cx="988989" cy="369332"/>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pt-PT" i="1" dirty="0" err="1">
                <a:solidFill>
                  <a:srgbClr val="002060"/>
                </a:solidFill>
              </a:rPr>
              <a:t>BipLang</a:t>
            </a:r>
            <a:endParaRPr lang="en-US" sz="2000" i="1" dirty="0">
              <a:solidFill>
                <a:srgbClr val="002060"/>
              </a:solidFill>
            </a:endParaRPr>
          </a:p>
        </p:txBody>
      </p:sp>
    </p:spTree>
    <p:extLst>
      <p:ext uri="{BB962C8B-B14F-4D97-AF65-F5344CB8AC3E}">
        <p14:creationId xmlns:p14="http://schemas.microsoft.com/office/powerpoint/2010/main" val="5639603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E6108-2CE4-B9FC-195B-AA83FBAA1F6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DAED226-F884-3835-AAD1-36568A26FD4F}"/>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Motivating Example (2/2)</a:t>
            </a:r>
            <a:endParaRPr lang="en-US" sz="2800" noProof="1"/>
          </a:p>
        </p:txBody>
      </p:sp>
      <p:sp>
        <p:nvSpPr>
          <p:cNvPr id="4" name="Slide Number Placeholder 3">
            <a:extLst>
              <a:ext uri="{FF2B5EF4-FFF2-40B4-BE49-F238E27FC236}">
                <a16:creationId xmlns:a16="http://schemas.microsoft.com/office/drawing/2014/main" id="{66062D5B-842C-59BF-1EC7-E977C17D70D4}"/>
              </a:ext>
            </a:extLst>
          </p:cNvPr>
          <p:cNvSpPr>
            <a:spLocks noGrp="1"/>
          </p:cNvSpPr>
          <p:nvPr>
            <p:ph type="sldNum" sz="quarter" idx="12"/>
          </p:nvPr>
        </p:nvSpPr>
        <p:spPr/>
        <p:txBody>
          <a:bodyPr/>
          <a:lstStyle/>
          <a:p>
            <a:fld id="{292A9FD8-515A-4698-9313-0AB17EE9632B}" type="slidenum">
              <a:rPr lang="en-US" noProof="1" dirty="0" smtClean="0"/>
              <a:t>14</a:t>
            </a:fld>
            <a:endParaRPr lang="en-US" noProof="1"/>
          </a:p>
        </p:txBody>
      </p:sp>
      <p:sp>
        <p:nvSpPr>
          <p:cNvPr id="10" name="TextBox 9">
            <a:extLst>
              <a:ext uri="{FF2B5EF4-FFF2-40B4-BE49-F238E27FC236}">
                <a16:creationId xmlns:a16="http://schemas.microsoft.com/office/drawing/2014/main" id="{7AF016E8-FC76-1F52-D35C-AAAEBB274FFC}"/>
              </a:ext>
            </a:extLst>
          </p:cNvPr>
          <p:cNvSpPr txBox="1"/>
          <p:nvPr/>
        </p:nvSpPr>
        <p:spPr>
          <a:xfrm>
            <a:off x="469556" y="1655982"/>
            <a:ext cx="7677665" cy="2246769"/>
          </a:xfrm>
          <a:prstGeom prst="rect">
            <a:avLst/>
          </a:prstGeom>
          <a:noFill/>
        </p:spPr>
        <p:txBody>
          <a:bodyPr wrap="square" rtlCol="0">
            <a:spAutoFit/>
          </a:bodyPr>
          <a:lstStyle/>
          <a:p>
            <a:r>
              <a:rPr lang="en-US" sz="2000" noProof="1">
                <a:solidFill>
                  <a:srgbClr val="F3530B"/>
                </a:solidFill>
              </a:rPr>
              <a:t>let</a:t>
            </a:r>
            <a:r>
              <a:rPr lang="en-US" sz="2000" noProof="1">
                <a:solidFill>
                  <a:srgbClr val="002060"/>
                </a:solidFill>
              </a:rPr>
              <a:t> example (x_l : </a:t>
            </a:r>
            <a:r>
              <a:rPr lang="en-US" sz="2000" noProof="1">
                <a:solidFill>
                  <a:srgbClr val="F3530B"/>
                </a:solidFill>
              </a:rPr>
              <a:t>int</a:t>
            </a:r>
            <a:r>
              <a:rPr lang="en-US" sz="2000" noProof="1">
                <a:solidFill>
                  <a:srgbClr val="002060"/>
                </a:solidFill>
              </a:rPr>
              <a:t>) (x_r : </a:t>
            </a:r>
            <a:r>
              <a:rPr lang="en-US" sz="2000" noProof="1">
                <a:solidFill>
                  <a:srgbClr val="F3530B"/>
                </a:solidFill>
              </a:rPr>
              <a:t>int</a:t>
            </a:r>
            <a:r>
              <a:rPr lang="en-US" sz="2000" noProof="1">
                <a:solidFill>
                  <a:srgbClr val="002060"/>
                </a:solidFill>
              </a:rPr>
              <a:t>) : </a:t>
            </a:r>
            <a:r>
              <a:rPr lang="en-US" sz="2000" noProof="1">
                <a:solidFill>
                  <a:srgbClr val="F3530B"/>
                </a:solidFill>
              </a:rPr>
              <a:t>int</a:t>
            </a:r>
            <a:r>
              <a:rPr lang="en-US" sz="2000" noProof="1">
                <a:solidFill>
                  <a:srgbClr val="002060"/>
                </a:solidFill>
              </a:rPr>
              <a:t> * </a:t>
            </a:r>
            <a:r>
              <a:rPr lang="en-US" sz="2000" noProof="1">
                <a:solidFill>
                  <a:srgbClr val="F3530B"/>
                </a:solidFill>
              </a:rPr>
              <a:t>int</a:t>
            </a:r>
            <a:r>
              <a:rPr lang="en-US" sz="2000" noProof="1">
                <a:solidFill>
                  <a:srgbClr val="002060"/>
                </a:solidFill>
              </a:rPr>
              <a:t> =</a:t>
            </a:r>
          </a:p>
          <a:p>
            <a:r>
              <a:rPr lang="en-US" sz="2000" noProof="1">
                <a:solidFill>
                  <a:srgbClr val="002060"/>
                </a:solidFill>
              </a:rPr>
              <a:t>    </a:t>
            </a:r>
            <a:r>
              <a:rPr lang="en-US" sz="2000" noProof="1">
                <a:solidFill>
                  <a:srgbClr val="F3530B"/>
                </a:solidFill>
              </a:rPr>
              <a:t>let</a:t>
            </a:r>
            <a:r>
              <a:rPr lang="en-US" sz="2000" noProof="1">
                <a:solidFill>
                  <a:srgbClr val="002060"/>
                </a:solidFill>
              </a:rPr>
              <a:t> y_l = (x_l + 2) </a:t>
            </a:r>
            <a:r>
              <a:rPr lang="en-US" sz="2000" noProof="1">
                <a:solidFill>
                  <a:srgbClr val="F3530B"/>
                </a:solidFill>
              </a:rPr>
              <a:t>in</a:t>
            </a:r>
          </a:p>
          <a:p>
            <a:r>
              <a:rPr lang="en-US" sz="2000" noProof="1">
                <a:solidFill>
                  <a:srgbClr val="002060"/>
                </a:solidFill>
              </a:rPr>
              <a:t>    </a:t>
            </a:r>
            <a:r>
              <a:rPr lang="en-US" sz="2000" noProof="1">
                <a:solidFill>
                  <a:srgbClr val="F3530B"/>
                </a:solidFill>
              </a:rPr>
              <a:t>let</a:t>
            </a:r>
            <a:r>
              <a:rPr lang="en-US" sz="2000" noProof="1">
                <a:solidFill>
                  <a:srgbClr val="002060"/>
                </a:solidFill>
              </a:rPr>
              <a:t> y_r = (x_r * 2) </a:t>
            </a:r>
            <a:r>
              <a:rPr lang="en-US" sz="2000" noProof="1">
                <a:solidFill>
                  <a:srgbClr val="F3530B"/>
                </a:solidFill>
              </a:rPr>
              <a:t>in</a:t>
            </a:r>
          </a:p>
          <a:p>
            <a:r>
              <a:rPr lang="en-US" sz="2000" noProof="1">
                <a:solidFill>
                  <a:srgbClr val="002060"/>
                </a:solidFill>
              </a:rPr>
              <a:t>    (y_l, y_r)</a:t>
            </a:r>
          </a:p>
          <a:p>
            <a:r>
              <a:rPr lang="en-US" sz="2000" noProof="1">
                <a:solidFill>
                  <a:srgbClr val="002060"/>
                </a:solidFill>
              </a:rPr>
              <a:t>(*@ </a:t>
            </a:r>
            <a:r>
              <a:rPr lang="en-US" sz="2000" noProof="1">
                <a:solidFill>
                  <a:srgbClr val="F3530B"/>
                </a:solidFill>
              </a:rPr>
              <a:t>requires </a:t>
            </a:r>
            <a:r>
              <a:rPr lang="en-US" sz="2000" noProof="1">
                <a:solidFill>
                  <a:srgbClr val="002060"/>
                </a:solidFill>
              </a:rPr>
              <a:t> x_l = 2 &amp;&amp; x_l = x_r</a:t>
            </a:r>
          </a:p>
          <a:p>
            <a:r>
              <a:rPr lang="en-US" sz="2000" noProof="1">
                <a:solidFill>
                  <a:srgbClr val="002060"/>
                </a:solidFill>
              </a:rPr>
              <a:t>    	</a:t>
            </a:r>
            <a:r>
              <a:rPr lang="en-US" sz="2000" noProof="1">
                <a:solidFill>
                  <a:srgbClr val="F3530B"/>
                </a:solidFill>
              </a:rPr>
              <a:t>ensures</a:t>
            </a:r>
            <a:r>
              <a:rPr lang="en-US" sz="2000" noProof="1">
                <a:solidFill>
                  <a:srgbClr val="002060"/>
                </a:solidFill>
              </a:rPr>
              <a:t>  match result with (l_res, r_res) -&gt; l_res = r_res *)</a:t>
            </a:r>
          </a:p>
          <a:p>
            <a:endParaRPr lang="en-US" sz="2000" noProof="1">
              <a:solidFill>
                <a:srgbClr val="002060"/>
              </a:solidFill>
            </a:endParaRPr>
          </a:p>
        </p:txBody>
      </p:sp>
      <p:sp>
        <p:nvSpPr>
          <p:cNvPr id="3" name="TextBox 2">
            <a:extLst>
              <a:ext uri="{FF2B5EF4-FFF2-40B4-BE49-F238E27FC236}">
                <a16:creationId xmlns:a16="http://schemas.microsoft.com/office/drawing/2014/main" id="{96E5A0C3-AB78-37A8-0DBE-161314C34014}"/>
              </a:ext>
            </a:extLst>
          </p:cNvPr>
          <p:cNvSpPr txBox="1"/>
          <p:nvPr/>
        </p:nvSpPr>
        <p:spPr>
          <a:xfrm>
            <a:off x="469556" y="3977177"/>
            <a:ext cx="4291559" cy="646331"/>
          </a:xfrm>
          <a:prstGeom prst="rect">
            <a:avLst/>
          </a:prstGeom>
          <a:noFill/>
        </p:spPr>
        <p:txBody>
          <a:bodyPr wrap="none" rtlCol="0">
            <a:spAutoFit/>
          </a:bodyPr>
          <a:lstStyle/>
          <a:p>
            <a:r>
              <a:rPr lang="pt-PT" dirty="0">
                <a:solidFill>
                  <a:srgbClr val="F3530B"/>
                </a:solidFill>
              </a:rPr>
              <a:t>Input: </a:t>
            </a:r>
            <a:r>
              <a:rPr lang="pt-PT" dirty="0" err="1">
                <a:solidFill>
                  <a:srgbClr val="F3530B"/>
                </a:solidFill>
              </a:rPr>
              <a:t>let</a:t>
            </a:r>
            <a:r>
              <a:rPr lang="pt-PT" dirty="0">
                <a:solidFill>
                  <a:srgbClr val="F3530B"/>
                </a:solidFill>
              </a:rPr>
              <a:t> y = x + 2 &lt;|&gt; x * 2 in </a:t>
            </a:r>
          </a:p>
          <a:p>
            <a:r>
              <a:rPr lang="pt-PT" dirty="0" err="1">
                <a:solidFill>
                  <a:schemeClr val="accent3">
                    <a:lumMod val="50000"/>
                  </a:schemeClr>
                </a:solidFill>
              </a:rPr>
              <a:t>Result</a:t>
            </a:r>
            <a:r>
              <a:rPr lang="pt-PT" dirty="0">
                <a:solidFill>
                  <a:schemeClr val="accent3">
                    <a:lumMod val="50000"/>
                  </a:schemeClr>
                </a:solidFill>
              </a:rPr>
              <a:t>: </a:t>
            </a:r>
            <a:r>
              <a:rPr lang="pt-PT" dirty="0" err="1">
                <a:solidFill>
                  <a:schemeClr val="accent3">
                    <a:lumMod val="50000"/>
                  </a:schemeClr>
                </a:solidFill>
              </a:rPr>
              <a:t>let</a:t>
            </a:r>
            <a:r>
              <a:rPr lang="pt-PT" dirty="0">
                <a:solidFill>
                  <a:schemeClr val="accent3">
                    <a:lumMod val="50000"/>
                  </a:schemeClr>
                </a:solidFill>
              </a:rPr>
              <a:t> </a:t>
            </a:r>
            <a:r>
              <a:rPr lang="pt-PT" dirty="0" err="1">
                <a:solidFill>
                  <a:schemeClr val="accent3">
                    <a:lumMod val="50000"/>
                  </a:schemeClr>
                </a:solidFill>
              </a:rPr>
              <a:t>y_l</a:t>
            </a:r>
            <a:r>
              <a:rPr lang="pt-PT" dirty="0">
                <a:solidFill>
                  <a:schemeClr val="accent3">
                    <a:lumMod val="50000"/>
                  </a:schemeClr>
                </a:solidFill>
              </a:rPr>
              <a:t> = </a:t>
            </a:r>
            <a:r>
              <a:rPr lang="pt-PT" dirty="0" err="1">
                <a:solidFill>
                  <a:schemeClr val="accent3">
                    <a:lumMod val="50000"/>
                  </a:schemeClr>
                </a:solidFill>
              </a:rPr>
              <a:t>x_l</a:t>
            </a:r>
            <a:r>
              <a:rPr lang="pt-PT" dirty="0">
                <a:solidFill>
                  <a:schemeClr val="accent3">
                    <a:lumMod val="50000"/>
                  </a:schemeClr>
                </a:solidFill>
              </a:rPr>
              <a:t> + 2 in </a:t>
            </a:r>
            <a:r>
              <a:rPr lang="pt-PT" dirty="0" err="1">
                <a:solidFill>
                  <a:schemeClr val="accent3">
                    <a:lumMod val="50000"/>
                  </a:schemeClr>
                </a:solidFill>
              </a:rPr>
              <a:t>let</a:t>
            </a:r>
            <a:r>
              <a:rPr lang="pt-PT" dirty="0">
                <a:solidFill>
                  <a:schemeClr val="accent3">
                    <a:lumMod val="50000"/>
                  </a:schemeClr>
                </a:solidFill>
              </a:rPr>
              <a:t> </a:t>
            </a:r>
            <a:r>
              <a:rPr lang="pt-PT" dirty="0" err="1">
                <a:solidFill>
                  <a:schemeClr val="accent3">
                    <a:lumMod val="50000"/>
                  </a:schemeClr>
                </a:solidFill>
              </a:rPr>
              <a:t>y_r</a:t>
            </a:r>
            <a:r>
              <a:rPr lang="pt-PT" dirty="0">
                <a:solidFill>
                  <a:schemeClr val="accent3">
                    <a:lumMod val="50000"/>
                  </a:schemeClr>
                </a:solidFill>
              </a:rPr>
              <a:t> = </a:t>
            </a:r>
            <a:r>
              <a:rPr lang="pt-PT" dirty="0" err="1">
                <a:solidFill>
                  <a:schemeClr val="accent3">
                    <a:lumMod val="50000"/>
                  </a:schemeClr>
                </a:solidFill>
              </a:rPr>
              <a:t>x_r</a:t>
            </a:r>
            <a:r>
              <a:rPr lang="pt-PT" dirty="0">
                <a:solidFill>
                  <a:schemeClr val="accent3">
                    <a:lumMod val="50000"/>
                  </a:schemeClr>
                </a:solidFill>
              </a:rPr>
              <a:t> * 2 in</a:t>
            </a:r>
            <a:endParaRPr lang="en-US" dirty="0">
              <a:solidFill>
                <a:schemeClr val="accent3">
                  <a:lumMod val="50000"/>
                </a:schemeClr>
              </a:solidFill>
            </a:endParaRPr>
          </a:p>
        </p:txBody>
      </p:sp>
      <p:sp>
        <p:nvSpPr>
          <p:cNvPr id="6" name="TextBox 5">
            <a:extLst>
              <a:ext uri="{FF2B5EF4-FFF2-40B4-BE49-F238E27FC236}">
                <a16:creationId xmlns:a16="http://schemas.microsoft.com/office/drawing/2014/main" id="{A58E20D3-458B-9C08-721B-B4C9926735F9}"/>
              </a:ext>
            </a:extLst>
          </p:cNvPr>
          <p:cNvSpPr txBox="1"/>
          <p:nvPr/>
        </p:nvSpPr>
        <p:spPr>
          <a:xfrm>
            <a:off x="5381506" y="3977176"/>
            <a:ext cx="1782860" cy="646331"/>
          </a:xfrm>
          <a:prstGeom prst="rect">
            <a:avLst/>
          </a:prstGeom>
          <a:noFill/>
        </p:spPr>
        <p:txBody>
          <a:bodyPr wrap="none" rtlCol="0">
            <a:spAutoFit/>
          </a:bodyPr>
          <a:lstStyle/>
          <a:p>
            <a:r>
              <a:rPr lang="pt-PT" dirty="0">
                <a:solidFill>
                  <a:srgbClr val="F3530B"/>
                </a:solidFill>
              </a:rPr>
              <a:t>Input: |_ y _|</a:t>
            </a:r>
          </a:p>
          <a:p>
            <a:r>
              <a:rPr lang="pt-PT" dirty="0" err="1">
                <a:solidFill>
                  <a:schemeClr val="accent3">
                    <a:lumMod val="50000"/>
                  </a:schemeClr>
                </a:solidFill>
              </a:rPr>
              <a:t>Result</a:t>
            </a:r>
            <a:r>
              <a:rPr lang="pt-PT" dirty="0">
                <a:solidFill>
                  <a:schemeClr val="accent3">
                    <a:lumMod val="50000"/>
                  </a:schemeClr>
                </a:solidFill>
              </a:rPr>
              <a:t>: (</a:t>
            </a:r>
            <a:r>
              <a:rPr lang="pt-PT" dirty="0" err="1">
                <a:solidFill>
                  <a:schemeClr val="accent3">
                    <a:lumMod val="50000"/>
                  </a:schemeClr>
                </a:solidFill>
              </a:rPr>
              <a:t>y_l</a:t>
            </a:r>
            <a:r>
              <a:rPr lang="pt-PT" dirty="0">
                <a:solidFill>
                  <a:schemeClr val="accent3">
                    <a:lumMod val="50000"/>
                  </a:schemeClr>
                </a:solidFill>
              </a:rPr>
              <a:t>, </a:t>
            </a:r>
            <a:r>
              <a:rPr lang="pt-PT" dirty="0" err="1">
                <a:solidFill>
                  <a:schemeClr val="accent3">
                    <a:lumMod val="50000"/>
                  </a:schemeClr>
                </a:solidFill>
              </a:rPr>
              <a:t>y_r</a:t>
            </a:r>
            <a:r>
              <a:rPr lang="pt-PT" dirty="0">
                <a:solidFill>
                  <a:schemeClr val="accent3">
                    <a:lumMod val="50000"/>
                  </a:schemeClr>
                </a:solidFill>
              </a:rPr>
              <a:t>)</a:t>
            </a:r>
            <a:endParaRPr lang="en-US" dirty="0">
              <a:solidFill>
                <a:schemeClr val="accent3">
                  <a:lumMod val="50000"/>
                </a:schemeClr>
              </a:solidFill>
            </a:endParaRPr>
          </a:p>
        </p:txBody>
      </p:sp>
      <p:sp>
        <p:nvSpPr>
          <p:cNvPr id="8" name="TextBox 7">
            <a:extLst>
              <a:ext uri="{FF2B5EF4-FFF2-40B4-BE49-F238E27FC236}">
                <a16:creationId xmlns:a16="http://schemas.microsoft.com/office/drawing/2014/main" id="{D2A91A72-6BB0-119F-C9A9-00CA1375CDD9}"/>
              </a:ext>
            </a:extLst>
          </p:cNvPr>
          <p:cNvSpPr txBox="1"/>
          <p:nvPr/>
        </p:nvSpPr>
        <p:spPr>
          <a:xfrm>
            <a:off x="7622157" y="1655982"/>
            <a:ext cx="893193" cy="369332"/>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pt-PT" i="1" dirty="0" err="1">
                <a:solidFill>
                  <a:srgbClr val="002060"/>
                </a:solidFill>
              </a:rPr>
              <a:t>OCaml</a:t>
            </a:r>
            <a:endParaRPr lang="en-US" sz="2000" i="1" dirty="0">
              <a:solidFill>
                <a:srgbClr val="002060"/>
              </a:solidFill>
            </a:endParaRPr>
          </a:p>
        </p:txBody>
      </p:sp>
    </p:spTree>
    <p:extLst>
      <p:ext uri="{BB962C8B-B14F-4D97-AF65-F5344CB8AC3E}">
        <p14:creationId xmlns:p14="http://schemas.microsoft.com/office/powerpoint/2010/main" val="37522095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3BAF1-5FD1-166B-7045-0EE556BBB6F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9DB56FE-145E-B781-5DD4-F5F6270AE1EE}"/>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bip2ml Visualizer</a:t>
            </a:r>
            <a:endParaRPr lang="en-US" sz="2800" noProof="1"/>
          </a:p>
        </p:txBody>
      </p:sp>
      <p:sp>
        <p:nvSpPr>
          <p:cNvPr id="4" name="Slide Number Placeholder 3">
            <a:extLst>
              <a:ext uri="{FF2B5EF4-FFF2-40B4-BE49-F238E27FC236}">
                <a16:creationId xmlns:a16="http://schemas.microsoft.com/office/drawing/2014/main" id="{3D0573BA-FFA0-1BB5-B186-E9DBF90850DB}"/>
              </a:ext>
            </a:extLst>
          </p:cNvPr>
          <p:cNvSpPr>
            <a:spLocks noGrp="1"/>
          </p:cNvSpPr>
          <p:nvPr>
            <p:ph type="sldNum" sz="quarter" idx="12"/>
          </p:nvPr>
        </p:nvSpPr>
        <p:spPr/>
        <p:txBody>
          <a:bodyPr/>
          <a:lstStyle/>
          <a:p>
            <a:fld id="{292A9FD8-515A-4698-9313-0AB17EE9632B}" type="slidenum">
              <a:rPr lang="en-US" noProof="1" dirty="0" smtClean="0"/>
              <a:t>15</a:t>
            </a:fld>
            <a:endParaRPr lang="en-US" noProof="1"/>
          </a:p>
        </p:txBody>
      </p:sp>
      <p:sp>
        <p:nvSpPr>
          <p:cNvPr id="10" name="TextBox 9">
            <a:extLst>
              <a:ext uri="{FF2B5EF4-FFF2-40B4-BE49-F238E27FC236}">
                <a16:creationId xmlns:a16="http://schemas.microsoft.com/office/drawing/2014/main" id="{CA742195-A529-A857-26D9-2279AE52A266}"/>
              </a:ext>
            </a:extLst>
          </p:cNvPr>
          <p:cNvSpPr txBox="1"/>
          <p:nvPr/>
        </p:nvSpPr>
        <p:spPr>
          <a:xfrm>
            <a:off x="469556" y="1984521"/>
            <a:ext cx="6845643" cy="1938992"/>
          </a:xfrm>
          <a:prstGeom prst="rect">
            <a:avLst/>
          </a:prstGeom>
          <a:noFill/>
        </p:spPr>
        <p:txBody>
          <a:bodyPr wrap="square" rtlCol="0">
            <a:spAutoFit/>
          </a:bodyPr>
          <a:lstStyle/>
          <a:p>
            <a:pPr marL="342900" indent="-342900">
              <a:buFont typeface="Arial" panose="020B0604020202020204" pitchFamily="34" charset="0"/>
              <a:buChar char="•"/>
            </a:pPr>
            <a:r>
              <a:rPr lang="en-US" sz="2400" noProof="1">
                <a:solidFill>
                  <a:srgbClr val="002060"/>
                </a:solidFill>
              </a:rPr>
              <a:t>Allows using bip2ml in a website through a client-server dynamic (local only for now)</a:t>
            </a:r>
          </a:p>
          <a:p>
            <a:endParaRPr lang="en-US" sz="2400" noProof="1">
              <a:solidFill>
                <a:srgbClr val="002060"/>
              </a:solidFill>
            </a:endParaRPr>
          </a:p>
          <a:p>
            <a:pPr marL="342900" indent="-342900">
              <a:buFont typeface="Arial" panose="020B0604020202020204" pitchFamily="34" charset="0"/>
              <a:buChar char="•"/>
            </a:pPr>
            <a:r>
              <a:rPr lang="en-US" sz="2400" noProof="1">
                <a:solidFill>
                  <a:srgbClr val="002060"/>
                </a:solidFill>
              </a:rPr>
              <a:t>Enables visualization of BipLang and OCaml ASTs, as well as simplifying their comparison</a:t>
            </a:r>
          </a:p>
        </p:txBody>
      </p:sp>
    </p:spTree>
    <p:extLst>
      <p:ext uri="{BB962C8B-B14F-4D97-AF65-F5344CB8AC3E}">
        <p14:creationId xmlns:p14="http://schemas.microsoft.com/office/powerpoint/2010/main" val="4413161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FF67E0-3A69-CABE-9E0A-9F587DEABA2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B3BB568-520D-6683-04BA-FA626968DD3E}"/>
              </a:ext>
            </a:extLst>
          </p:cNvPr>
          <p:cNvSpPr txBox="1"/>
          <p:nvPr/>
        </p:nvSpPr>
        <p:spPr>
          <a:xfrm>
            <a:off x="861240" y="2145439"/>
            <a:ext cx="7421519" cy="830997"/>
          </a:xfrm>
          <a:prstGeom prst="rect">
            <a:avLst/>
          </a:prstGeom>
          <a:noFill/>
        </p:spPr>
        <p:txBody>
          <a:bodyPr wrap="square" rtlCol="0">
            <a:spAutoFit/>
          </a:bodyPr>
          <a:lstStyle/>
          <a:p>
            <a:pPr marL="685800" indent="-685800" algn="ctr">
              <a:buFont typeface="Wingdings" panose="05000000000000000000" pitchFamily="2" charset="2"/>
              <a:buChar char="Ø"/>
            </a:pPr>
            <a:r>
              <a:rPr lang="en-US" sz="4800" noProof="1">
                <a:solidFill>
                  <a:srgbClr val="002060"/>
                </a:solidFill>
              </a:rPr>
              <a:t>bip2ml Visualizer Demo </a:t>
            </a:r>
            <a:endParaRPr lang="en-US" sz="4800" noProof="1"/>
          </a:p>
        </p:txBody>
      </p:sp>
      <p:sp>
        <p:nvSpPr>
          <p:cNvPr id="3" name="Slide Number Placeholder 2">
            <a:extLst>
              <a:ext uri="{FF2B5EF4-FFF2-40B4-BE49-F238E27FC236}">
                <a16:creationId xmlns:a16="http://schemas.microsoft.com/office/drawing/2014/main" id="{5A1877AE-6DB9-1A26-C0BA-3E09B261676D}"/>
              </a:ext>
            </a:extLst>
          </p:cNvPr>
          <p:cNvSpPr>
            <a:spLocks noGrp="1"/>
          </p:cNvSpPr>
          <p:nvPr>
            <p:ph type="sldNum" sz="quarter" idx="12"/>
          </p:nvPr>
        </p:nvSpPr>
        <p:spPr/>
        <p:txBody>
          <a:bodyPr/>
          <a:lstStyle/>
          <a:p>
            <a:fld id="{292A9FD8-515A-4698-9313-0AB17EE9632B}" type="slidenum">
              <a:rPr lang="en-US" noProof="1" dirty="0" smtClean="0"/>
              <a:t>16</a:t>
            </a:fld>
            <a:endParaRPr lang="en-US" noProof="1"/>
          </a:p>
        </p:txBody>
      </p:sp>
    </p:spTree>
    <p:extLst>
      <p:ext uri="{BB962C8B-B14F-4D97-AF65-F5344CB8AC3E}">
        <p14:creationId xmlns:p14="http://schemas.microsoft.com/office/powerpoint/2010/main" val="31407118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5B3A4-7FE9-F5E7-C57A-435740514E6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D5BAA36-B89C-45E5-9557-7B125D2E9E47}"/>
              </a:ext>
            </a:extLst>
          </p:cNvPr>
          <p:cNvSpPr txBox="1"/>
          <p:nvPr/>
        </p:nvSpPr>
        <p:spPr>
          <a:xfrm>
            <a:off x="2397211" y="2026503"/>
            <a:ext cx="4349577" cy="830997"/>
          </a:xfrm>
          <a:prstGeom prst="rect">
            <a:avLst/>
          </a:prstGeom>
          <a:noFill/>
        </p:spPr>
        <p:txBody>
          <a:bodyPr wrap="square" rtlCol="0">
            <a:spAutoFit/>
          </a:bodyPr>
          <a:lstStyle/>
          <a:p>
            <a:pPr algn="ctr"/>
            <a:r>
              <a:rPr lang="en-US" sz="4800" noProof="1">
                <a:solidFill>
                  <a:srgbClr val="002060"/>
                </a:solidFill>
              </a:rPr>
              <a:t>Case Studies</a:t>
            </a:r>
            <a:endParaRPr lang="en-US" sz="4800" noProof="1"/>
          </a:p>
        </p:txBody>
      </p:sp>
      <p:sp>
        <p:nvSpPr>
          <p:cNvPr id="3" name="Slide Number Placeholder 2">
            <a:extLst>
              <a:ext uri="{FF2B5EF4-FFF2-40B4-BE49-F238E27FC236}">
                <a16:creationId xmlns:a16="http://schemas.microsoft.com/office/drawing/2014/main" id="{B1123094-7D5B-73D6-B454-6FDA27B188FB}"/>
              </a:ext>
            </a:extLst>
          </p:cNvPr>
          <p:cNvSpPr>
            <a:spLocks noGrp="1"/>
          </p:cNvSpPr>
          <p:nvPr>
            <p:ph type="sldNum" sz="quarter" idx="12"/>
          </p:nvPr>
        </p:nvSpPr>
        <p:spPr/>
        <p:txBody>
          <a:bodyPr/>
          <a:lstStyle/>
          <a:p>
            <a:fld id="{292A9FD8-515A-4698-9313-0AB17EE9632B}" type="slidenum">
              <a:rPr lang="en-US" noProof="1" dirty="0" smtClean="0"/>
              <a:t>17</a:t>
            </a:fld>
            <a:endParaRPr lang="en-US" noProof="1"/>
          </a:p>
        </p:txBody>
      </p:sp>
    </p:spTree>
    <p:extLst>
      <p:ext uri="{BB962C8B-B14F-4D97-AF65-F5344CB8AC3E}">
        <p14:creationId xmlns:p14="http://schemas.microsoft.com/office/powerpoint/2010/main" val="37681972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DB641-193F-38C8-53D8-87AE74B902E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A6CD398-4FE2-78BB-20AC-437120CB1218}"/>
              </a:ext>
            </a:extLst>
          </p:cNvPr>
          <p:cNvSpPr txBox="1"/>
          <p:nvPr/>
        </p:nvSpPr>
        <p:spPr>
          <a:xfrm>
            <a:off x="469556" y="626071"/>
            <a:ext cx="8204888" cy="954107"/>
          </a:xfrm>
          <a:prstGeom prst="rect">
            <a:avLst/>
          </a:prstGeom>
          <a:noFill/>
        </p:spPr>
        <p:txBody>
          <a:bodyPr wrap="square" rtlCol="0">
            <a:spAutoFit/>
          </a:bodyPr>
          <a:lstStyle/>
          <a:p>
            <a:r>
              <a:rPr lang="pt-PT" sz="2800" noProof="1">
                <a:solidFill>
                  <a:srgbClr val="002060"/>
                </a:solidFill>
              </a:rPr>
              <a:t>Induction Variable Strength Reduction -</a:t>
            </a:r>
          </a:p>
          <a:p>
            <a:r>
              <a:rPr lang="pt-PT" sz="2800" noProof="1">
                <a:solidFill>
                  <a:srgbClr val="002060"/>
                </a:solidFill>
              </a:rPr>
              <a:t>Source Program</a:t>
            </a:r>
            <a:endParaRPr lang="en-US" sz="2800" noProof="1"/>
          </a:p>
        </p:txBody>
      </p:sp>
      <p:sp>
        <p:nvSpPr>
          <p:cNvPr id="4" name="Slide Number Placeholder 3">
            <a:extLst>
              <a:ext uri="{FF2B5EF4-FFF2-40B4-BE49-F238E27FC236}">
                <a16:creationId xmlns:a16="http://schemas.microsoft.com/office/drawing/2014/main" id="{C868AA87-54B8-6C37-3F26-5C8FDD9E4A3C}"/>
              </a:ext>
            </a:extLst>
          </p:cNvPr>
          <p:cNvSpPr>
            <a:spLocks noGrp="1"/>
          </p:cNvSpPr>
          <p:nvPr>
            <p:ph type="sldNum" sz="quarter" idx="12"/>
          </p:nvPr>
        </p:nvSpPr>
        <p:spPr/>
        <p:txBody>
          <a:bodyPr/>
          <a:lstStyle/>
          <a:p>
            <a:fld id="{292A9FD8-515A-4698-9313-0AB17EE9632B}" type="slidenum">
              <a:rPr lang="en-US" noProof="1" dirty="0" smtClean="0"/>
              <a:t>18</a:t>
            </a:fld>
            <a:endParaRPr lang="en-US" noProof="1"/>
          </a:p>
        </p:txBody>
      </p:sp>
      <p:sp>
        <p:nvSpPr>
          <p:cNvPr id="3" name="TextBox 2">
            <a:extLst>
              <a:ext uri="{FF2B5EF4-FFF2-40B4-BE49-F238E27FC236}">
                <a16:creationId xmlns:a16="http://schemas.microsoft.com/office/drawing/2014/main" id="{C79F43B5-6238-A236-23DC-473506BC36DE}"/>
              </a:ext>
            </a:extLst>
          </p:cNvPr>
          <p:cNvSpPr txBox="1"/>
          <p:nvPr/>
        </p:nvSpPr>
        <p:spPr>
          <a:xfrm>
            <a:off x="469556" y="1903254"/>
            <a:ext cx="6098977" cy="3539430"/>
          </a:xfrm>
          <a:prstGeom prst="rect">
            <a:avLst/>
          </a:prstGeom>
          <a:noFill/>
        </p:spPr>
        <p:txBody>
          <a:bodyPr wrap="none" rtlCol="0">
            <a:spAutoFit/>
          </a:bodyPr>
          <a:lstStyle/>
          <a:p>
            <a:r>
              <a:rPr lang="en-US" sz="1600" dirty="0">
                <a:solidFill>
                  <a:srgbClr val="F3530B"/>
                </a:solidFill>
              </a:rPr>
              <a:t>let</a:t>
            </a:r>
            <a:r>
              <a:rPr lang="en-US" sz="1600" dirty="0"/>
              <a:t> </a:t>
            </a:r>
            <a:r>
              <a:rPr lang="en-US" sz="1600" dirty="0" err="1"/>
              <a:t>induc_var_strength_red_source</a:t>
            </a:r>
            <a:r>
              <a:rPr lang="en-US" sz="1600" dirty="0"/>
              <a:t> (b : </a:t>
            </a:r>
            <a:r>
              <a:rPr lang="en-US" sz="1600" dirty="0">
                <a:solidFill>
                  <a:srgbClr val="F3530B"/>
                </a:solidFill>
              </a:rPr>
              <a:t>int</a:t>
            </a:r>
            <a:r>
              <a:rPr lang="en-US" sz="1600" dirty="0"/>
              <a:t>, c : </a:t>
            </a:r>
            <a:r>
              <a:rPr lang="en-US" sz="1600" dirty="0">
                <a:solidFill>
                  <a:srgbClr val="F3530B"/>
                </a:solidFill>
              </a:rPr>
              <a:t>int</a:t>
            </a:r>
            <a:r>
              <a:rPr lang="en-US" sz="1600" dirty="0"/>
              <a:t>, n : </a:t>
            </a:r>
            <a:r>
              <a:rPr lang="en-US" sz="1600" dirty="0">
                <a:solidFill>
                  <a:srgbClr val="F3530B"/>
                </a:solidFill>
              </a:rPr>
              <a:t>int</a:t>
            </a:r>
            <a:r>
              <a:rPr lang="en-US" sz="1600" dirty="0"/>
              <a:t>) : </a:t>
            </a:r>
            <a:r>
              <a:rPr lang="en-US" sz="1600" dirty="0">
                <a:solidFill>
                  <a:srgbClr val="F3530B"/>
                </a:solidFill>
              </a:rPr>
              <a:t>int</a:t>
            </a:r>
            <a:r>
              <a:rPr lang="en-US" sz="1600" dirty="0"/>
              <a:t> = </a:t>
            </a:r>
            <a:r>
              <a:rPr lang="en-US" sz="1600" dirty="0">
                <a:solidFill>
                  <a:srgbClr val="F3530B"/>
                </a:solidFill>
              </a:rPr>
              <a:t>begin</a:t>
            </a:r>
          </a:p>
          <a:p>
            <a:r>
              <a:rPr lang="en-US" sz="1600" dirty="0"/>
              <a:t>	</a:t>
            </a:r>
            <a:r>
              <a:rPr lang="en-US" sz="1600" dirty="0">
                <a:solidFill>
                  <a:srgbClr val="F3530B"/>
                </a:solidFill>
              </a:rPr>
              <a:t>let</a:t>
            </a:r>
            <a:r>
              <a:rPr lang="en-US" sz="1600" dirty="0"/>
              <a:t> </a:t>
            </a:r>
            <a:r>
              <a:rPr lang="en-US" sz="1600" dirty="0" err="1"/>
              <a:t>i</a:t>
            </a:r>
            <a:r>
              <a:rPr lang="en-US" sz="1600" dirty="0"/>
              <a:t> = ref 0 </a:t>
            </a:r>
            <a:r>
              <a:rPr lang="en-US" sz="1600" dirty="0">
                <a:solidFill>
                  <a:srgbClr val="F3530B"/>
                </a:solidFill>
              </a:rPr>
              <a:t>in</a:t>
            </a:r>
          </a:p>
          <a:p>
            <a:r>
              <a:rPr lang="en-US" sz="1600" dirty="0"/>
              <a:t>	</a:t>
            </a:r>
            <a:r>
              <a:rPr lang="en-US" sz="1600" dirty="0">
                <a:solidFill>
                  <a:srgbClr val="F3530B"/>
                </a:solidFill>
              </a:rPr>
              <a:t>let</a:t>
            </a:r>
            <a:r>
              <a:rPr lang="en-US" sz="1600" dirty="0"/>
              <a:t> j = ref 0 </a:t>
            </a:r>
            <a:r>
              <a:rPr lang="en-US" sz="1600" dirty="0">
                <a:solidFill>
                  <a:srgbClr val="F3530B"/>
                </a:solidFill>
              </a:rPr>
              <a:t>in</a:t>
            </a:r>
          </a:p>
          <a:p>
            <a:r>
              <a:rPr lang="en-US" sz="1600" dirty="0"/>
              <a:t>	</a:t>
            </a:r>
            <a:r>
              <a:rPr lang="en-US" sz="1600" dirty="0">
                <a:solidFill>
                  <a:srgbClr val="F3530B"/>
                </a:solidFill>
              </a:rPr>
              <a:t>let</a:t>
            </a:r>
            <a:r>
              <a:rPr lang="en-US" sz="1600" dirty="0"/>
              <a:t> x = ref 0 </a:t>
            </a:r>
            <a:r>
              <a:rPr lang="en-US" sz="1600" dirty="0">
                <a:solidFill>
                  <a:srgbClr val="F3530B"/>
                </a:solidFill>
              </a:rPr>
              <a:t>in</a:t>
            </a:r>
          </a:p>
          <a:p>
            <a:endParaRPr lang="en-US" sz="1600" dirty="0"/>
          </a:p>
          <a:p>
            <a:r>
              <a:rPr lang="en-US" sz="1600" dirty="0"/>
              <a:t>	</a:t>
            </a:r>
            <a:r>
              <a:rPr lang="pt-PT" sz="1600" dirty="0" err="1">
                <a:solidFill>
                  <a:srgbClr val="F3530B"/>
                </a:solidFill>
              </a:rPr>
              <a:t>while</a:t>
            </a:r>
            <a:r>
              <a:rPr lang="pt-PT" sz="1600" dirty="0"/>
              <a:t> !i &lt; n </a:t>
            </a:r>
            <a:r>
              <a:rPr lang="pt-PT" sz="1600" dirty="0">
                <a:solidFill>
                  <a:srgbClr val="F3530B"/>
                </a:solidFill>
              </a:rPr>
              <a:t>do</a:t>
            </a:r>
            <a:r>
              <a:rPr lang="pt-PT" sz="1600" dirty="0"/>
              <a:t> </a:t>
            </a:r>
          </a:p>
          <a:p>
            <a:pPr lvl="1"/>
            <a:r>
              <a:rPr lang="pt-PT" sz="1600" dirty="0"/>
              <a:t>	j := !i * b + c;</a:t>
            </a:r>
          </a:p>
          <a:p>
            <a:pPr lvl="2"/>
            <a:r>
              <a:rPr lang="pt-PT" sz="1600" dirty="0"/>
              <a:t>x := !x + !j;</a:t>
            </a:r>
          </a:p>
          <a:p>
            <a:pPr lvl="2"/>
            <a:r>
              <a:rPr lang="pt-PT" sz="1600" dirty="0"/>
              <a:t>i := !i + 1</a:t>
            </a:r>
          </a:p>
          <a:p>
            <a:pPr lvl="1"/>
            <a:r>
              <a:rPr lang="pt-PT" sz="1600" dirty="0" err="1">
                <a:solidFill>
                  <a:srgbClr val="F3530B"/>
                </a:solidFill>
              </a:rPr>
              <a:t>done</a:t>
            </a:r>
            <a:r>
              <a:rPr lang="pt-PT" sz="1600" dirty="0"/>
              <a:t>;</a:t>
            </a:r>
          </a:p>
          <a:p>
            <a:pPr lvl="1"/>
            <a:endParaRPr lang="pt-PT" sz="1600" dirty="0"/>
          </a:p>
          <a:p>
            <a:pPr lvl="1"/>
            <a:r>
              <a:rPr lang="pt-PT" sz="1600" dirty="0"/>
              <a:t>!x</a:t>
            </a:r>
          </a:p>
          <a:p>
            <a:r>
              <a:rPr lang="pt-PT" sz="1600" dirty="0" err="1">
                <a:solidFill>
                  <a:srgbClr val="F3530B"/>
                </a:solidFill>
              </a:rPr>
              <a:t>end</a:t>
            </a:r>
            <a:endParaRPr lang="pt-PT" sz="1600" dirty="0">
              <a:solidFill>
                <a:srgbClr val="F3530B"/>
              </a:solidFill>
            </a:endParaRPr>
          </a:p>
          <a:p>
            <a:pPr lvl="1"/>
            <a:endParaRPr lang="en-US" sz="1600" dirty="0"/>
          </a:p>
        </p:txBody>
      </p:sp>
      <p:sp>
        <p:nvSpPr>
          <p:cNvPr id="6" name="TextBox 5">
            <a:extLst>
              <a:ext uri="{FF2B5EF4-FFF2-40B4-BE49-F238E27FC236}">
                <a16:creationId xmlns:a16="http://schemas.microsoft.com/office/drawing/2014/main" id="{472D775F-0CDD-6342-FD8A-53E4ACA2EF82}"/>
              </a:ext>
            </a:extLst>
          </p:cNvPr>
          <p:cNvSpPr txBox="1"/>
          <p:nvPr/>
        </p:nvSpPr>
        <p:spPr>
          <a:xfrm>
            <a:off x="5675340" y="4769081"/>
            <a:ext cx="988989" cy="369332"/>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pt-PT" i="1" dirty="0" err="1">
                <a:solidFill>
                  <a:srgbClr val="002060"/>
                </a:solidFill>
              </a:rPr>
              <a:t>BipLang</a:t>
            </a:r>
            <a:endParaRPr lang="en-US" sz="2000" i="1" dirty="0">
              <a:solidFill>
                <a:srgbClr val="002060"/>
              </a:solidFill>
            </a:endParaRPr>
          </a:p>
        </p:txBody>
      </p:sp>
    </p:spTree>
    <p:extLst>
      <p:ext uri="{BB962C8B-B14F-4D97-AF65-F5344CB8AC3E}">
        <p14:creationId xmlns:p14="http://schemas.microsoft.com/office/powerpoint/2010/main" val="31408776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520B36-048C-8342-A682-61242236EF7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ACB3481-2791-1108-3814-E74536B31B8F}"/>
              </a:ext>
            </a:extLst>
          </p:cNvPr>
          <p:cNvSpPr txBox="1"/>
          <p:nvPr/>
        </p:nvSpPr>
        <p:spPr>
          <a:xfrm>
            <a:off x="469556" y="626071"/>
            <a:ext cx="8204888" cy="954107"/>
          </a:xfrm>
          <a:prstGeom prst="rect">
            <a:avLst/>
          </a:prstGeom>
          <a:noFill/>
        </p:spPr>
        <p:txBody>
          <a:bodyPr wrap="square" rtlCol="0">
            <a:spAutoFit/>
          </a:bodyPr>
          <a:lstStyle/>
          <a:p>
            <a:r>
              <a:rPr lang="pt-PT" sz="2800" noProof="1">
                <a:solidFill>
                  <a:srgbClr val="002060"/>
                </a:solidFill>
              </a:rPr>
              <a:t>Induction Variable Strength Reduction -</a:t>
            </a:r>
          </a:p>
          <a:p>
            <a:r>
              <a:rPr lang="pt-PT" sz="2800" noProof="1">
                <a:solidFill>
                  <a:srgbClr val="002060"/>
                </a:solidFill>
              </a:rPr>
              <a:t>Optimized Program</a:t>
            </a:r>
            <a:endParaRPr lang="en-US" sz="2800" noProof="1"/>
          </a:p>
        </p:txBody>
      </p:sp>
      <p:sp>
        <p:nvSpPr>
          <p:cNvPr id="4" name="Slide Number Placeholder 3">
            <a:extLst>
              <a:ext uri="{FF2B5EF4-FFF2-40B4-BE49-F238E27FC236}">
                <a16:creationId xmlns:a16="http://schemas.microsoft.com/office/drawing/2014/main" id="{DBDEFDC3-AE26-2FC4-1F10-057A2D0B6433}"/>
              </a:ext>
            </a:extLst>
          </p:cNvPr>
          <p:cNvSpPr>
            <a:spLocks noGrp="1"/>
          </p:cNvSpPr>
          <p:nvPr>
            <p:ph type="sldNum" sz="quarter" idx="12"/>
          </p:nvPr>
        </p:nvSpPr>
        <p:spPr/>
        <p:txBody>
          <a:bodyPr/>
          <a:lstStyle/>
          <a:p>
            <a:fld id="{292A9FD8-515A-4698-9313-0AB17EE9632B}" type="slidenum">
              <a:rPr lang="en-US" noProof="1" dirty="0" smtClean="0"/>
              <a:t>19</a:t>
            </a:fld>
            <a:endParaRPr lang="en-US" noProof="1"/>
          </a:p>
        </p:txBody>
      </p:sp>
      <p:sp>
        <p:nvSpPr>
          <p:cNvPr id="3" name="TextBox 2">
            <a:extLst>
              <a:ext uri="{FF2B5EF4-FFF2-40B4-BE49-F238E27FC236}">
                <a16:creationId xmlns:a16="http://schemas.microsoft.com/office/drawing/2014/main" id="{96EEA6E1-6242-7998-6CE8-F2E544B851F3}"/>
              </a:ext>
            </a:extLst>
          </p:cNvPr>
          <p:cNvSpPr txBox="1"/>
          <p:nvPr/>
        </p:nvSpPr>
        <p:spPr>
          <a:xfrm>
            <a:off x="469556" y="1903254"/>
            <a:ext cx="6368025" cy="3539430"/>
          </a:xfrm>
          <a:prstGeom prst="rect">
            <a:avLst/>
          </a:prstGeom>
          <a:noFill/>
        </p:spPr>
        <p:txBody>
          <a:bodyPr wrap="none" rtlCol="0">
            <a:spAutoFit/>
          </a:bodyPr>
          <a:lstStyle/>
          <a:p>
            <a:r>
              <a:rPr lang="en-US" sz="1600" dirty="0">
                <a:solidFill>
                  <a:srgbClr val="F3530B"/>
                </a:solidFill>
              </a:rPr>
              <a:t>let</a:t>
            </a:r>
            <a:r>
              <a:rPr lang="en-US" sz="1600" dirty="0"/>
              <a:t> </a:t>
            </a:r>
            <a:r>
              <a:rPr lang="en-US" sz="1600" dirty="0" err="1"/>
              <a:t>induc_var_strength_red_optimized</a:t>
            </a:r>
            <a:r>
              <a:rPr lang="en-US" sz="1600" dirty="0"/>
              <a:t> (b : </a:t>
            </a:r>
            <a:r>
              <a:rPr lang="en-US" sz="1600" dirty="0">
                <a:solidFill>
                  <a:srgbClr val="F3530B"/>
                </a:solidFill>
              </a:rPr>
              <a:t>int</a:t>
            </a:r>
            <a:r>
              <a:rPr lang="en-US" sz="1600" dirty="0"/>
              <a:t>, c : </a:t>
            </a:r>
            <a:r>
              <a:rPr lang="en-US" sz="1600" dirty="0">
                <a:solidFill>
                  <a:srgbClr val="F3530B"/>
                </a:solidFill>
              </a:rPr>
              <a:t>int</a:t>
            </a:r>
            <a:r>
              <a:rPr lang="en-US" sz="1600" dirty="0"/>
              <a:t>, n : </a:t>
            </a:r>
            <a:r>
              <a:rPr lang="en-US" sz="1600" dirty="0">
                <a:solidFill>
                  <a:srgbClr val="F3530B"/>
                </a:solidFill>
              </a:rPr>
              <a:t>int</a:t>
            </a:r>
            <a:r>
              <a:rPr lang="en-US" sz="1600" dirty="0"/>
              <a:t>) : </a:t>
            </a:r>
            <a:r>
              <a:rPr lang="en-US" sz="1600" dirty="0">
                <a:solidFill>
                  <a:srgbClr val="F3530B"/>
                </a:solidFill>
              </a:rPr>
              <a:t>int</a:t>
            </a:r>
            <a:r>
              <a:rPr lang="en-US" sz="1600" dirty="0"/>
              <a:t> = </a:t>
            </a:r>
            <a:r>
              <a:rPr lang="en-US" sz="1600" dirty="0">
                <a:solidFill>
                  <a:srgbClr val="F3530B"/>
                </a:solidFill>
              </a:rPr>
              <a:t>begin</a:t>
            </a:r>
          </a:p>
          <a:p>
            <a:r>
              <a:rPr lang="en-US" sz="1600" dirty="0"/>
              <a:t>	</a:t>
            </a:r>
            <a:r>
              <a:rPr lang="en-US" sz="1600" dirty="0">
                <a:solidFill>
                  <a:srgbClr val="F3530B"/>
                </a:solidFill>
              </a:rPr>
              <a:t>let</a:t>
            </a:r>
            <a:r>
              <a:rPr lang="en-US" sz="1600" dirty="0"/>
              <a:t> </a:t>
            </a:r>
            <a:r>
              <a:rPr lang="en-US" sz="1600" dirty="0" err="1"/>
              <a:t>i</a:t>
            </a:r>
            <a:r>
              <a:rPr lang="en-US" sz="1600" dirty="0"/>
              <a:t> = ref 0 </a:t>
            </a:r>
            <a:r>
              <a:rPr lang="en-US" sz="1600" dirty="0">
                <a:solidFill>
                  <a:srgbClr val="F3530B"/>
                </a:solidFill>
              </a:rPr>
              <a:t>in</a:t>
            </a:r>
          </a:p>
          <a:p>
            <a:r>
              <a:rPr lang="en-US" sz="1600" dirty="0"/>
              <a:t>	</a:t>
            </a:r>
            <a:r>
              <a:rPr lang="en-US" sz="1600" dirty="0">
                <a:solidFill>
                  <a:srgbClr val="F3530B"/>
                </a:solidFill>
              </a:rPr>
              <a:t>let</a:t>
            </a:r>
            <a:r>
              <a:rPr lang="en-US" sz="1600" dirty="0"/>
              <a:t> j = ref c </a:t>
            </a:r>
            <a:r>
              <a:rPr lang="en-US" sz="1600" dirty="0">
                <a:solidFill>
                  <a:srgbClr val="F3530B"/>
                </a:solidFill>
              </a:rPr>
              <a:t>in</a:t>
            </a:r>
          </a:p>
          <a:p>
            <a:r>
              <a:rPr lang="en-US" sz="1600" dirty="0"/>
              <a:t>	</a:t>
            </a:r>
            <a:r>
              <a:rPr lang="en-US" sz="1600" dirty="0">
                <a:solidFill>
                  <a:srgbClr val="F3530B"/>
                </a:solidFill>
              </a:rPr>
              <a:t>let</a:t>
            </a:r>
            <a:r>
              <a:rPr lang="en-US" sz="1600" dirty="0"/>
              <a:t> x = ref 0 </a:t>
            </a:r>
            <a:r>
              <a:rPr lang="en-US" sz="1600" dirty="0">
                <a:solidFill>
                  <a:srgbClr val="F3530B"/>
                </a:solidFill>
              </a:rPr>
              <a:t>in</a:t>
            </a:r>
          </a:p>
          <a:p>
            <a:endParaRPr lang="en-US" sz="1600" dirty="0"/>
          </a:p>
          <a:p>
            <a:r>
              <a:rPr lang="en-US" sz="1600" dirty="0"/>
              <a:t>	</a:t>
            </a:r>
            <a:r>
              <a:rPr lang="pt-PT" sz="1600" dirty="0" err="1">
                <a:solidFill>
                  <a:srgbClr val="F3530B"/>
                </a:solidFill>
              </a:rPr>
              <a:t>while</a:t>
            </a:r>
            <a:r>
              <a:rPr lang="pt-PT" sz="1600" dirty="0"/>
              <a:t> !i &lt; n </a:t>
            </a:r>
            <a:r>
              <a:rPr lang="pt-PT" sz="1600" dirty="0">
                <a:solidFill>
                  <a:srgbClr val="F3530B"/>
                </a:solidFill>
              </a:rPr>
              <a:t>do</a:t>
            </a:r>
            <a:r>
              <a:rPr lang="pt-PT" sz="1600" dirty="0"/>
              <a:t> </a:t>
            </a:r>
          </a:p>
          <a:p>
            <a:pPr lvl="1"/>
            <a:r>
              <a:rPr lang="pt-PT" sz="1600" dirty="0"/>
              <a:t>	x := !x + !j;</a:t>
            </a:r>
          </a:p>
          <a:p>
            <a:pPr lvl="2"/>
            <a:r>
              <a:rPr lang="pt-PT" sz="1600" dirty="0"/>
              <a:t>j := !j + b;</a:t>
            </a:r>
          </a:p>
          <a:p>
            <a:pPr lvl="2"/>
            <a:r>
              <a:rPr lang="pt-PT" sz="1600" dirty="0"/>
              <a:t>i := !i + 1</a:t>
            </a:r>
          </a:p>
          <a:p>
            <a:pPr lvl="1"/>
            <a:r>
              <a:rPr lang="pt-PT" sz="1600" dirty="0" err="1">
                <a:solidFill>
                  <a:srgbClr val="F3530B"/>
                </a:solidFill>
              </a:rPr>
              <a:t>done</a:t>
            </a:r>
            <a:r>
              <a:rPr lang="pt-PT" sz="1600" dirty="0"/>
              <a:t>;</a:t>
            </a:r>
          </a:p>
          <a:p>
            <a:pPr lvl="1"/>
            <a:endParaRPr lang="pt-PT" sz="1600" dirty="0"/>
          </a:p>
          <a:p>
            <a:pPr lvl="1"/>
            <a:r>
              <a:rPr lang="pt-PT" sz="1600" dirty="0"/>
              <a:t>!x</a:t>
            </a:r>
          </a:p>
          <a:p>
            <a:r>
              <a:rPr lang="pt-PT" sz="1600" dirty="0" err="1">
                <a:solidFill>
                  <a:srgbClr val="F3530B"/>
                </a:solidFill>
              </a:rPr>
              <a:t>end</a:t>
            </a:r>
            <a:endParaRPr lang="pt-PT" sz="1600" dirty="0">
              <a:solidFill>
                <a:srgbClr val="F3530B"/>
              </a:solidFill>
            </a:endParaRPr>
          </a:p>
          <a:p>
            <a:pPr lvl="1"/>
            <a:endParaRPr lang="en-US" sz="1600" dirty="0"/>
          </a:p>
        </p:txBody>
      </p:sp>
      <p:sp>
        <p:nvSpPr>
          <p:cNvPr id="6" name="TextBox 5">
            <a:extLst>
              <a:ext uri="{FF2B5EF4-FFF2-40B4-BE49-F238E27FC236}">
                <a16:creationId xmlns:a16="http://schemas.microsoft.com/office/drawing/2014/main" id="{3C3BBAB1-9BB1-87AE-7136-C7FFB1C9E165}"/>
              </a:ext>
            </a:extLst>
          </p:cNvPr>
          <p:cNvSpPr txBox="1"/>
          <p:nvPr/>
        </p:nvSpPr>
        <p:spPr>
          <a:xfrm>
            <a:off x="5848592" y="4766089"/>
            <a:ext cx="988989" cy="369332"/>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pt-PT" i="1" dirty="0" err="1">
                <a:solidFill>
                  <a:srgbClr val="002060"/>
                </a:solidFill>
              </a:rPr>
              <a:t>BipLang</a:t>
            </a:r>
            <a:endParaRPr lang="en-US" sz="2000" i="1" dirty="0">
              <a:solidFill>
                <a:srgbClr val="002060"/>
              </a:solidFill>
            </a:endParaRPr>
          </a:p>
        </p:txBody>
      </p:sp>
    </p:spTree>
    <p:extLst>
      <p:ext uri="{BB962C8B-B14F-4D97-AF65-F5344CB8AC3E}">
        <p14:creationId xmlns:p14="http://schemas.microsoft.com/office/powerpoint/2010/main" val="19775268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20733-55AD-4ED3-44A6-BA5CA7A390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3E09081-DDD9-7A3F-11CB-68DCEF1CE62C}"/>
              </a:ext>
            </a:extLst>
          </p:cNvPr>
          <p:cNvSpPr txBox="1"/>
          <p:nvPr/>
        </p:nvSpPr>
        <p:spPr>
          <a:xfrm>
            <a:off x="469556" y="518979"/>
            <a:ext cx="8204888" cy="523220"/>
          </a:xfrm>
          <a:prstGeom prst="rect">
            <a:avLst/>
          </a:prstGeom>
          <a:noFill/>
        </p:spPr>
        <p:txBody>
          <a:bodyPr wrap="square" rtlCol="0">
            <a:spAutoFit/>
          </a:bodyPr>
          <a:lstStyle/>
          <a:p>
            <a:r>
              <a:rPr lang="pt-PT" sz="2800" noProof="1">
                <a:solidFill>
                  <a:srgbClr val="002060"/>
                </a:solidFill>
              </a:rPr>
              <a:t>Induction Variable Strength Reduction - Biprogram</a:t>
            </a:r>
            <a:endParaRPr lang="en-US" sz="2800" noProof="1"/>
          </a:p>
        </p:txBody>
      </p:sp>
      <p:sp>
        <p:nvSpPr>
          <p:cNvPr id="4" name="Slide Number Placeholder 3">
            <a:extLst>
              <a:ext uri="{FF2B5EF4-FFF2-40B4-BE49-F238E27FC236}">
                <a16:creationId xmlns:a16="http://schemas.microsoft.com/office/drawing/2014/main" id="{F202D6D9-0388-168C-1CFC-72AFA60AB372}"/>
              </a:ext>
            </a:extLst>
          </p:cNvPr>
          <p:cNvSpPr>
            <a:spLocks noGrp="1"/>
          </p:cNvSpPr>
          <p:nvPr>
            <p:ph type="sldNum" sz="quarter" idx="12"/>
          </p:nvPr>
        </p:nvSpPr>
        <p:spPr/>
        <p:txBody>
          <a:bodyPr/>
          <a:lstStyle/>
          <a:p>
            <a:fld id="{292A9FD8-515A-4698-9313-0AB17EE9632B}" type="slidenum">
              <a:rPr lang="en-US" noProof="1" dirty="0" smtClean="0"/>
              <a:t>20</a:t>
            </a:fld>
            <a:endParaRPr lang="en-US" noProof="1"/>
          </a:p>
        </p:txBody>
      </p:sp>
      <p:sp>
        <p:nvSpPr>
          <p:cNvPr id="3" name="TextBox 2">
            <a:extLst>
              <a:ext uri="{FF2B5EF4-FFF2-40B4-BE49-F238E27FC236}">
                <a16:creationId xmlns:a16="http://schemas.microsoft.com/office/drawing/2014/main" id="{607F00FC-CCBA-53EB-320C-C7192B7C6C42}"/>
              </a:ext>
            </a:extLst>
          </p:cNvPr>
          <p:cNvSpPr txBox="1"/>
          <p:nvPr/>
        </p:nvSpPr>
        <p:spPr>
          <a:xfrm>
            <a:off x="469556" y="1235563"/>
            <a:ext cx="7601312" cy="4278094"/>
          </a:xfrm>
          <a:prstGeom prst="rect">
            <a:avLst/>
          </a:prstGeom>
          <a:noFill/>
        </p:spPr>
        <p:txBody>
          <a:bodyPr wrap="none" rtlCol="0">
            <a:spAutoFit/>
          </a:bodyPr>
          <a:lstStyle/>
          <a:p>
            <a:r>
              <a:rPr lang="en-US" sz="1600" dirty="0">
                <a:solidFill>
                  <a:srgbClr val="F3530B"/>
                </a:solidFill>
              </a:rPr>
              <a:t>let</a:t>
            </a:r>
            <a:r>
              <a:rPr lang="en-US" sz="1600" dirty="0"/>
              <a:t> </a:t>
            </a:r>
            <a:r>
              <a:rPr lang="en-US" sz="1600" dirty="0" err="1"/>
              <a:t>induc_var_strength_red_biprogram</a:t>
            </a:r>
            <a:r>
              <a:rPr lang="en-US" sz="1600" dirty="0"/>
              <a:t> (|_b : </a:t>
            </a:r>
            <a:r>
              <a:rPr lang="en-US" sz="1600" dirty="0">
                <a:solidFill>
                  <a:srgbClr val="F3530B"/>
                </a:solidFill>
              </a:rPr>
              <a:t>int</a:t>
            </a:r>
            <a:r>
              <a:rPr lang="en-US" sz="1600" dirty="0"/>
              <a:t>_|, |_c : </a:t>
            </a:r>
            <a:r>
              <a:rPr lang="en-US" sz="1600" dirty="0">
                <a:solidFill>
                  <a:srgbClr val="F3530B"/>
                </a:solidFill>
              </a:rPr>
              <a:t>int</a:t>
            </a:r>
            <a:r>
              <a:rPr lang="en-US" sz="1600" dirty="0"/>
              <a:t>_|, |_n : </a:t>
            </a:r>
            <a:r>
              <a:rPr lang="en-US" sz="1600" dirty="0">
                <a:solidFill>
                  <a:srgbClr val="F3530B"/>
                </a:solidFill>
              </a:rPr>
              <a:t>int</a:t>
            </a:r>
            <a:r>
              <a:rPr lang="en-US" sz="1600" dirty="0"/>
              <a:t>_|) : |_</a:t>
            </a:r>
            <a:r>
              <a:rPr lang="en-US" sz="1600" dirty="0">
                <a:solidFill>
                  <a:srgbClr val="F3530B"/>
                </a:solidFill>
              </a:rPr>
              <a:t>int</a:t>
            </a:r>
            <a:r>
              <a:rPr lang="en-US" sz="1600" dirty="0"/>
              <a:t>_| = </a:t>
            </a:r>
            <a:r>
              <a:rPr lang="en-US" sz="1600" dirty="0">
                <a:solidFill>
                  <a:srgbClr val="F3530B"/>
                </a:solidFill>
              </a:rPr>
              <a:t>begin</a:t>
            </a:r>
          </a:p>
          <a:p>
            <a:r>
              <a:rPr lang="en-US" sz="1600" dirty="0"/>
              <a:t>	</a:t>
            </a:r>
            <a:r>
              <a:rPr lang="en-US" sz="1600" dirty="0">
                <a:solidFill>
                  <a:srgbClr val="F3530B"/>
                </a:solidFill>
              </a:rPr>
              <a:t>let</a:t>
            </a:r>
            <a:r>
              <a:rPr lang="en-US" sz="1600" dirty="0"/>
              <a:t> </a:t>
            </a:r>
            <a:r>
              <a:rPr lang="en-US" sz="1600" dirty="0" err="1"/>
              <a:t>i</a:t>
            </a:r>
            <a:r>
              <a:rPr lang="en-US" sz="1600" dirty="0"/>
              <a:t> = |_ ref 0 _| </a:t>
            </a:r>
            <a:r>
              <a:rPr lang="en-US" sz="1600" dirty="0">
                <a:solidFill>
                  <a:srgbClr val="F3530B"/>
                </a:solidFill>
              </a:rPr>
              <a:t>in</a:t>
            </a:r>
          </a:p>
          <a:p>
            <a:r>
              <a:rPr lang="en-US" sz="1600" dirty="0"/>
              <a:t>	</a:t>
            </a:r>
            <a:r>
              <a:rPr lang="en-US" sz="1600" dirty="0">
                <a:solidFill>
                  <a:srgbClr val="F3530B"/>
                </a:solidFill>
              </a:rPr>
              <a:t>let</a:t>
            </a:r>
            <a:r>
              <a:rPr lang="en-US" sz="1600" dirty="0"/>
              <a:t> j = ref 0 &lt;|&gt; ref c </a:t>
            </a:r>
            <a:r>
              <a:rPr lang="en-US" sz="1600" dirty="0">
                <a:solidFill>
                  <a:srgbClr val="F3530B"/>
                </a:solidFill>
              </a:rPr>
              <a:t>in</a:t>
            </a:r>
          </a:p>
          <a:p>
            <a:r>
              <a:rPr lang="en-US" sz="1600" dirty="0"/>
              <a:t>	</a:t>
            </a:r>
            <a:r>
              <a:rPr lang="en-US" sz="1600" dirty="0">
                <a:solidFill>
                  <a:srgbClr val="F3530B"/>
                </a:solidFill>
              </a:rPr>
              <a:t>let</a:t>
            </a:r>
            <a:r>
              <a:rPr lang="en-US" sz="1600" dirty="0"/>
              <a:t> x = |_ ref 0 _| </a:t>
            </a:r>
            <a:r>
              <a:rPr lang="en-US" sz="1600" dirty="0">
                <a:solidFill>
                  <a:srgbClr val="F3530B"/>
                </a:solidFill>
              </a:rPr>
              <a:t>in</a:t>
            </a:r>
            <a:endParaRPr lang="en-US" sz="1600" dirty="0"/>
          </a:p>
          <a:p>
            <a:r>
              <a:rPr lang="en-US" sz="1600" dirty="0"/>
              <a:t>	</a:t>
            </a:r>
            <a:r>
              <a:rPr lang="pt-PT" sz="1600" dirty="0" err="1">
                <a:solidFill>
                  <a:srgbClr val="F3530B"/>
                </a:solidFill>
              </a:rPr>
              <a:t>while</a:t>
            </a:r>
            <a:r>
              <a:rPr lang="pt-PT" sz="1600" dirty="0"/>
              <a:t> |_ !i &lt; n _| </a:t>
            </a:r>
            <a:r>
              <a:rPr lang="pt-PT" sz="1600" dirty="0">
                <a:solidFill>
                  <a:srgbClr val="F3530B"/>
                </a:solidFill>
              </a:rPr>
              <a:t>do</a:t>
            </a:r>
            <a:r>
              <a:rPr lang="pt-PT" sz="1600" dirty="0"/>
              <a:t> </a:t>
            </a:r>
          </a:p>
          <a:p>
            <a:r>
              <a:rPr lang="pt-PT" sz="1600" dirty="0"/>
              <a:t>		(*@ </a:t>
            </a:r>
            <a:r>
              <a:rPr lang="pt-PT" sz="1600" dirty="0" err="1">
                <a:solidFill>
                  <a:srgbClr val="F3530B"/>
                </a:solidFill>
              </a:rPr>
              <a:t>variant</a:t>
            </a:r>
            <a:r>
              <a:rPr lang="pt-PT" sz="1600" dirty="0"/>
              <a:t>      </a:t>
            </a:r>
            <a:r>
              <a:rPr lang="pt-PT" sz="1600" dirty="0" err="1"/>
              <a:t>n_l</a:t>
            </a:r>
            <a:r>
              <a:rPr lang="pt-PT" sz="1600" dirty="0"/>
              <a:t> - !</a:t>
            </a:r>
            <a:r>
              <a:rPr lang="pt-PT" sz="1600" dirty="0" err="1"/>
              <a:t>i_l</a:t>
            </a:r>
            <a:r>
              <a:rPr lang="pt-PT" sz="1600" dirty="0"/>
              <a:t> </a:t>
            </a:r>
          </a:p>
          <a:p>
            <a:r>
              <a:rPr lang="pt-PT" sz="1600" dirty="0"/>
              <a:t>		         </a:t>
            </a:r>
            <a:r>
              <a:rPr lang="pt-PT" sz="1600" dirty="0" err="1">
                <a:solidFill>
                  <a:srgbClr val="F3530B"/>
                </a:solidFill>
              </a:rPr>
              <a:t>invariant</a:t>
            </a:r>
            <a:r>
              <a:rPr lang="pt-PT" sz="1600" dirty="0"/>
              <a:t>  !</a:t>
            </a:r>
            <a:r>
              <a:rPr lang="pt-PT" sz="1600" dirty="0" err="1"/>
              <a:t>i_l</a:t>
            </a:r>
            <a:r>
              <a:rPr lang="pt-PT" sz="1600" dirty="0"/>
              <a:t> = !</a:t>
            </a:r>
            <a:r>
              <a:rPr lang="pt-PT" sz="1600" dirty="0" err="1"/>
              <a:t>i_r</a:t>
            </a:r>
            <a:r>
              <a:rPr lang="pt-PT" sz="1600" dirty="0"/>
              <a:t> </a:t>
            </a:r>
          </a:p>
          <a:p>
            <a:r>
              <a:rPr lang="pt-PT" sz="1600" dirty="0"/>
              <a:t>		         </a:t>
            </a:r>
            <a:r>
              <a:rPr lang="pt-PT" sz="1600" dirty="0" err="1">
                <a:solidFill>
                  <a:srgbClr val="F3530B"/>
                </a:solidFill>
              </a:rPr>
              <a:t>invariant</a:t>
            </a:r>
            <a:r>
              <a:rPr lang="pt-PT" sz="1600" dirty="0"/>
              <a:t>  !</a:t>
            </a:r>
            <a:r>
              <a:rPr lang="pt-PT" sz="1600" dirty="0" err="1"/>
              <a:t>x_l</a:t>
            </a:r>
            <a:r>
              <a:rPr lang="pt-PT" sz="1600" dirty="0"/>
              <a:t> = !</a:t>
            </a:r>
            <a:r>
              <a:rPr lang="pt-PT" sz="1600" dirty="0" err="1"/>
              <a:t>x_r</a:t>
            </a:r>
            <a:r>
              <a:rPr lang="pt-PT" sz="1600" dirty="0"/>
              <a:t> </a:t>
            </a:r>
          </a:p>
          <a:p>
            <a:r>
              <a:rPr lang="pt-PT" sz="1600" dirty="0"/>
              <a:t>		         </a:t>
            </a:r>
            <a:r>
              <a:rPr lang="pt-PT" sz="1600" dirty="0" err="1">
                <a:solidFill>
                  <a:srgbClr val="F3530B"/>
                </a:solidFill>
              </a:rPr>
              <a:t>invariant</a:t>
            </a:r>
            <a:r>
              <a:rPr lang="pt-PT" sz="1600" dirty="0"/>
              <a:t>  !</a:t>
            </a:r>
            <a:r>
              <a:rPr lang="pt-PT" sz="1600" dirty="0" err="1"/>
              <a:t>j_r</a:t>
            </a:r>
            <a:r>
              <a:rPr lang="pt-PT" sz="1600" dirty="0"/>
              <a:t> = !</a:t>
            </a:r>
            <a:r>
              <a:rPr lang="pt-PT" sz="1600" dirty="0" err="1"/>
              <a:t>i_r</a:t>
            </a:r>
            <a:r>
              <a:rPr lang="pt-PT" sz="1600" dirty="0"/>
              <a:t> * </a:t>
            </a:r>
            <a:r>
              <a:rPr lang="pt-PT" sz="1600" dirty="0" err="1"/>
              <a:t>b_r</a:t>
            </a:r>
            <a:r>
              <a:rPr lang="pt-PT" sz="1600" dirty="0"/>
              <a:t> + </a:t>
            </a:r>
            <a:r>
              <a:rPr lang="pt-PT" sz="1600" dirty="0" err="1"/>
              <a:t>c_r</a:t>
            </a:r>
            <a:r>
              <a:rPr lang="pt-PT" sz="1600" dirty="0"/>
              <a:t> *)</a:t>
            </a:r>
          </a:p>
          <a:p>
            <a:pPr lvl="1"/>
            <a:r>
              <a:rPr lang="pt-PT" sz="1600" dirty="0"/>
              <a:t>	j := !i * b + c &lt;|&gt; x := !x + !j;</a:t>
            </a:r>
          </a:p>
          <a:p>
            <a:pPr lvl="2"/>
            <a:r>
              <a:rPr lang="pt-PT" sz="1600" dirty="0"/>
              <a:t>x := !x + !j 	   &lt;|&gt; j := !j + b;</a:t>
            </a:r>
          </a:p>
          <a:p>
            <a:pPr lvl="2"/>
            <a:r>
              <a:rPr lang="pt-PT" sz="1600" dirty="0"/>
              <a:t>i := |_ !i + 1 _| </a:t>
            </a:r>
          </a:p>
          <a:p>
            <a:pPr lvl="1"/>
            <a:r>
              <a:rPr lang="pt-PT" sz="1600" dirty="0" err="1">
                <a:solidFill>
                  <a:srgbClr val="F3530B"/>
                </a:solidFill>
              </a:rPr>
              <a:t>done</a:t>
            </a:r>
            <a:r>
              <a:rPr lang="pt-PT" sz="1600" dirty="0"/>
              <a:t>;</a:t>
            </a:r>
          </a:p>
          <a:p>
            <a:r>
              <a:rPr lang="pt-PT" sz="1600" dirty="0"/>
              <a:t>	|_ !x _| </a:t>
            </a:r>
          </a:p>
          <a:p>
            <a:r>
              <a:rPr lang="pt-PT" sz="1600" dirty="0" err="1">
                <a:solidFill>
                  <a:srgbClr val="F3530B"/>
                </a:solidFill>
              </a:rPr>
              <a:t>end</a:t>
            </a:r>
            <a:r>
              <a:rPr lang="pt-PT" sz="1600" dirty="0"/>
              <a:t> </a:t>
            </a:r>
          </a:p>
          <a:p>
            <a:r>
              <a:rPr lang="pt-PT" sz="1600" dirty="0"/>
              <a:t>(*@ </a:t>
            </a:r>
            <a:r>
              <a:rPr lang="pt-PT" sz="1600" dirty="0" err="1">
                <a:solidFill>
                  <a:srgbClr val="F3530B"/>
                </a:solidFill>
              </a:rPr>
              <a:t>requires</a:t>
            </a:r>
            <a:r>
              <a:rPr lang="pt-PT" sz="1600" dirty="0"/>
              <a:t>  </a:t>
            </a:r>
            <a:r>
              <a:rPr lang="pt-PT" sz="1600" dirty="0" err="1"/>
              <a:t>b_l</a:t>
            </a:r>
            <a:r>
              <a:rPr lang="pt-PT" sz="1600" dirty="0"/>
              <a:t> = </a:t>
            </a:r>
            <a:r>
              <a:rPr lang="pt-PT" sz="1600" dirty="0" err="1"/>
              <a:t>b_r</a:t>
            </a:r>
            <a:r>
              <a:rPr lang="pt-PT" sz="1600" dirty="0"/>
              <a:t> &amp;&amp; </a:t>
            </a:r>
            <a:r>
              <a:rPr lang="pt-PT" sz="1600" dirty="0" err="1"/>
              <a:t>c_l</a:t>
            </a:r>
            <a:r>
              <a:rPr lang="pt-PT" sz="1600" dirty="0"/>
              <a:t> = </a:t>
            </a:r>
            <a:r>
              <a:rPr lang="pt-PT" sz="1600" dirty="0" err="1"/>
              <a:t>c_r</a:t>
            </a:r>
            <a:r>
              <a:rPr lang="pt-PT" sz="1600" dirty="0"/>
              <a:t> &amp;&amp; </a:t>
            </a:r>
            <a:r>
              <a:rPr lang="pt-PT" sz="1600" dirty="0" err="1"/>
              <a:t>n_l</a:t>
            </a:r>
            <a:r>
              <a:rPr lang="pt-PT" sz="1600" dirty="0"/>
              <a:t> = </a:t>
            </a:r>
            <a:r>
              <a:rPr lang="pt-PT" sz="1600" dirty="0" err="1"/>
              <a:t>n_r</a:t>
            </a:r>
            <a:r>
              <a:rPr lang="pt-PT" sz="1600" dirty="0"/>
              <a:t> </a:t>
            </a:r>
          </a:p>
          <a:p>
            <a:r>
              <a:rPr lang="pt-PT" sz="1600" dirty="0"/>
              <a:t>         </a:t>
            </a:r>
            <a:r>
              <a:rPr lang="pt-PT" sz="1600" dirty="0" err="1">
                <a:solidFill>
                  <a:srgbClr val="F3530B"/>
                </a:solidFill>
              </a:rPr>
              <a:t>ensures</a:t>
            </a:r>
            <a:r>
              <a:rPr lang="pt-PT" sz="1600" dirty="0"/>
              <a:t>  match </a:t>
            </a:r>
            <a:r>
              <a:rPr lang="pt-PT" sz="1600" dirty="0" err="1"/>
              <a:t>result</a:t>
            </a:r>
            <a:r>
              <a:rPr lang="pt-PT" sz="1600" dirty="0"/>
              <a:t> </a:t>
            </a:r>
            <a:r>
              <a:rPr lang="pt-PT" sz="1600" dirty="0" err="1"/>
              <a:t>with</a:t>
            </a:r>
            <a:r>
              <a:rPr lang="pt-PT" sz="1600" dirty="0"/>
              <a:t> (</a:t>
            </a:r>
            <a:r>
              <a:rPr lang="pt-PT" sz="1600" dirty="0" err="1"/>
              <a:t>l_res</a:t>
            </a:r>
            <a:r>
              <a:rPr lang="pt-PT" sz="1600" dirty="0"/>
              <a:t>, </a:t>
            </a:r>
            <a:r>
              <a:rPr lang="pt-PT" sz="1600" dirty="0" err="1"/>
              <a:t>r_res</a:t>
            </a:r>
            <a:r>
              <a:rPr lang="pt-PT" sz="1600" dirty="0"/>
              <a:t>) → </a:t>
            </a:r>
            <a:r>
              <a:rPr lang="pt-PT" sz="1600" dirty="0" err="1"/>
              <a:t>l_res</a:t>
            </a:r>
            <a:r>
              <a:rPr lang="pt-PT" sz="1600" dirty="0"/>
              <a:t> = </a:t>
            </a:r>
            <a:r>
              <a:rPr lang="pt-PT" sz="1600" dirty="0" err="1"/>
              <a:t>r_res</a:t>
            </a:r>
            <a:r>
              <a:rPr lang="pt-PT" sz="1600" dirty="0"/>
              <a:t> *)</a:t>
            </a:r>
            <a:endParaRPr lang="en-US" sz="1600" dirty="0"/>
          </a:p>
        </p:txBody>
      </p:sp>
      <p:sp>
        <p:nvSpPr>
          <p:cNvPr id="6" name="TextBox 5">
            <a:extLst>
              <a:ext uri="{FF2B5EF4-FFF2-40B4-BE49-F238E27FC236}">
                <a16:creationId xmlns:a16="http://schemas.microsoft.com/office/drawing/2014/main" id="{838FCAC9-C901-F459-CCA7-1F7718B712A7}"/>
              </a:ext>
            </a:extLst>
          </p:cNvPr>
          <p:cNvSpPr txBox="1"/>
          <p:nvPr/>
        </p:nvSpPr>
        <p:spPr>
          <a:xfrm>
            <a:off x="7081879" y="4479437"/>
            <a:ext cx="988989" cy="369332"/>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pt-PT" i="1" dirty="0" err="1">
                <a:solidFill>
                  <a:srgbClr val="002060"/>
                </a:solidFill>
              </a:rPr>
              <a:t>BipLang</a:t>
            </a:r>
            <a:endParaRPr lang="en-US" sz="2000" i="1" dirty="0">
              <a:solidFill>
                <a:srgbClr val="002060"/>
              </a:solidFill>
            </a:endParaRPr>
          </a:p>
        </p:txBody>
      </p:sp>
    </p:spTree>
    <p:extLst>
      <p:ext uri="{BB962C8B-B14F-4D97-AF65-F5344CB8AC3E}">
        <p14:creationId xmlns:p14="http://schemas.microsoft.com/office/powerpoint/2010/main" val="3936168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1" end="1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13" end="1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4" end="1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5" end="15"/>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5B06D-D839-F14B-4672-75B4F89455A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FA329DC-AEBA-6A4F-5C27-9E723C23FD98}"/>
              </a:ext>
            </a:extLst>
          </p:cNvPr>
          <p:cNvSpPr txBox="1"/>
          <p:nvPr/>
        </p:nvSpPr>
        <p:spPr>
          <a:xfrm>
            <a:off x="469556" y="459260"/>
            <a:ext cx="8204888" cy="954107"/>
          </a:xfrm>
          <a:prstGeom prst="rect">
            <a:avLst/>
          </a:prstGeom>
          <a:noFill/>
        </p:spPr>
        <p:txBody>
          <a:bodyPr wrap="square" rtlCol="0">
            <a:spAutoFit/>
          </a:bodyPr>
          <a:lstStyle/>
          <a:p>
            <a:r>
              <a:rPr lang="pt-PT" sz="2800" noProof="1">
                <a:solidFill>
                  <a:srgbClr val="002060"/>
                </a:solidFill>
              </a:rPr>
              <a:t>Induction Variable Strength Reduction -</a:t>
            </a:r>
          </a:p>
          <a:p>
            <a:r>
              <a:rPr lang="pt-PT" sz="2800" noProof="1">
                <a:solidFill>
                  <a:srgbClr val="002060"/>
                </a:solidFill>
              </a:rPr>
              <a:t>Product Program  (1/2)</a:t>
            </a:r>
            <a:endParaRPr lang="en-US" sz="2800" noProof="1"/>
          </a:p>
        </p:txBody>
      </p:sp>
      <p:sp>
        <p:nvSpPr>
          <p:cNvPr id="4" name="Slide Number Placeholder 3">
            <a:extLst>
              <a:ext uri="{FF2B5EF4-FFF2-40B4-BE49-F238E27FC236}">
                <a16:creationId xmlns:a16="http://schemas.microsoft.com/office/drawing/2014/main" id="{70BD45AB-AD05-79BD-2F1D-3741401F2F79}"/>
              </a:ext>
            </a:extLst>
          </p:cNvPr>
          <p:cNvSpPr>
            <a:spLocks noGrp="1"/>
          </p:cNvSpPr>
          <p:nvPr>
            <p:ph type="sldNum" sz="quarter" idx="12"/>
          </p:nvPr>
        </p:nvSpPr>
        <p:spPr/>
        <p:txBody>
          <a:bodyPr/>
          <a:lstStyle/>
          <a:p>
            <a:fld id="{292A9FD8-515A-4698-9313-0AB17EE9632B}" type="slidenum">
              <a:rPr lang="en-US" noProof="1" dirty="0" smtClean="0"/>
              <a:t>21</a:t>
            </a:fld>
            <a:endParaRPr lang="en-US" noProof="1"/>
          </a:p>
        </p:txBody>
      </p:sp>
      <p:sp>
        <p:nvSpPr>
          <p:cNvPr id="3" name="TextBox 2">
            <a:extLst>
              <a:ext uri="{FF2B5EF4-FFF2-40B4-BE49-F238E27FC236}">
                <a16:creationId xmlns:a16="http://schemas.microsoft.com/office/drawing/2014/main" id="{69243738-9AEF-0B9F-F297-E7C42F6EE883}"/>
              </a:ext>
            </a:extLst>
          </p:cNvPr>
          <p:cNvSpPr txBox="1"/>
          <p:nvPr/>
        </p:nvSpPr>
        <p:spPr>
          <a:xfrm>
            <a:off x="469556" y="1491362"/>
            <a:ext cx="8139601" cy="4031873"/>
          </a:xfrm>
          <a:prstGeom prst="rect">
            <a:avLst/>
          </a:prstGeom>
          <a:noFill/>
        </p:spPr>
        <p:txBody>
          <a:bodyPr wrap="none" rtlCol="0">
            <a:spAutoFit/>
          </a:bodyPr>
          <a:lstStyle/>
          <a:p>
            <a:r>
              <a:rPr lang="en-US" sz="1600" dirty="0">
                <a:solidFill>
                  <a:srgbClr val="F3530B"/>
                </a:solidFill>
              </a:rPr>
              <a:t>let</a:t>
            </a:r>
            <a:r>
              <a:rPr lang="en-US" sz="1600" dirty="0"/>
              <a:t> </a:t>
            </a:r>
            <a:r>
              <a:rPr lang="en-US" sz="1600" dirty="0" err="1"/>
              <a:t>induc_var_strength_red_ocaml</a:t>
            </a:r>
            <a:r>
              <a:rPr lang="en-US" sz="1600" dirty="0"/>
              <a:t> </a:t>
            </a:r>
            <a:r>
              <a:rPr lang="sv-SE" sz="1600" dirty="0"/>
              <a:t>(b_l : </a:t>
            </a:r>
            <a:r>
              <a:rPr lang="sv-SE" sz="1600" dirty="0">
                <a:solidFill>
                  <a:srgbClr val="F3530B"/>
                </a:solidFill>
              </a:rPr>
              <a:t>int</a:t>
            </a:r>
            <a:r>
              <a:rPr lang="sv-SE" sz="1600" dirty="0"/>
              <a:t>) (b_r : </a:t>
            </a:r>
            <a:r>
              <a:rPr lang="sv-SE" sz="1600" dirty="0">
                <a:solidFill>
                  <a:srgbClr val="F3530B"/>
                </a:solidFill>
              </a:rPr>
              <a:t>int</a:t>
            </a:r>
            <a:r>
              <a:rPr lang="sv-SE" sz="1600" dirty="0"/>
              <a:t>) (c_l : </a:t>
            </a:r>
            <a:r>
              <a:rPr lang="sv-SE" sz="1600" dirty="0">
                <a:solidFill>
                  <a:srgbClr val="F3530B"/>
                </a:solidFill>
              </a:rPr>
              <a:t>int</a:t>
            </a:r>
            <a:r>
              <a:rPr lang="sv-SE" sz="1600" dirty="0"/>
              <a:t>) (c_r : </a:t>
            </a:r>
            <a:r>
              <a:rPr lang="sv-SE" sz="1600" dirty="0">
                <a:solidFill>
                  <a:srgbClr val="F3530B"/>
                </a:solidFill>
              </a:rPr>
              <a:t>int</a:t>
            </a:r>
            <a:r>
              <a:rPr lang="sv-SE" sz="1600" dirty="0"/>
              <a:t>) (n_l : </a:t>
            </a:r>
            <a:r>
              <a:rPr lang="sv-SE" sz="1600" dirty="0">
                <a:solidFill>
                  <a:srgbClr val="F3530B"/>
                </a:solidFill>
              </a:rPr>
              <a:t>int</a:t>
            </a:r>
            <a:r>
              <a:rPr lang="sv-SE" sz="1600" dirty="0"/>
              <a:t>) (n_r : </a:t>
            </a:r>
            <a:r>
              <a:rPr lang="sv-SE" sz="1600" dirty="0">
                <a:solidFill>
                  <a:srgbClr val="F3530B"/>
                </a:solidFill>
              </a:rPr>
              <a:t>int</a:t>
            </a:r>
            <a:r>
              <a:rPr lang="sv-SE" sz="1600" dirty="0"/>
              <a:t>) : </a:t>
            </a:r>
          </a:p>
          <a:p>
            <a:r>
              <a:rPr lang="sv-SE" sz="1600" dirty="0"/>
              <a:t>	</a:t>
            </a:r>
            <a:r>
              <a:rPr lang="sv-SE" sz="1600" dirty="0">
                <a:solidFill>
                  <a:srgbClr val="F3530B"/>
                </a:solidFill>
              </a:rPr>
              <a:t>int</a:t>
            </a:r>
            <a:r>
              <a:rPr lang="sv-SE" sz="1600" dirty="0"/>
              <a:t> * </a:t>
            </a:r>
            <a:r>
              <a:rPr lang="sv-SE" sz="1600" dirty="0">
                <a:solidFill>
                  <a:srgbClr val="F3530B"/>
                </a:solidFill>
              </a:rPr>
              <a:t>int</a:t>
            </a:r>
            <a:r>
              <a:rPr lang="sv-SE" sz="1600" dirty="0"/>
              <a:t> =</a:t>
            </a:r>
          </a:p>
          <a:p>
            <a:endParaRPr lang="en-US" sz="1600" dirty="0">
              <a:solidFill>
                <a:schemeClr val="accent2"/>
              </a:solidFill>
            </a:endParaRPr>
          </a:p>
          <a:p>
            <a:r>
              <a:rPr lang="en-US" sz="1600" dirty="0"/>
              <a:t>	</a:t>
            </a:r>
            <a:r>
              <a:rPr lang="en-US" sz="1600" dirty="0">
                <a:solidFill>
                  <a:srgbClr val="F3530B"/>
                </a:solidFill>
              </a:rPr>
              <a:t>let</a:t>
            </a:r>
            <a:r>
              <a:rPr lang="en-US" sz="1600" dirty="0"/>
              <a:t> </a:t>
            </a:r>
            <a:r>
              <a:rPr lang="en-US" sz="1600" dirty="0" err="1"/>
              <a:t>i_l</a:t>
            </a:r>
            <a:r>
              <a:rPr lang="en-US" sz="1600" dirty="0"/>
              <a:t> = ref (0) </a:t>
            </a:r>
            <a:r>
              <a:rPr lang="en-US" sz="1600" dirty="0">
                <a:solidFill>
                  <a:srgbClr val="F3530B"/>
                </a:solidFill>
              </a:rPr>
              <a:t>in</a:t>
            </a:r>
            <a:r>
              <a:rPr lang="en-US" sz="1600" dirty="0"/>
              <a:t> </a:t>
            </a:r>
          </a:p>
          <a:p>
            <a:r>
              <a:rPr lang="en-US" sz="1600" dirty="0"/>
              <a:t>	</a:t>
            </a:r>
            <a:r>
              <a:rPr lang="en-US" sz="1600" dirty="0">
                <a:solidFill>
                  <a:srgbClr val="F3530B"/>
                </a:solidFill>
              </a:rPr>
              <a:t>let</a:t>
            </a:r>
            <a:r>
              <a:rPr lang="en-US" sz="1600" dirty="0"/>
              <a:t> </a:t>
            </a:r>
            <a:r>
              <a:rPr lang="en-US" sz="1600" dirty="0" err="1"/>
              <a:t>i_r</a:t>
            </a:r>
            <a:r>
              <a:rPr lang="en-US" sz="1600" dirty="0"/>
              <a:t> = ref (0) </a:t>
            </a:r>
            <a:r>
              <a:rPr lang="en-US" sz="1600" dirty="0">
                <a:solidFill>
                  <a:srgbClr val="F3530B"/>
                </a:solidFill>
              </a:rPr>
              <a:t>in</a:t>
            </a:r>
          </a:p>
          <a:p>
            <a:r>
              <a:rPr lang="en-US" sz="1600" dirty="0"/>
              <a:t>	</a:t>
            </a:r>
            <a:r>
              <a:rPr lang="en-US" sz="1600" dirty="0">
                <a:solidFill>
                  <a:srgbClr val="F3530B"/>
                </a:solidFill>
              </a:rPr>
              <a:t>let</a:t>
            </a:r>
            <a:r>
              <a:rPr lang="en-US" sz="1600" dirty="0"/>
              <a:t> </a:t>
            </a:r>
            <a:r>
              <a:rPr lang="en-US" sz="1600" dirty="0" err="1"/>
              <a:t>j_l</a:t>
            </a:r>
            <a:r>
              <a:rPr lang="en-US" sz="1600" dirty="0"/>
              <a:t> = ref (0) </a:t>
            </a:r>
            <a:r>
              <a:rPr lang="en-US" sz="1600" dirty="0">
                <a:solidFill>
                  <a:srgbClr val="F3530B"/>
                </a:solidFill>
              </a:rPr>
              <a:t>in</a:t>
            </a:r>
          </a:p>
          <a:p>
            <a:r>
              <a:rPr lang="en-US" sz="1600" dirty="0"/>
              <a:t>	</a:t>
            </a:r>
            <a:r>
              <a:rPr lang="en-US" sz="1600" dirty="0">
                <a:solidFill>
                  <a:srgbClr val="F3530B"/>
                </a:solidFill>
              </a:rPr>
              <a:t>let</a:t>
            </a:r>
            <a:r>
              <a:rPr lang="en-US" sz="1600" dirty="0"/>
              <a:t> </a:t>
            </a:r>
            <a:r>
              <a:rPr lang="en-US" sz="1600" dirty="0" err="1"/>
              <a:t>j_r</a:t>
            </a:r>
            <a:r>
              <a:rPr lang="en-US" sz="1600" dirty="0"/>
              <a:t> = ref (</a:t>
            </a:r>
            <a:r>
              <a:rPr lang="en-US" sz="1600" dirty="0" err="1"/>
              <a:t>c_r</a:t>
            </a:r>
            <a:r>
              <a:rPr lang="en-US" sz="1600" dirty="0"/>
              <a:t>) </a:t>
            </a:r>
            <a:r>
              <a:rPr lang="en-US" sz="1600" dirty="0">
                <a:solidFill>
                  <a:srgbClr val="F3530B"/>
                </a:solidFill>
              </a:rPr>
              <a:t>in</a:t>
            </a:r>
            <a:r>
              <a:rPr lang="en-US" sz="1600" dirty="0"/>
              <a:t> </a:t>
            </a:r>
          </a:p>
          <a:p>
            <a:r>
              <a:rPr lang="en-US" sz="1600" dirty="0"/>
              <a:t>	</a:t>
            </a:r>
            <a:r>
              <a:rPr lang="en-US" sz="1600" dirty="0">
                <a:solidFill>
                  <a:srgbClr val="F3530B"/>
                </a:solidFill>
              </a:rPr>
              <a:t>let</a:t>
            </a:r>
            <a:r>
              <a:rPr lang="en-US" sz="1600" dirty="0"/>
              <a:t> </a:t>
            </a:r>
            <a:r>
              <a:rPr lang="en-US" sz="1600" dirty="0" err="1"/>
              <a:t>x_l</a:t>
            </a:r>
            <a:r>
              <a:rPr lang="en-US" sz="1600" dirty="0"/>
              <a:t> = ref (0) </a:t>
            </a:r>
            <a:r>
              <a:rPr lang="en-US" sz="1600" dirty="0">
                <a:solidFill>
                  <a:srgbClr val="F3530B"/>
                </a:solidFill>
              </a:rPr>
              <a:t>in</a:t>
            </a:r>
            <a:r>
              <a:rPr lang="en-US" sz="1600" dirty="0"/>
              <a:t> </a:t>
            </a:r>
          </a:p>
          <a:p>
            <a:r>
              <a:rPr lang="en-US" sz="1600" dirty="0"/>
              <a:t>	</a:t>
            </a:r>
            <a:r>
              <a:rPr lang="en-US" sz="1600" dirty="0">
                <a:solidFill>
                  <a:srgbClr val="F3530B"/>
                </a:solidFill>
              </a:rPr>
              <a:t>let</a:t>
            </a:r>
            <a:r>
              <a:rPr lang="en-US" sz="1600" dirty="0"/>
              <a:t> </a:t>
            </a:r>
            <a:r>
              <a:rPr lang="en-US" sz="1600" dirty="0" err="1"/>
              <a:t>x_r</a:t>
            </a:r>
            <a:r>
              <a:rPr lang="en-US" sz="1600" dirty="0"/>
              <a:t> = ref (0) </a:t>
            </a:r>
            <a:r>
              <a:rPr lang="en-US" sz="1600" dirty="0">
                <a:solidFill>
                  <a:srgbClr val="F3530B"/>
                </a:solidFill>
              </a:rPr>
              <a:t>in</a:t>
            </a:r>
          </a:p>
          <a:p>
            <a:endParaRPr lang="en-US" sz="1600" dirty="0"/>
          </a:p>
          <a:p>
            <a:r>
              <a:rPr lang="en-US" sz="1600" dirty="0"/>
              <a:t>	</a:t>
            </a:r>
            <a:r>
              <a:rPr lang="pt-PT" sz="1600" dirty="0" err="1">
                <a:solidFill>
                  <a:srgbClr val="F3530B"/>
                </a:solidFill>
              </a:rPr>
              <a:t>while</a:t>
            </a:r>
            <a:r>
              <a:rPr lang="pt-PT" sz="1600" dirty="0"/>
              <a:t> </a:t>
            </a:r>
            <a:r>
              <a:rPr lang="en-US" sz="1600" dirty="0"/>
              <a:t>(!</a:t>
            </a:r>
            <a:r>
              <a:rPr lang="en-US" sz="1600" dirty="0" err="1"/>
              <a:t>i_l</a:t>
            </a:r>
            <a:r>
              <a:rPr lang="en-US" sz="1600" dirty="0"/>
              <a:t> &lt; </a:t>
            </a:r>
            <a:r>
              <a:rPr lang="en-US" sz="1600" dirty="0" err="1"/>
              <a:t>n_l</a:t>
            </a:r>
            <a:r>
              <a:rPr lang="en-US" sz="1600" dirty="0"/>
              <a:t>) </a:t>
            </a:r>
            <a:r>
              <a:rPr lang="pt-PT" sz="1600" dirty="0">
                <a:solidFill>
                  <a:srgbClr val="F3530B"/>
                </a:solidFill>
              </a:rPr>
              <a:t>do</a:t>
            </a:r>
            <a:r>
              <a:rPr lang="pt-PT" sz="1600" dirty="0"/>
              <a:t> </a:t>
            </a:r>
          </a:p>
          <a:p>
            <a:r>
              <a:rPr lang="pt-PT" sz="1600" dirty="0"/>
              <a:t>		(*@ </a:t>
            </a:r>
            <a:r>
              <a:rPr lang="pt-PT" sz="1600" dirty="0" err="1">
                <a:solidFill>
                  <a:srgbClr val="F3530B"/>
                </a:solidFill>
              </a:rPr>
              <a:t>invariant</a:t>
            </a:r>
            <a:r>
              <a:rPr lang="pt-PT" sz="1600" dirty="0"/>
              <a:t>  ((!</a:t>
            </a:r>
            <a:r>
              <a:rPr lang="pt-PT" sz="1600" dirty="0" err="1"/>
              <a:t>i_l</a:t>
            </a:r>
            <a:r>
              <a:rPr lang="pt-PT" sz="1600" dirty="0"/>
              <a:t> &lt; </a:t>
            </a:r>
            <a:r>
              <a:rPr lang="pt-PT" sz="1600" dirty="0" err="1"/>
              <a:t>n_l</a:t>
            </a:r>
            <a:r>
              <a:rPr lang="pt-PT" sz="1600" dirty="0"/>
              <a:t>)) ↔ ((!</a:t>
            </a:r>
            <a:r>
              <a:rPr lang="pt-PT" sz="1600" dirty="0" err="1"/>
              <a:t>i_r</a:t>
            </a:r>
            <a:r>
              <a:rPr lang="pt-PT" sz="1600" dirty="0"/>
              <a:t> &lt; </a:t>
            </a:r>
            <a:r>
              <a:rPr lang="pt-PT" sz="1600" dirty="0" err="1"/>
              <a:t>n_r</a:t>
            </a:r>
            <a:r>
              <a:rPr lang="pt-PT" sz="1600" dirty="0"/>
              <a:t>))</a:t>
            </a:r>
          </a:p>
          <a:p>
            <a:r>
              <a:rPr lang="pt-PT" sz="1600" dirty="0">
                <a:solidFill>
                  <a:schemeClr val="accent2"/>
                </a:solidFill>
              </a:rPr>
              <a:t>		         </a:t>
            </a:r>
            <a:r>
              <a:rPr lang="pt-PT" sz="1600" dirty="0" err="1">
                <a:solidFill>
                  <a:srgbClr val="F3530B"/>
                </a:solidFill>
              </a:rPr>
              <a:t>variant</a:t>
            </a:r>
            <a:r>
              <a:rPr lang="pt-PT" sz="1600" dirty="0"/>
              <a:t>      </a:t>
            </a:r>
            <a:r>
              <a:rPr lang="pt-PT" sz="1600" dirty="0" err="1"/>
              <a:t>n_l</a:t>
            </a:r>
            <a:r>
              <a:rPr lang="pt-PT" sz="1600" dirty="0"/>
              <a:t> - !</a:t>
            </a:r>
            <a:r>
              <a:rPr lang="pt-PT" sz="1600" dirty="0" err="1"/>
              <a:t>i_l</a:t>
            </a:r>
            <a:r>
              <a:rPr lang="pt-PT" sz="1600" dirty="0"/>
              <a:t> </a:t>
            </a:r>
          </a:p>
          <a:p>
            <a:r>
              <a:rPr lang="pt-PT" sz="1600" dirty="0"/>
              <a:t>		         </a:t>
            </a:r>
            <a:r>
              <a:rPr lang="pt-PT" sz="1600" dirty="0" err="1">
                <a:solidFill>
                  <a:srgbClr val="F3530B"/>
                </a:solidFill>
              </a:rPr>
              <a:t>invariant</a:t>
            </a:r>
            <a:r>
              <a:rPr lang="pt-PT" sz="1600" dirty="0"/>
              <a:t>  !</a:t>
            </a:r>
            <a:r>
              <a:rPr lang="pt-PT" sz="1600" dirty="0" err="1"/>
              <a:t>i_l</a:t>
            </a:r>
            <a:r>
              <a:rPr lang="pt-PT" sz="1600" dirty="0"/>
              <a:t> = !</a:t>
            </a:r>
            <a:r>
              <a:rPr lang="pt-PT" sz="1600" dirty="0" err="1"/>
              <a:t>i_r</a:t>
            </a:r>
            <a:r>
              <a:rPr lang="pt-PT" sz="1600" dirty="0"/>
              <a:t> </a:t>
            </a:r>
          </a:p>
          <a:p>
            <a:r>
              <a:rPr lang="pt-PT" sz="1600" dirty="0"/>
              <a:t>		         </a:t>
            </a:r>
            <a:r>
              <a:rPr lang="pt-PT" sz="1600" dirty="0" err="1">
                <a:solidFill>
                  <a:srgbClr val="F3530B"/>
                </a:solidFill>
              </a:rPr>
              <a:t>invariant</a:t>
            </a:r>
            <a:r>
              <a:rPr lang="pt-PT" sz="1600" dirty="0"/>
              <a:t>  !</a:t>
            </a:r>
            <a:r>
              <a:rPr lang="pt-PT" sz="1600" dirty="0" err="1"/>
              <a:t>x_l</a:t>
            </a:r>
            <a:r>
              <a:rPr lang="pt-PT" sz="1600" dirty="0"/>
              <a:t> = !</a:t>
            </a:r>
            <a:r>
              <a:rPr lang="pt-PT" sz="1600" dirty="0" err="1"/>
              <a:t>x_r</a:t>
            </a:r>
            <a:r>
              <a:rPr lang="pt-PT" sz="1600" dirty="0"/>
              <a:t> </a:t>
            </a:r>
          </a:p>
          <a:p>
            <a:r>
              <a:rPr lang="pt-PT" sz="1600" dirty="0"/>
              <a:t>		         </a:t>
            </a:r>
            <a:r>
              <a:rPr lang="pt-PT" sz="1600" dirty="0" err="1">
                <a:solidFill>
                  <a:srgbClr val="F3530B"/>
                </a:solidFill>
              </a:rPr>
              <a:t>invariant</a:t>
            </a:r>
            <a:r>
              <a:rPr lang="pt-PT" sz="1600" dirty="0"/>
              <a:t>  !</a:t>
            </a:r>
            <a:r>
              <a:rPr lang="pt-PT" sz="1600" dirty="0" err="1"/>
              <a:t>j_r</a:t>
            </a:r>
            <a:r>
              <a:rPr lang="pt-PT" sz="1600" dirty="0"/>
              <a:t> = !</a:t>
            </a:r>
            <a:r>
              <a:rPr lang="pt-PT" sz="1600" dirty="0" err="1"/>
              <a:t>i_r</a:t>
            </a:r>
            <a:r>
              <a:rPr lang="pt-PT" sz="1600" dirty="0"/>
              <a:t> * </a:t>
            </a:r>
            <a:r>
              <a:rPr lang="pt-PT" sz="1600" dirty="0" err="1"/>
              <a:t>b_r</a:t>
            </a:r>
            <a:r>
              <a:rPr lang="pt-PT" sz="1600" dirty="0"/>
              <a:t> + </a:t>
            </a:r>
            <a:r>
              <a:rPr lang="pt-PT" sz="1600" dirty="0" err="1"/>
              <a:t>c_r</a:t>
            </a:r>
            <a:r>
              <a:rPr lang="pt-PT" sz="1600" dirty="0"/>
              <a:t> *)</a:t>
            </a:r>
          </a:p>
        </p:txBody>
      </p:sp>
      <p:sp>
        <p:nvSpPr>
          <p:cNvPr id="7" name="TextBox 6">
            <a:extLst>
              <a:ext uri="{FF2B5EF4-FFF2-40B4-BE49-F238E27FC236}">
                <a16:creationId xmlns:a16="http://schemas.microsoft.com/office/drawing/2014/main" id="{47FC79D1-0BBA-9A75-2C5C-88391008E030}"/>
              </a:ext>
            </a:extLst>
          </p:cNvPr>
          <p:cNvSpPr txBox="1"/>
          <p:nvPr/>
        </p:nvSpPr>
        <p:spPr>
          <a:xfrm>
            <a:off x="7421762" y="4321877"/>
            <a:ext cx="893193" cy="369332"/>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pt-PT" i="1" dirty="0" err="1">
                <a:solidFill>
                  <a:srgbClr val="002060"/>
                </a:solidFill>
              </a:rPr>
              <a:t>OCaml</a:t>
            </a:r>
            <a:endParaRPr lang="en-US" sz="2000" i="1" dirty="0">
              <a:solidFill>
                <a:srgbClr val="002060"/>
              </a:solidFill>
            </a:endParaRPr>
          </a:p>
        </p:txBody>
      </p:sp>
    </p:spTree>
    <p:extLst>
      <p:ext uri="{BB962C8B-B14F-4D97-AF65-F5344CB8AC3E}">
        <p14:creationId xmlns:p14="http://schemas.microsoft.com/office/powerpoint/2010/main" val="3189384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0" end="1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1" end="1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2" end="1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3" end="1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4" end="1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B914A-439F-DA5D-A3DD-FEC1C1E271C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8F84FB8-B2C7-8AD3-F208-3932D3502E15}"/>
              </a:ext>
            </a:extLst>
          </p:cNvPr>
          <p:cNvSpPr txBox="1"/>
          <p:nvPr/>
        </p:nvSpPr>
        <p:spPr>
          <a:xfrm>
            <a:off x="469556" y="626071"/>
            <a:ext cx="8204888" cy="954107"/>
          </a:xfrm>
          <a:prstGeom prst="rect">
            <a:avLst/>
          </a:prstGeom>
          <a:noFill/>
        </p:spPr>
        <p:txBody>
          <a:bodyPr wrap="square" rtlCol="0">
            <a:spAutoFit/>
          </a:bodyPr>
          <a:lstStyle/>
          <a:p>
            <a:r>
              <a:rPr lang="pt-PT" sz="2800" noProof="1">
                <a:solidFill>
                  <a:srgbClr val="002060"/>
                </a:solidFill>
              </a:rPr>
              <a:t>Induction Variable Strength Reduction -</a:t>
            </a:r>
          </a:p>
          <a:p>
            <a:r>
              <a:rPr lang="pt-PT" sz="2800" noProof="1">
                <a:solidFill>
                  <a:srgbClr val="002060"/>
                </a:solidFill>
              </a:rPr>
              <a:t>Product Program  (2/2)</a:t>
            </a:r>
            <a:endParaRPr lang="en-US" sz="2800" noProof="1"/>
          </a:p>
        </p:txBody>
      </p:sp>
      <p:sp>
        <p:nvSpPr>
          <p:cNvPr id="4" name="Slide Number Placeholder 3">
            <a:extLst>
              <a:ext uri="{FF2B5EF4-FFF2-40B4-BE49-F238E27FC236}">
                <a16:creationId xmlns:a16="http://schemas.microsoft.com/office/drawing/2014/main" id="{6788D123-700C-C59D-3834-68A214DBCC89}"/>
              </a:ext>
            </a:extLst>
          </p:cNvPr>
          <p:cNvSpPr>
            <a:spLocks noGrp="1"/>
          </p:cNvSpPr>
          <p:nvPr>
            <p:ph type="sldNum" sz="quarter" idx="12"/>
          </p:nvPr>
        </p:nvSpPr>
        <p:spPr/>
        <p:txBody>
          <a:bodyPr/>
          <a:lstStyle/>
          <a:p>
            <a:fld id="{292A9FD8-515A-4698-9313-0AB17EE9632B}" type="slidenum">
              <a:rPr lang="en-US" noProof="1" dirty="0" smtClean="0"/>
              <a:t>22</a:t>
            </a:fld>
            <a:endParaRPr lang="en-US" noProof="1"/>
          </a:p>
        </p:txBody>
      </p:sp>
      <p:sp>
        <p:nvSpPr>
          <p:cNvPr id="3" name="TextBox 2">
            <a:extLst>
              <a:ext uri="{FF2B5EF4-FFF2-40B4-BE49-F238E27FC236}">
                <a16:creationId xmlns:a16="http://schemas.microsoft.com/office/drawing/2014/main" id="{9FE1EC12-0753-1288-6196-ED65D450434C}"/>
              </a:ext>
            </a:extLst>
          </p:cNvPr>
          <p:cNvSpPr txBox="1"/>
          <p:nvPr/>
        </p:nvSpPr>
        <p:spPr>
          <a:xfrm>
            <a:off x="469556" y="1936811"/>
            <a:ext cx="5458417" cy="2800767"/>
          </a:xfrm>
          <a:prstGeom prst="rect">
            <a:avLst/>
          </a:prstGeom>
          <a:noFill/>
        </p:spPr>
        <p:txBody>
          <a:bodyPr wrap="none" rtlCol="0">
            <a:spAutoFit/>
          </a:bodyPr>
          <a:lstStyle/>
          <a:p>
            <a:r>
              <a:rPr lang="pt-PT" sz="1600" dirty="0"/>
              <a:t>		</a:t>
            </a:r>
            <a:r>
              <a:rPr lang="pt-PT" sz="1600" dirty="0" err="1"/>
              <a:t>j_l</a:t>
            </a:r>
            <a:r>
              <a:rPr lang="pt-PT" sz="1600" dirty="0"/>
              <a:t> := ((!</a:t>
            </a:r>
            <a:r>
              <a:rPr lang="pt-PT" sz="1600" dirty="0" err="1"/>
              <a:t>i_l</a:t>
            </a:r>
            <a:r>
              <a:rPr lang="pt-PT" sz="1600" dirty="0"/>
              <a:t> * </a:t>
            </a:r>
            <a:r>
              <a:rPr lang="pt-PT" sz="1600" dirty="0" err="1"/>
              <a:t>b_l</a:t>
            </a:r>
            <a:r>
              <a:rPr lang="pt-PT" sz="1600" dirty="0"/>
              <a:t>) + </a:t>
            </a:r>
            <a:r>
              <a:rPr lang="pt-PT" sz="1600" dirty="0" err="1"/>
              <a:t>c_l</a:t>
            </a:r>
            <a:r>
              <a:rPr lang="pt-PT" sz="1600" dirty="0"/>
              <a:t>);</a:t>
            </a:r>
          </a:p>
          <a:p>
            <a:r>
              <a:rPr lang="pt-PT" sz="1600" dirty="0"/>
              <a:t>		</a:t>
            </a:r>
            <a:r>
              <a:rPr lang="pt-PT" sz="1600" dirty="0" err="1"/>
              <a:t>x_r</a:t>
            </a:r>
            <a:r>
              <a:rPr lang="pt-PT" sz="1600" dirty="0"/>
              <a:t> := (!</a:t>
            </a:r>
            <a:r>
              <a:rPr lang="pt-PT" sz="1600" dirty="0" err="1"/>
              <a:t>x_r</a:t>
            </a:r>
            <a:r>
              <a:rPr lang="pt-PT" sz="1600" dirty="0"/>
              <a:t> + !</a:t>
            </a:r>
            <a:r>
              <a:rPr lang="pt-PT" sz="1600" dirty="0" err="1"/>
              <a:t>j_r</a:t>
            </a:r>
            <a:r>
              <a:rPr lang="pt-PT" sz="1600" dirty="0"/>
              <a:t>);</a:t>
            </a:r>
          </a:p>
          <a:p>
            <a:r>
              <a:rPr lang="pt-PT" sz="1600" dirty="0"/>
              <a:t>		</a:t>
            </a:r>
            <a:r>
              <a:rPr lang="pt-PT" sz="1600" dirty="0" err="1"/>
              <a:t>x_l</a:t>
            </a:r>
            <a:r>
              <a:rPr lang="pt-PT" sz="1600" dirty="0"/>
              <a:t> := (!</a:t>
            </a:r>
            <a:r>
              <a:rPr lang="pt-PT" sz="1600" dirty="0" err="1"/>
              <a:t>x_l</a:t>
            </a:r>
            <a:r>
              <a:rPr lang="pt-PT" sz="1600" dirty="0"/>
              <a:t> + !</a:t>
            </a:r>
            <a:r>
              <a:rPr lang="pt-PT" sz="1600" dirty="0" err="1"/>
              <a:t>j_l</a:t>
            </a:r>
            <a:r>
              <a:rPr lang="pt-PT" sz="1600" dirty="0"/>
              <a:t>);</a:t>
            </a:r>
          </a:p>
          <a:p>
            <a:pPr lvl="2"/>
            <a:r>
              <a:rPr lang="pt-PT" sz="1600" dirty="0" err="1"/>
              <a:t>j_r</a:t>
            </a:r>
            <a:r>
              <a:rPr lang="pt-PT" sz="1600" dirty="0"/>
              <a:t> := (!</a:t>
            </a:r>
            <a:r>
              <a:rPr lang="pt-PT" sz="1600" dirty="0" err="1"/>
              <a:t>j_r</a:t>
            </a:r>
            <a:r>
              <a:rPr lang="pt-PT" sz="1600" dirty="0"/>
              <a:t> + </a:t>
            </a:r>
            <a:r>
              <a:rPr lang="pt-PT" sz="1600" dirty="0" err="1"/>
              <a:t>b_r</a:t>
            </a:r>
            <a:r>
              <a:rPr lang="pt-PT" sz="1600" dirty="0"/>
              <a:t>);</a:t>
            </a:r>
          </a:p>
          <a:p>
            <a:pPr lvl="2"/>
            <a:r>
              <a:rPr lang="pt-PT" sz="1600" dirty="0" err="1"/>
              <a:t>i_l</a:t>
            </a:r>
            <a:r>
              <a:rPr lang="pt-PT" sz="1600" dirty="0"/>
              <a:t> := (!</a:t>
            </a:r>
            <a:r>
              <a:rPr lang="pt-PT" sz="1600" dirty="0" err="1"/>
              <a:t>i_l</a:t>
            </a:r>
            <a:r>
              <a:rPr lang="pt-PT" sz="1600" dirty="0"/>
              <a:t> + 1); </a:t>
            </a:r>
          </a:p>
          <a:p>
            <a:pPr lvl="2"/>
            <a:r>
              <a:rPr lang="pt-PT" sz="1600" dirty="0" err="1"/>
              <a:t>i_r</a:t>
            </a:r>
            <a:r>
              <a:rPr lang="pt-PT" sz="1600" dirty="0"/>
              <a:t> := (!</a:t>
            </a:r>
            <a:r>
              <a:rPr lang="pt-PT" sz="1600" dirty="0" err="1"/>
              <a:t>i_r</a:t>
            </a:r>
            <a:r>
              <a:rPr lang="pt-PT" sz="1600" dirty="0"/>
              <a:t> + 1) </a:t>
            </a:r>
          </a:p>
          <a:p>
            <a:r>
              <a:rPr lang="pt-PT" sz="1600" dirty="0"/>
              <a:t>	</a:t>
            </a:r>
            <a:r>
              <a:rPr lang="pt-PT" sz="1600" dirty="0" err="1">
                <a:solidFill>
                  <a:srgbClr val="F3530B"/>
                </a:solidFill>
              </a:rPr>
              <a:t>done</a:t>
            </a:r>
            <a:r>
              <a:rPr lang="pt-PT" sz="1600" dirty="0"/>
              <a:t>; </a:t>
            </a:r>
          </a:p>
          <a:p>
            <a:endParaRPr lang="pt-PT" sz="1600" dirty="0"/>
          </a:p>
          <a:p>
            <a:r>
              <a:rPr lang="pt-PT" sz="1600" dirty="0"/>
              <a:t>	(!</a:t>
            </a:r>
            <a:r>
              <a:rPr lang="pt-PT" sz="1600" dirty="0" err="1"/>
              <a:t>x_l</a:t>
            </a:r>
            <a:r>
              <a:rPr lang="pt-PT" sz="1600" dirty="0"/>
              <a:t>, !</a:t>
            </a:r>
            <a:r>
              <a:rPr lang="pt-PT" sz="1600" dirty="0" err="1"/>
              <a:t>x_r</a:t>
            </a:r>
            <a:r>
              <a:rPr lang="pt-PT" sz="1600" dirty="0"/>
              <a:t>) </a:t>
            </a:r>
          </a:p>
          <a:p>
            <a:r>
              <a:rPr lang="pt-PT" sz="1600" dirty="0"/>
              <a:t>(*@ </a:t>
            </a:r>
            <a:r>
              <a:rPr lang="pt-PT" sz="1600" dirty="0" err="1">
                <a:solidFill>
                  <a:srgbClr val="F3530B"/>
                </a:solidFill>
              </a:rPr>
              <a:t>requires</a:t>
            </a:r>
            <a:r>
              <a:rPr lang="pt-PT" sz="1600" dirty="0"/>
              <a:t>  </a:t>
            </a:r>
            <a:r>
              <a:rPr lang="pt-PT" sz="1600" dirty="0" err="1"/>
              <a:t>b_l</a:t>
            </a:r>
            <a:r>
              <a:rPr lang="pt-PT" sz="1600" dirty="0"/>
              <a:t> = </a:t>
            </a:r>
            <a:r>
              <a:rPr lang="pt-PT" sz="1600" dirty="0" err="1"/>
              <a:t>b_r</a:t>
            </a:r>
            <a:r>
              <a:rPr lang="pt-PT" sz="1600" dirty="0"/>
              <a:t> &amp;&amp; </a:t>
            </a:r>
            <a:r>
              <a:rPr lang="pt-PT" sz="1600" dirty="0" err="1"/>
              <a:t>c_l</a:t>
            </a:r>
            <a:r>
              <a:rPr lang="pt-PT" sz="1600" dirty="0"/>
              <a:t> = </a:t>
            </a:r>
            <a:r>
              <a:rPr lang="pt-PT" sz="1600" dirty="0" err="1"/>
              <a:t>c_r</a:t>
            </a:r>
            <a:r>
              <a:rPr lang="pt-PT" sz="1600" dirty="0"/>
              <a:t> &amp;&amp; </a:t>
            </a:r>
            <a:r>
              <a:rPr lang="pt-PT" sz="1600" dirty="0" err="1"/>
              <a:t>n_l</a:t>
            </a:r>
            <a:r>
              <a:rPr lang="pt-PT" sz="1600" dirty="0"/>
              <a:t> = </a:t>
            </a:r>
            <a:r>
              <a:rPr lang="pt-PT" sz="1600" dirty="0" err="1"/>
              <a:t>n_r</a:t>
            </a:r>
            <a:r>
              <a:rPr lang="pt-PT" sz="1600" dirty="0"/>
              <a:t> </a:t>
            </a:r>
          </a:p>
          <a:p>
            <a:r>
              <a:rPr lang="pt-PT" sz="1600" dirty="0"/>
              <a:t>         </a:t>
            </a:r>
            <a:r>
              <a:rPr lang="pt-PT" sz="1600" dirty="0" err="1">
                <a:solidFill>
                  <a:srgbClr val="F3530B"/>
                </a:solidFill>
              </a:rPr>
              <a:t>ensures</a:t>
            </a:r>
            <a:r>
              <a:rPr lang="pt-PT" sz="1600" dirty="0"/>
              <a:t>  match </a:t>
            </a:r>
            <a:r>
              <a:rPr lang="pt-PT" sz="1600" dirty="0" err="1"/>
              <a:t>result</a:t>
            </a:r>
            <a:r>
              <a:rPr lang="pt-PT" sz="1600" dirty="0"/>
              <a:t> </a:t>
            </a:r>
            <a:r>
              <a:rPr lang="pt-PT" sz="1600" dirty="0" err="1"/>
              <a:t>with</a:t>
            </a:r>
            <a:r>
              <a:rPr lang="pt-PT" sz="1600" dirty="0"/>
              <a:t> (</a:t>
            </a:r>
            <a:r>
              <a:rPr lang="pt-PT" sz="1600" dirty="0" err="1"/>
              <a:t>l_res</a:t>
            </a:r>
            <a:r>
              <a:rPr lang="pt-PT" sz="1600" dirty="0"/>
              <a:t>, </a:t>
            </a:r>
            <a:r>
              <a:rPr lang="pt-PT" sz="1600" dirty="0" err="1"/>
              <a:t>r_res</a:t>
            </a:r>
            <a:r>
              <a:rPr lang="pt-PT" sz="1600" dirty="0"/>
              <a:t>) → </a:t>
            </a:r>
            <a:r>
              <a:rPr lang="pt-PT" sz="1600" dirty="0" err="1"/>
              <a:t>l_res</a:t>
            </a:r>
            <a:r>
              <a:rPr lang="pt-PT" sz="1600" dirty="0"/>
              <a:t> = </a:t>
            </a:r>
            <a:r>
              <a:rPr lang="pt-PT" sz="1600" dirty="0" err="1"/>
              <a:t>r_res</a:t>
            </a:r>
            <a:r>
              <a:rPr lang="pt-PT" sz="1600" dirty="0"/>
              <a:t> *)</a:t>
            </a:r>
            <a:endParaRPr lang="en-US" sz="1600" dirty="0"/>
          </a:p>
        </p:txBody>
      </p:sp>
      <p:sp>
        <p:nvSpPr>
          <p:cNvPr id="7" name="TextBox 6">
            <a:extLst>
              <a:ext uri="{FF2B5EF4-FFF2-40B4-BE49-F238E27FC236}">
                <a16:creationId xmlns:a16="http://schemas.microsoft.com/office/drawing/2014/main" id="{ABA848BC-854F-4F5E-1390-34D1893D54A5}"/>
              </a:ext>
            </a:extLst>
          </p:cNvPr>
          <p:cNvSpPr txBox="1"/>
          <p:nvPr/>
        </p:nvSpPr>
        <p:spPr>
          <a:xfrm>
            <a:off x="7486650" y="1936811"/>
            <a:ext cx="893193" cy="369332"/>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pt-PT" i="1" dirty="0" err="1">
                <a:solidFill>
                  <a:srgbClr val="002060"/>
                </a:solidFill>
              </a:rPr>
              <a:t>OCaml</a:t>
            </a:r>
            <a:endParaRPr lang="en-US" sz="2000" i="1" dirty="0">
              <a:solidFill>
                <a:srgbClr val="002060"/>
              </a:solidFill>
            </a:endParaRPr>
          </a:p>
        </p:txBody>
      </p:sp>
    </p:spTree>
    <p:extLst>
      <p:ext uri="{BB962C8B-B14F-4D97-AF65-F5344CB8AC3E}">
        <p14:creationId xmlns:p14="http://schemas.microsoft.com/office/powerpoint/2010/main" val="6707901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9" end="9"/>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A507E-E9EF-476E-C642-422F2B75A1B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D2DAB50-D575-58DC-DD1E-645D74019E70}"/>
              </a:ext>
            </a:extLst>
          </p:cNvPr>
          <p:cNvSpPr txBox="1"/>
          <p:nvPr/>
        </p:nvSpPr>
        <p:spPr>
          <a:xfrm>
            <a:off x="469556" y="626071"/>
            <a:ext cx="8204888" cy="523220"/>
          </a:xfrm>
          <a:prstGeom prst="rect">
            <a:avLst/>
          </a:prstGeom>
          <a:noFill/>
        </p:spPr>
        <p:txBody>
          <a:bodyPr wrap="square" rtlCol="0">
            <a:spAutoFit/>
          </a:bodyPr>
          <a:lstStyle/>
          <a:p>
            <a:r>
              <a:rPr lang="pt-PT" sz="2800" noProof="1">
                <a:solidFill>
                  <a:srgbClr val="002060"/>
                </a:solidFill>
              </a:rPr>
              <a:t>Translation Rules</a:t>
            </a:r>
            <a:endParaRPr lang="en-US" sz="2800" noProof="1"/>
          </a:p>
        </p:txBody>
      </p:sp>
      <p:sp>
        <p:nvSpPr>
          <p:cNvPr id="4" name="Slide Number Placeholder 3">
            <a:extLst>
              <a:ext uri="{FF2B5EF4-FFF2-40B4-BE49-F238E27FC236}">
                <a16:creationId xmlns:a16="http://schemas.microsoft.com/office/drawing/2014/main" id="{08EB04F8-B974-4381-C0C2-C7255B408269}"/>
              </a:ext>
            </a:extLst>
          </p:cNvPr>
          <p:cNvSpPr>
            <a:spLocks noGrp="1"/>
          </p:cNvSpPr>
          <p:nvPr>
            <p:ph type="sldNum" sz="quarter" idx="12"/>
          </p:nvPr>
        </p:nvSpPr>
        <p:spPr/>
        <p:txBody>
          <a:bodyPr/>
          <a:lstStyle/>
          <a:p>
            <a:fld id="{292A9FD8-515A-4698-9313-0AB17EE9632B}" type="slidenum">
              <a:rPr lang="en-US" noProof="1" dirty="0" smtClean="0"/>
              <a:t>23</a:t>
            </a:fld>
            <a:endParaRPr lang="en-US" noProof="1"/>
          </a:p>
        </p:txBody>
      </p:sp>
      <p:pic>
        <p:nvPicPr>
          <p:cNvPr id="5" name="Picture 4" descr="A screenshot of a computer code&#10;&#10;AI-generated content may be incorrect.">
            <a:extLst>
              <a:ext uri="{FF2B5EF4-FFF2-40B4-BE49-F238E27FC236}">
                <a16:creationId xmlns:a16="http://schemas.microsoft.com/office/drawing/2014/main" id="{86434F73-6A19-CA90-9010-06047899B317}"/>
              </a:ext>
            </a:extLst>
          </p:cNvPr>
          <p:cNvPicPr>
            <a:picLocks noChangeAspect="1"/>
          </p:cNvPicPr>
          <p:nvPr/>
        </p:nvPicPr>
        <p:blipFill>
          <a:blip r:embed="rId2">
            <a:extLst>
              <a:ext uri="{28A0092B-C50C-407E-A947-70E740481C1C}">
                <a14:useLocalDpi xmlns:a14="http://schemas.microsoft.com/office/drawing/2010/main" val="0"/>
              </a:ext>
            </a:extLst>
          </a:blip>
          <a:srcRect l="3389" t="41831" b="25311"/>
          <a:stretch>
            <a:fillRect/>
          </a:stretch>
        </p:blipFill>
        <p:spPr>
          <a:xfrm>
            <a:off x="469556" y="1270565"/>
            <a:ext cx="6680887" cy="2288547"/>
          </a:xfrm>
          <a:prstGeom prst="rect">
            <a:avLst/>
          </a:prstGeom>
        </p:spPr>
      </p:pic>
      <p:pic>
        <p:nvPicPr>
          <p:cNvPr id="3" name="Picture 2" descr="A screenshot of a computer code">
            <a:extLst>
              <a:ext uri="{FF2B5EF4-FFF2-40B4-BE49-F238E27FC236}">
                <a16:creationId xmlns:a16="http://schemas.microsoft.com/office/drawing/2014/main" id="{BAFA61C1-CC1C-378A-9AE5-E6D4BB20B97D}"/>
              </a:ext>
            </a:extLst>
          </p:cNvPr>
          <p:cNvPicPr>
            <a:picLocks noChangeAspect="1"/>
          </p:cNvPicPr>
          <p:nvPr/>
        </p:nvPicPr>
        <p:blipFill>
          <a:blip r:embed="rId2">
            <a:extLst>
              <a:ext uri="{28A0092B-C50C-407E-A947-70E740481C1C}">
                <a14:useLocalDpi xmlns:a14="http://schemas.microsoft.com/office/drawing/2010/main" val="0"/>
              </a:ext>
            </a:extLst>
          </a:blip>
          <a:srcRect l="3150" t="74526" r="239" b="-668"/>
          <a:stretch>
            <a:fillRect/>
          </a:stretch>
        </p:blipFill>
        <p:spPr>
          <a:xfrm>
            <a:off x="1313934" y="3559112"/>
            <a:ext cx="6680887" cy="1820805"/>
          </a:xfrm>
          <a:prstGeom prst="rect">
            <a:avLst/>
          </a:prstGeom>
        </p:spPr>
      </p:pic>
    </p:spTree>
    <p:extLst>
      <p:ext uri="{BB962C8B-B14F-4D97-AF65-F5344CB8AC3E}">
        <p14:creationId xmlns:p14="http://schemas.microsoft.com/office/powerpoint/2010/main" val="34973668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BEEB2-A2E7-A095-0D67-C8F49CCE59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6E3E384-093A-B9CE-78A1-77D4EAC837BE}"/>
              </a:ext>
            </a:extLst>
          </p:cNvPr>
          <p:cNvSpPr txBox="1"/>
          <p:nvPr/>
        </p:nvSpPr>
        <p:spPr>
          <a:xfrm>
            <a:off x="2148016" y="1965578"/>
            <a:ext cx="4847967" cy="830997"/>
          </a:xfrm>
          <a:prstGeom prst="rect">
            <a:avLst/>
          </a:prstGeom>
          <a:noFill/>
        </p:spPr>
        <p:txBody>
          <a:bodyPr wrap="square" rtlCol="0">
            <a:spAutoFit/>
          </a:bodyPr>
          <a:lstStyle/>
          <a:p>
            <a:pPr algn="ctr"/>
            <a:r>
              <a:rPr lang="en-US" sz="4800" noProof="1">
                <a:solidFill>
                  <a:srgbClr val="002060"/>
                </a:solidFill>
              </a:rPr>
              <a:t>Conclusions</a:t>
            </a:r>
            <a:endParaRPr lang="en-US" sz="4800" noProof="1"/>
          </a:p>
        </p:txBody>
      </p:sp>
      <p:sp>
        <p:nvSpPr>
          <p:cNvPr id="3" name="Slide Number Placeholder 2">
            <a:extLst>
              <a:ext uri="{FF2B5EF4-FFF2-40B4-BE49-F238E27FC236}">
                <a16:creationId xmlns:a16="http://schemas.microsoft.com/office/drawing/2014/main" id="{9DAAEED0-1424-4359-EE48-501447F58792}"/>
              </a:ext>
            </a:extLst>
          </p:cNvPr>
          <p:cNvSpPr>
            <a:spLocks noGrp="1"/>
          </p:cNvSpPr>
          <p:nvPr>
            <p:ph type="sldNum" sz="quarter" idx="12"/>
          </p:nvPr>
        </p:nvSpPr>
        <p:spPr/>
        <p:txBody>
          <a:bodyPr/>
          <a:lstStyle/>
          <a:p>
            <a:fld id="{292A9FD8-515A-4698-9313-0AB17EE9632B}" type="slidenum">
              <a:rPr lang="en-US" noProof="1" dirty="0" smtClean="0"/>
              <a:t>24</a:t>
            </a:fld>
            <a:endParaRPr lang="en-US" noProof="1"/>
          </a:p>
        </p:txBody>
      </p:sp>
    </p:spTree>
    <p:extLst>
      <p:ext uri="{BB962C8B-B14F-4D97-AF65-F5344CB8AC3E}">
        <p14:creationId xmlns:p14="http://schemas.microsoft.com/office/powerpoint/2010/main" val="11916046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CB5FB5-7586-D717-91C7-741C84D5CEF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8E350F9-99DD-2B75-33DB-749AAED00065}"/>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Contributions</a:t>
            </a:r>
            <a:endParaRPr lang="en-US" sz="2800" noProof="1"/>
          </a:p>
        </p:txBody>
      </p:sp>
      <p:sp>
        <p:nvSpPr>
          <p:cNvPr id="4" name="Slide Number Placeholder 3">
            <a:extLst>
              <a:ext uri="{FF2B5EF4-FFF2-40B4-BE49-F238E27FC236}">
                <a16:creationId xmlns:a16="http://schemas.microsoft.com/office/drawing/2014/main" id="{1E8750DE-2CEA-2561-1153-039EF8AEB6D3}"/>
              </a:ext>
            </a:extLst>
          </p:cNvPr>
          <p:cNvSpPr>
            <a:spLocks noGrp="1"/>
          </p:cNvSpPr>
          <p:nvPr>
            <p:ph type="sldNum" sz="quarter" idx="12"/>
          </p:nvPr>
        </p:nvSpPr>
        <p:spPr/>
        <p:txBody>
          <a:bodyPr/>
          <a:lstStyle/>
          <a:p>
            <a:fld id="{292A9FD8-515A-4698-9313-0AB17EE9632B}" type="slidenum">
              <a:rPr lang="en-US" noProof="1" dirty="0" smtClean="0"/>
              <a:t>25</a:t>
            </a:fld>
            <a:endParaRPr lang="en-US" noProof="1"/>
          </a:p>
        </p:txBody>
      </p:sp>
      <p:sp>
        <p:nvSpPr>
          <p:cNvPr id="5" name="TextBox 4">
            <a:extLst>
              <a:ext uri="{FF2B5EF4-FFF2-40B4-BE49-F238E27FC236}">
                <a16:creationId xmlns:a16="http://schemas.microsoft.com/office/drawing/2014/main" id="{E43D1327-50A1-0AE7-EAF9-3F8F177E5AC7}"/>
              </a:ext>
            </a:extLst>
          </p:cNvPr>
          <p:cNvSpPr txBox="1"/>
          <p:nvPr/>
        </p:nvSpPr>
        <p:spPr>
          <a:xfrm>
            <a:off x="1116225" y="1785812"/>
            <a:ext cx="6911547" cy="400110"/>
          </a:xfrm>
          <a:prstGeom prst="rect">
            <a:avLst/>
          </a:prstGeom>
          <a:noFill/>
        </p:spPr>
        <p:txBody>
          <a:bodyPr wrap="square" rtlCol="0">
            <a:spAutoFit/>
          </a:bodyPr>
          <a:lstStyle/>
          <a:p>
            <a:pPr algn="ctr"/>
            <a:r>
              <a:rPr lang="en-US" sz="2000" u="sng" noProof="1">
                <a:solidFill>
                  <a:srgbClr val="002060"/>
                </a:solidFill>
              </a:rPr>
              <a:t>Verify program equivalence and other relational properties</a:t>
            </a:r>
          </a:p>
        </p:txBody>
      </p:sp>
      <p:cxnSp>
        <p:nvCxnSpPr>
          <p:cNvPr id="6" name="Straight Arrow Connector 5">
            <a:extLst>
              <a:ext uri="{FF2B5EF4-FFF2-40B4-BE49-F238E27FC236}">
                <a16:creationId xmlns:a16="http://schemas.microsoft.com/office/drawing/2014/main" id="{2EF3E87A-4C4F-A88B-2DEB-BF8635F38C3A}"/>
              </a:ext>
            </a:extLst>
          </p:cNvPr>
          <p:cNvCxnSpPr/>
          <p:nvPr/>
        </p:nvCxnSpPr>
        <p:spPr>
          <a:xfrm>
            <a:off x="4376352" y="2138568"/>
            <a:ext cx="0" cy="540000"/>
          </a:xfrm>
          <a:prstGeom prst="straightConnector1">
            <a:avLst/>
          </a:prstGeom>
          <a:ln>
            <a:solidFill>
              <a:srgbClr val="002060"/>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CCBA38FC-E9DF-2BF3-596E-934B90710206}"/>
              </a:ext>
            </a:extLst>
          </p:cNvPr>
          <p:cNvCxnSpPr/>
          <p:nvPr/>
        </p:nvCxnSpPr>
        <p:spPr>
          <a:xfrm>
            <a:off x="4376351" y="3031023"/>
            <a:ext cx="0" cy="540000"/>
          </a:xfrm>
          <a:prstGeom prst="straightConnector1">
            <a:avLst/>
          </a:prstGeom>
          <a:ln>
            <a:solidFill>
              <a:srgbClr val="002060"/>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FC0E3C4B-A089-BE80-ABD7-5273455A3BD5}"/>
              </a:ext>
            </a:extLst>
          </p:cNvPr>
          <p:cNvCxnSpPr/>
          <p:nvPr/>
        </p:nvCxnSpPr>
        <p:spPr>
          <a:xfrm>
            <a:off x="4376351" y="3923478"/>
            <a:ext cx="0" cy="540000"/>
          </a:xfrm>
          <a:prstGeom prst="straightConnector1">
            <a:avLst/>
          </a:prstGeom>
          <a:ln>
            <a:solidFill>
              <a:srgbClr val="00206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C9D56771-2BF2-2AEB-6DE7-6643B703A113}"/>
              </a:ext>
            </a:extLst>
          </p:cNvPr>
          <p:cNvSpPr txBox="1"/>
          <p:nvPr/>
        </p:nvSpPr>
        <p:spPr>
          <a:xfrm>
            <a:off x="1167477" y="2678568"/>
            <a:ext cx="6809043" cy="400110"/>
          </a:xfrm>
          <a:prstGeom prst="rect">
            <a:avLst/>
          </a:prstGeom>
          <a:noFill/>
        </p:spPr>
        <p:txBody>
          <a:bodyPr wrap="none" rtlCol="0">
            <a:spAutoFit/>
          </a:bodyPr>
          <a:lstStyle/>
          <a:p>
            <a:pPr algn="ctr"/>
            <a:r>
              <a:rPr lang="en-US" sz="2000" noProof="1">
                <a:solidFill>
                  <a:srgbClr val="002060"/>
                </a:solidFill>
              </a:rPr>
              <a:t>Bring the translation rules of WhyRel into the world of OCaml</a:t>
            </a:r>
            <a:endParaRPr lang="pt-PT" sz="2000" noProof="1">
              <a:solidFill>
                <a:srgbClr val="002060"/>
              </a:solidFill>
            </a:endParaRPr>
          </a:p>
        </p:txBody>
      </p:sp>
      <p:sp>
        <p:nvSpPr>
          <p:cNvPr id="11" name="TextBox 10">
            <a:extLst>
              <a:ext uri="{FF2B5EF4-FFF2-40B4-BE49-F238E27FC236}">
                <a16:creationId xmlns:a16="http://schemas.microsoft.com/office/drawing/2014/main" id="{31E2C493-16B0-B0B4-3669-4B91741668D7}"/>
              </a:ext>
            </a:extLst>
          </p:cNvPr>
          <p:cNvSpPr txBox="1"/>
          <p:nvPr/>
        </p:nvSpPr>
        <p:spPr>
          <a:xfrm>
            <a:off x="2567266" y="4463478"/>
            <a:ext cx="3618170" cy="400110"/>
          </a:xfrm>
          <a:prstGeom prst="rect">
            <a:avLst/>
          </a:prstGeom>
          <a:noFill/>
        </p:spPr>
        <p:txBody>
          <a:bodyPr wrap="none" rtlCol="0">
            <a:spAutoFit/>
          </a:bodyPr>
          <a:lstStyle/>
          <a:p>
            <a:pPr algn="ctr"/>
            <a:r>
              <a:rPr lang="en-US" sz="2000" noProof="1">
                <a:solidFill>
                  <a:srgbClr val="002060"/>
                </a:solidFill>
              </a:rPr>
              <a:t>BipLang – adaptation of OCaml</a:t>
            </a:r>
          </a:p>
        </p:txBody>
      </p:sp>
      <p:sp>
        <p:nvSpPr>
          <p:cNvPr id="12" name="TextBox 11">
            <a:extLst>
              <a:ext uri="{FF2B5EF4-FFF2-40B4-BE49-F238E27FC236}">
                <a16:creationId xmlns:a16="http://schemas.microsoft.com/office/drawing/2014/main" id="{323D5E08-9237-E3CC-651E-9B11DA4DD13D}"/>
              </a:ext>
            </a:extLst>
          </p:cNvPr>
          <p:cNvSpPr txBox="1"/>
          <p:nvPr/>
        </p:nvSpPr>
        <p:spPr>
          <a:xfrm>
            <a:off x="1892563" y="3571023"/>
            <a:ext cx="4967578" cy="400110"/>
          </a:xfrm>
          <a:prstGeom prst="rect">
            <a:avLst/>
          </a:prstGeom>
          <a:noFill/>
        </p:spPr>
        <p:txBody>
          <a:bodyPr wrap="none" rtlCol="0">
            <a:spAutoFit/>
          </a:bodyPr>
          <a:lstStyle/>
          <a:p>
            <a:pPr algn="ctr"/>
            <a:r>
              <a:rPr lang="pt-PT" sz="2000" noProof="1">
                <a:solidFill>
                  <a:srgbClr val="002060"/>
                </a:solidFill>
              </a:rPr>
              <a:t>bip2ml </a:t>
            </a:r>
            <a:r>
              <a:rPr lang="en-US" sz="2000" noProof="1">
                <a:solidFill>
                  <a:srgbClr val="002060"/>
                </a:solidFill>
              </a:rPr>
              <a:t>–</a:t>
            </a:r>
            <a:r>
              <a:rPr lang="pt-PT" sz="2000" noProof="1">
                <a:solidFill>
                  <a:srgbClr val="002060"/>
                </a:solidFill>
              </a:rPr>
              <a:t> O</a:t>
            </a:r>
            <a:r>
              <a:rPr lang="en-US" sz="2000" noProof="1">
                <a:solidFill>
                  <a:srgbClr val="002060"/>
                </a:solidFill>
              </a:rPr>
              <a:t>Caml relational verification tool</a:t>
            </a:r>
          </a:p>
        </p:txBody>
      </p:sp>
    </p:spTree>
    <p:extLst>
      <p:ext uri="{BB962C8B-B14F-4D97-AF65-F5344CB8AC3E}">
        <p14:creationId xmlns:p14="http://schemas.microsoft.com/office/powerpoint/2010/main" val="6306411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3C991-DEE5-ACC4-4FAD-F4AC40B63E7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360CD7C-D619-788E-9392-AD791E2160AE}"/>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Limitations</a:t>
            </a:r>
            <a:endParaRPr lang="en-US" sz="2800" noProof="1"/>
          </a:p>
        </p:txBody>
      </p:sp>
      <p:sp>
        <p:nvSpPr>
          <p:cNvPr id="4" name="Slide Number Placeholder 3">
            <a:extLst>
              <a:ext uri="{FF2B5EF4-FFF2-40B4-BE49-F238E27FC236}">
                <a16:creationId xmlns:a16="http://schemas.microsoft.com/office/drawing/2014/main" id="{6061056C-1D23-C251-AFC5-DD28D79BBABB}"/>
              </a:ext>
            </a:extLst>
          </p:cNvPr>
          <p:cNvSpPr>
            <a:spLocks noGrp="1"/>
          </p:cNvSpPr>
          <p:nvPr>
            <p:ph type="sldNum" sz="quarter" idx="12"/>
          </p:nvPr>
        </p:nvSpPr>
        <p:spPr/>
        <p:txBody>
          <a:bodyPr/>
          <a:lstStyle/>
          <a:p>
            <a:fld id="{292A9FD8-515A-4698-9313-0AB17EE9632B}" type="slidenum">
              <a:rPr lang="en-US" noProof="1" dirty="0" smtClean="0"/>
              <a:t>26</a:t>
            </a:fld>
            <a:endParaRPr lang="en-US" noProof="1"/>
          </a:p>
        </p:txBody>
      </p:sp>
      <p:sp>
        <p:nvSpPr>
          <p:cNvPr id="5" name="TextBox 4">
            <a:extLst>
              <a:ext uri="{FF2B5EF4-FFF2-40B4-BE49-F238E27FC236}">
                <a16:creationId xmlns:a16="http://schemas.microsoft.com/office/drawing/2014/main" id="{6C3714B2-C1F5-56DD-577E-6936CB34E77F}"/>
              </a:ext>
            </a:extLst>
          </p:cNvPr>
          <p:cNvSpPr txBox="1"/>
          <p:nvPr/>
        </p:nvSpPr>
        <p:spPr>
          <a:xfrm>
            <a:off x="469556" y="2099739"/>
            <a:ext cx="6664412" cy="1200329"/>
          </a:xfrm>
          <a:prstGeom prst="rect">
            <a:avLst/>
          </a:prstGeom>
          <a:noFill/>
        </p:spPr>
        <p:txBody>
          <a:bodyPr wrap="square" rtlCol="0">
            <a:spAutoFit/>
          </a:bodyPr>
          <a:lstStyle/>
          <a:p>
            <a:pPr marL="342900" indent="-342900">
              <a:buFont typeface="Arial" panose="020B0604020202020204" pitchFamily="34" charset="0"/>
              <a:buChar char="•"/>
            </a:pPr>
            <a:r>
              <a:rPr lang="en-US" sz="2400" noProof="1">
                <a:solidFill>
                  <a:srgbClr val="002060"/>
                </a:solidFill>
              </a:rPr>
              <a:t>BipLang does not contain all OCaml features</a:t>
            </a:r>
          </a:p>
          <a:p>
            <a:pPr marL="342900" indent="-342900">
              <a:buFont typeface="Arial" panose="020B0604020202020204" pitchFamily="34" charset="0"/>
              <a:buChar char="•"/>
            </a:pPr>
            <a:r>
              <a:rPr lang="en-US" sz="2400" noProof="1">
                <a:solidFill>
                  <a:srgbClr val="002060"/>
                </a:solidFill>
              </a:rPr>
              <a:t>Automatic verification depends on the interpretation of “automatic”</a:t>
            </a:r>
          </a:p>
        </p:txBody>
      </p:sp>
    </p:spTree>
    <p:extLst>
      <p:ext uri="{BB962C8B-B14F-4D97-AF65-F5344CB8AC3E}">
        <p14:creationId xmlns:p14="http://schemas.microsoft.com/office/powerpoint/2010/main" val="29515619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03A83-A2E0-75A9-CAF8-76845C1059F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227CC9D-A2C0-8251-1C28-9FA3786BFE78}"/>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Future Work</a:t>
            </a:r>
            <a:endParaRPr lang="en-US" sz="2800" noProof="1"/>
          </a:p>
        </p:txBody>
      </p:sp>
      <p:sp>
        <p:nvSpPr>
          <p:cNvPr id="4" name="Slide Number Placeholder 3">
            <a:extLst>
              <a:ext uri="{FF2B5EF4-FFF2-40B4-BE49-F238E27FC236}">
                <a16:creationId xmlns:a16="http://schemas.microsoft.com/office/drawing/2014/main" id="{35C48BCD-CB87-56DE-A29E-8F58536D6BB7}"/>
              </a:ext>
            </a:extLst>
          </p:cNvPr>
          <p:cNvSpPr>
            <a:spLocks noGrp="1"/>
          </p:cNvSpPr>
          <p:nvPr>
            <p:ph type="sldNum" sz="quarter" idx="12"/>
          </p:nvPr>
        </p:nvSpPr>
        <p:spPr/>
        <p:txBody>
          <a:bodyPr/>
          <a:lstStyle/>
          <a:p>
            <a:fld id="{292A9FD8-515A-4698-9313-0AB17EE9632B}" type="slidenum">
              <a:rPr lang="en-US" noProof="1" dirty="0" smtClean="0"/>
              <a:t>27</a:t>
            </a:fld>
            <a:endParaRPr lang="en-US" noProof="1"/>
          </a:p>
        </p:txBody>
      </p:sp>
      <p:sp>
        <p:nvSpPr>
          <p:cNvPr id="5" name="TextBox 4">
            <a:extLst>
              <a:ext uri="{FF2B5EF4-FFF2-40B4-BE49-F238E27FC236}">
                <a16:creationId xmlns:a16="http://schemas.microsoft.com/office/drawing/2014/main" id="{CD67E19D-BC23-C69B-75B1-B3507E6D1851}"/>
              </a:ext>
            </a:extLst>
          </p:cNvPr>
          <p:cNvSpPr txBox="1"/>
          <p:nvPr/>
        </p:nvSpPr>
        <p:spPr>
          <a:xfrm>
            <a:off x="469556" y="2022795"/>
            <a:ext cx="6128951" cy="1569660"/>
          </a:xfrm>
          <a:prstGeom prst="rect">
            <a:avLst/>
          </a:prstGeom>
          <a:noFill/>
        </p:spPr>
        <p:txBody>
          <a:bodyPr wrap="square" rtlCol="0">
            <a:spAutoFit/>
          </a:bodyPr>
          <a:lstStyle/>
          <a:p>
            <a:pPr marL="342900" indent="-342900">
              <a:buFont typeface="Arial" panose="020B0604020202020204" pitchFamily="34" charset="0"/>
              <a:buChar char="•"/>
            </a:pPr>
            <a:r>
              <a:rPr lang="en-US" sz="2400" noProof="1">
                <a:solidFill>
                  <a:srgbClr val="002060"/>
                </a:solidFill>
              </a:rPr>
              <a:t>Higher-order constructs (iter, fold…)</a:t>
            </a:r>
          </a:p>
          <a:p>
            <a:pPr marL="342900" indent="-342900">
              <a:buFont typeface="Arial" panose="020B0604020202020204" pitchFamily="34" charset="0"/>
              <a:buChar char="•"/>
            </a:pPr>
            <a:r>
              <a:rPr lang="en-US" sz="2400" noProof="1">
                <a:solidFill>
                  <a:srgbClr val="002060"/>
                </a:solidFill>
              </a:rPr>
              <a:t>Pointer based programs</a:t>
            </a:r>
          </a:p>
          <a:p>
            <a:pPr marL="342900" indent="-342900">
              <a:buFont typeface="Arial" panose="020B0604020202020204" pitchFamily="34" charset="0"/>
              <a:buChar char="•"/>
            </a:pPr>
            <a:r>
              <a:rPr lang="en-US" sz="2400" noProof="1">
                <a:solidFill>
                  <a:srgbClr val="002060"/>
                </a:solidFill>
              </a:rPr>
              <a:t>Dynamic programming</a:t>
            </a:r>
          </a:p>
          <a:p>
            <a:pPr marL="342900" indent="-342900">
              <a:buFont typeface="Arial" panose="020B0604020202020204" pitchFamily="34" charset="0"/>
              <a:buChar char="•"/>
            </a:pPr>
            <a:r>
              <a:rPr lang="en-US" sz="2400" noProof="1">
                <a:solidFill>
                  <a:srgbClr val="002060"/>
                </a:solidFill>
              </a:rPr>
              <a:t>Program evolution</a:t>
            </a:r>
          </a:p>
        </p:txBody>
      </p:sp>
    </p:spTree>
    <p:extLst>
      <p:ext uri="{BB962C8B-B14F-4D97-AF65-F5344CB8AC3E}">
        <p14:creationId xmlns:p14="http://schemas.microsoft.com/office/powerpoint/2010/main" val="22390269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4C233-D244-61BA-BDF8-CB6D060B5B0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20274D2-09B6-D69D-1B09-52211756F812}"/>
              </a:ext>
            </a:extLst>
          </p:cNvPr>
          <p:cNvSpPr>
            <a:spLocks noGrp="1"/>
          </p:cNvSpPr>
          <p:nvPr>
            <p:ph type="ctrTitle"/>
          </p:nvPr>
        </p:nvSpPr>
        <p:spPr>
          <a:xfrm>
            <a:off x="744494" y="716690"/>
            <a:ext cx="7655011" cy="571043"/>
          </a:xfrm>
        </p:spPr>
        <p:txBody>
          <a:bodyPr>
            <a:normAutofit/>
          </a:bodyPr>
          <a:lstStyle/>
          <a:p>
            <a:r>
              <a:rPr lang="en-US" sz="3200" noProof="1">
                <a:solidFill>
                  <a:srgbClr val="002060"/>
                </a:solidFill>
              </a:rPr>
              <a:t>Formal Verification of Programs Equivalence</a:t>
            </a:r>
          </a:p>
        </p:txBody>
      </p:sp>
      <p:sp>
        <p:nvSpPr>
          <p:cNvPr id="3" name="Subtítulo 2">
            <a:extLst>
              <a:ext uri="{FF2B5EF4-FFF2-40B4-BE49-F238E27FC236}">
                <a16:creationId xmlns:a16="http://schemas.microsoft.com/office/drawing/2014/main" id="{4D296B62-9DC8-8E89-BBD7-11E0414C0F12}"/>
              </a:ext>
            </a:extLst>
          </p:cNvPr>
          <p:cNvSpPr>
            <a:spLocks noGrp="1"/>
          </p:cNvSpPr>
          <p:nvPr>
            <p:ph type="subTitle" idx="1"/>
          </p:nvPr>
        </p:nvSpPr>
        <p:spPr>
          <a:xfrm>
            <a:off x="1142999" y="3355925"/>
            <a:ext cx="6858000" cy="1379802"/>
          </a:xfrm>
        </p:spPr>
        <p:txBody>
          <a:bodyPr>
            <a:noAutofit/>
          </a:bodyPr>
          <a:lstStyle/>
          <a:p>
            <a:r>
              <a:rPr lang="en-US" sz="2000" noProof="1">
                <a:solidFill>
                  <a:srgbClr val="002060"/>
                </a:solidFill>
              </a:rPr>
              <a:t>João Nini</a:t>
            </a:r>
          </a:p>
          <a:p>
            <a:r>
              <a:rPr lang="en-US" sz="2000" noProof="1">
                <a:solidFill>
                  <a:srgbClr val="002060"/>
                </a:solidFill>
              </a:rPr>
              <a:t>Advisor: Mário Pereira</a:t>
            </a:r>
          </a:p>
          <a:p>
            <a:pPr>
              <a:lnSpc>
                <a:spcPct val="50000"/>
              </a:lnSpc>
            </a:pPr>
            <a:endParaRPr lang="en-US" sz="2000" noProof="1">
              <a:solidFill>
                <a:srgbClr val="002060"/>
              </a:solidFill>
            </a:endParaRPr>
          </a:p>
          <a:p>
            <a:pPr>
              <a:lnSpc>
                <a:spcPct val="50000"/>
              </a:lnSpc>
            </a:pPr>
            <a:r>
              <a:rPr lang="en-US" sz="2000" noProof="1">
                <a:solidFill>
                  <a:srgbClr val="002060"/>
                </a:solidFill>
              </a:rPr>
              <a:t>December 16, 2025</a:t>
            </a:r>
          </a:p>
        </p:txBody>
      </p:sp>
      <p:sp>
        <p:nvSpPr>
          <p:cNvPr id="4" name="Slide Number Placeholder 3">
            <a:extLst>
              <a:ext uri="{FF2B5EF4-FFF2-40B4-BE49-F238E27FC236}">
                <a16:creationId xmlns:a16="http://schemas.microsoft.com/office/drawing/2014/main" id="{44788A04-F651-B4D5-7DA9-E26D50D91332}"/>
              </a:ext>
            </a:extLst>
          </p:cNvPr>
          <p:cNvSpPr>
            <a:spLocks noGrp="1"/>
          </p:cNvSpPr>
          <p:nvPr>
            <p:ph type="sldNum" sz="quarter" idx="12"/>
          </p:nvPr>
        </p:nvSpPr>
        <p:spPr/>
        <p:txBody>
          <a:bodyPr/>
          <a:lstStyle/>
          <a:p>
            <a:fld id="{292A9FD8-515A-4698-9313-0AB17EE9632B}" type="slidenum">
              <a:rPr lang="en-US" noProof="1" dirty="0" smtClean="0"/>
              <a:t>28</a:t>
            </a:fld>
            <a:endParaRPr lang="en-US" noProof="1"/>
          </a:p>
        </p:txBody>
      </p:sp>
      <p:sp>
        <p:nvSpPr>
          <p:cNvPr id="5" name="Título 1">
            <a:extLst>
              <a:ext uri="{FF2B5EF4-FFF2-40B4-BE49-F238E27FC236}">
                <a16:creationId xmlns:a16="http://schemas.microsoft.com/office/drawing/2014/main" id="{DB787C8E-BF42-9283-4789-2CA358339C70}"/>
              </a:ext>
            </a:extLst>
          </p:cNvPr>
          <p:cNvSpPr txBox="1">
            <a:spLocks/>
          </p:cNvSpPr>
          <p:nvPr/>
        </p:nvSpPr>
        <p:spPr>
          <a:xfrm>
            <a:off x="3189587" y="2091846"/>
            <a:ext cx="2764824" cy="571043"/>
          </a:xfrm>
          <a:prstGeom prst="rect">
            <a:avLst/>
          </a:prstGeom>
        </p:spPr>
        <p:txBody>
          <a:bodyPr vert="horz" lIns="91440" tIns="45720" rIns="91440" bIns="45720" rtlCol="0" anchor="b">
            <a:noAutofit/>
          </a:bodyPr>
          <a:lstStyle>
            <a:lvl1pPr algn="ctr" defTabSz="685800" rtl="0" eaLnBrk="1" latinLnBrk="0" hangingPunct="1">
              <a:lnSpc>
                <a:spcPct val="90000"/>
              </a:lnSpc>
              <a:spcBef>
                <a:spcPct val="0"/>
              </a:spcBef>
              <a:buNone/>
              <a:defRPr sz="4500" kern="1200">
                <a:solidFill>
                  <a:schemeClr val="tx1"/>
                </a:solidFill>
                <a:latin typeface="+mj-lt"/>
                <a:ea typeface="+mj-ea"/>
                <a:cs typeface="+mj-cs"/>
              </a:defRPr>
            </a:lvl1pPr>
          </a:lstStyle>
          <a:p>
            <a:r>
              <a:rPr lang="en-US" sz="4000" noProof="1">
                <a:solidFill>
                  <a:srgbClr val="002060"/>
                </a:solidFill>
              </a:rPr>
              <a:t>Thank you!</a:t>
            </a:r>
          </a:p>
        </p:txBody>
      </p:sp>
    </p:spTree>
    <p:extLst>
      <p:ext uri="{BB962C8B-B14F-4D97-AF65-F5344CB8AC3E}">
        <p14:creationId xmlns:p14="http://schemas.microsoft.com/office/powerpoint/2010/main" val="2695353089"/>
      </p:ext>
    </p:extLst>
  </p:cSld>
  <p:clrMapOvr>
    <a:masterClrMapping/>
  </p:clrMapOvr>
</p:sld>
</file>

<file path=ppt/theme/theme1.xml><?xml version="1.0" encoding="utf-8"?>
<a:theme xmlns:a="http://schemas.openxmlformats.org/drawingml/2006/main" name="Tema do Office">
  <a:themeElements>
    <a:clrScheme name="Tema do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o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1567</TotalTime>
  <Words>1666</Words>
  <Application>Microsoft Office PowerPoint</Application>
  <PresentationFormat>On-screen Show (16:10)</PresentationFormat>
  <Paragraphs>234</Paragraphs>
  <Slides>28</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Aptos</vt:lpstr>
      <vt:lpstr>Aptos Display</vt:lpstr>
      <vt:lpstr>Arial</vt:lpstr>
      <vt:lpstr>Wingdings</vt:lpstr>
      <vt:lpstr>Tema do Office</vt:lpstr>
      <vt:lpstr>Formal Verification of Programs Equivalence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Formal Verification of Programs Equivalence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Joao Francisco Serrenho Nini</dc:creator>
  <cp:lastModifiedBy>João Nini</cp:lastModifiedBy>
  <cp:revision>106</cp:revision>
  <dcterms:created xsi:type="dcterms:W3CDTF">2025-02-13T13:42:37Z</dcterms:created>
  <dcterms:modified xsi:type="dcterms:W3CDTF">2025-12-13T23:02:18Z</dcterms:modified>
</cp:coreProperties>
</file>