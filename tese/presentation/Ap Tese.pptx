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56"/>
  </p:notesMasterIdLst>
  <p:sldIdLst>
    <p:sldId id="256" r:id="rId2"/>
    <p:sldId id="292" r:id="rId3"/>
    <p:sldId id="293" r:id="rId4"/>
    <p:sldId id="257" r:id="rId5"/>
    <p:sldId id="294" r:id="rId6"/>
    <p:sldId id="308" r:id="rId7"/>
    <p:sldId id="319" r:id="rId8"/>
    <p:sldId id="302" r:id="rId9"/>
    <p:sldId id="306" r:id="rId10"/>
    <p:sldId id="305" r:id="rId11"/>
    <p:sldId id="295" r:id="rId12"/>
    <p:sldId id="314" r:id="rId13"/>
    <p:sldId id="304" r:id="rId14"/>
    <p:sldId id="303" r:id="rId15"/>
    <p:sldId id="313" r:id="rId16"/>
    <p:sldId id="296" r:id="rId17"/>
    <p:sldId id="311" r:id="rId18"/>
    <p:sldId id="312" r:id="rId19"/>
    <p:sldId id="309" r:id="rId20"/>
    <p:sldId id="310" r:id="rId21"/>
    <p:sldId id="315" r:id="rId22"/>
    <p:sldId id="316" r:id="rId23"/>
    <p:sldId id="317" r:id="rId24"/>
    <p:sldId id="318" r:id="rId25"/>
    <p:sldId id="297" r:id="rId26"/>
    <p:sldId id="298" r:id="rId27"/>
    <p:sldId id="300" r:id="rId28"/>
    <p:sldId id="299" r:id="rId29"/>
    <p:sldId id="301" r:id="rId30"/>
    <p:sldId id="280" r:id="rId31"/>
    <p:sldId id="286" r:id="rId32"/>
    <p:sldId id="281" r:id="rId33"/>
    <p:sldId id="282" r:id="rId34"/>
    <p:sldId id="259" r:id="rId35"/>
    <p:sldId id="269" r:id="rId36"/>
    <p:sldId id="283" r:id="rId37"/>
    <p:sldId id="268" r:id="rId38"/>
    <p:sldId id="285" r:id="rId39"/>
    <p:sldId id="271" r:id="rId40"/>
    <p:sldId id="272" r:id="rId41"/>
    <p:sldId id="273" r:id="rId42"/>
    <p:sldId id="260" r:id="rId43"/>
    <p:sldId id="274" r:id="rId44"/>
    <p:sldId id="275" r:id="rId45"/>
    <p:sldId id="276" r:id="rId46"/>
    <p:sldId id="290" r:id="rId47"/>
    <p:sldId id="291" r:id="rId48"/>
    <p:sldId id="261" r:id="rId49"/>
    <p:sldId id="278" r:id="rId50"/>
    <p:sldId id="279" r:id="rId51"/>
    <p:sldId id="289" r:id="rId52"/>
    <p:sldId id="288" r:id="rId53"/>
    <p:sldId id="262" r:id="rId54"/>
    <p:sldId id="263" r:id="rId55"/>
  </p:sldIdLst>
  <p:sldSz cx="9144000" cy="5715000" type="screen16x1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530B"/>
    <a:srgbClr val="ACCFEE"/>
    <a:srgbClr val="90BEE8"/>
    <a:srgbClr val="81AADB"/>
    <a:srgbClr val="78B8F8"/>
    <a:srgbClr val="9CCBFA"/>
    <a:srgbClr val="6EA0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161" autoAdjust="0"/>
    <p:restoredTop sz="94660"/>
  </p:normalViewPr>
  <p:slideViewPr>
    <p:cSldViewPr snapToGrid="0">
      <p:cViewPr varScale="1">
        <p:scale>
          <a:sx n="93" d="100"/>
          <a:sy n="93" d="100"/>
        </p:scale>
        <p:origin x="586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4D7271-F55A-4686-93D9-9528AEDA1906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60438" y="1143000"/>
            <a:ext cx="49371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3F2602-38FE-4418-A7EF-ADB22DAE42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389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935302"/>
            <a:ext cx="6858000" cy="19896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001698"/>
            <a:ext cx="6858000" cy="137980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/>
              <a:t>Clique para editar o estilo de subtítulo do Modelo Global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5BF2F9-84AD-46CB-8486-EB732804F762}" type="datetime1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2000">
                <a:solidFill>
                  <a:srgbClr val="002060"/>
                </a:solidFill>
              </a:defRPr>
            </a:lvl1pPr>
          </a:lstStyle>
          <a:p>
            <a:fld id="{292A9FD8-515A-4698-9313-0AB17EE963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6793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D54784-9B75-4DBC-ACA0-9F51227CD78F}" type="datetime1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6206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424782"/>
            <a:ext cx="7886700" cy="2377281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824553"/>
            <a:ext cx="7886700" cy="1250156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9E4D52-32DE-4F35-8CB6-5A44573D3FC9}" type="datetime1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6404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521354"/>
            <a:ext cx="3886200" cy="3626115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521354"/>
            <a:ext cx="3886200" cy="3626115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FFB22E-8A21-4AF6-BDE0-993A2F9B14BB}" type="datetime1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9053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04271"/>
            <a:ext cx="7886700" cy="1104636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400969"/>
            <a:ext cx="3868340" cy="686593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087563"/>
            <a:ext cx="3868340" cy="3070490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400969"/>
            <a:ext cx="3887391" cy="686593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087563"/>
            <a:ext cx="3887391" cy="3070490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41D9E4-527D-47F1-B47F-963D62CCBC76}" type="datetime1">
              <a:rPr lang="en-US" smtClean="0"/>
              <a:t>12/7/2025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11256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06A608-925A-4874-BCA4-36BA40FADF76}" type="datetime1">
              <a:rPr lang="en-US" smtClean="0"/>
              <a:t>12/7/2025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4097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CCB426-3683-4E7C-B869-5155B20F8BC6}" type="datetime1">
              <a:rPr lang="en-US" smtClean="0"/>
              <a:t>12/7/2025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61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822855"/>
            <a:ext cx="4629150" cy="4061354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0"/>
            <a:ext cx="2949178" cy="3176323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51EA60-24F6-40E8-A0D7-2067F6ECA6B2}" type="datetime1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70863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822855"/>
            <a:ext cx="4629150" cy="4061354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0"/>
            <a:ext cx="2949178" cy="3176323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06440-8C5F-4111-9AD5-D0C1FDF01CE9}" type="datetime1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25243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18752-90E6-4B57-86C0-C43DD2320A2D}" type="datetime1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1185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04271"/>
            <a:ext cx="1971675" cy="4843198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04271"/>
            <a:ext cx="5800725" cy="4843198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BE5269-252E-4ABC-B047-AD967E98EA5E}" type="datetime1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3257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CCF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521354"/>
            <a:ext cx="7886700" cy="36261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5296959"/>
            <a:ext cx="20574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16FEB8-5B01-4F5E-B573-CC516A2AD5E4}" type="datetime1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5296959"/>
            <a:ext cx="30861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5296959"/>
            <a:ext cx="20574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863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D9373C-2D23-F449-45CC-7F420DB7E6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588433"/>
            <a:ext cx="6858000" cy="1687842"/>
          </a:xfrm>
        </p:spPr>
        <p:txBody>
          <a:bodyPr>
            <a:normAutofit/>
          </a:bodyPr>
          <a:lstStyle/>
          <a:p>
            <a:r>
              <a:rPr lang="en-US" sz="4400" noProof="1">
                <a:solidFill>
                  <a:srgbClr val="002060"/>
                </a:solidFill>
              </a:rPr>
              <a:t>Formal Verification of Programs Equivalence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777CF3-8E6D-455B-29AC-2426301587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</a:t>
            </a:fld>
            <a:endParaRPr lang="en-US" noProof="1"/>
          </a:p>
        </p:txBody>
      </p:sp>
      <p:sp>
        <p:nvSpPr>
          <p:cNvPr id="5" name="Subtítulo 2">
            <a:extLst>
              <a:ext uri="{FF2B5EF4-FFF2-40B4-BE49-F238E27FC236}">
                <a16:creationId xmlns:a16="http://schemas.microsoft.com/office/drawing/2014/main" id="{EFD5CCAB-49EF-292A-B1D6-C8D6E36210E2}"/>
              </a:ext>
            </a:extLst>
          </p:cNvPr>
          <p:cNvSpPr txBox="1">
            <a:spLocks/>
          </p:cNvSpPr>
          <p:nvPr/>
        </p:nvSpPr>
        <p:spPr>
          <a:xfrm>
            <a:off x="1143000" y="3207644"/>
            <a:ext cx="6858000" cy="137980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noProof="1">
                <a:solidFill>
                  <a:srgbClr val="002060"/>
                </a:solidFill>
              </a:rPr>
              <a:t>João Nini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Advisor: Mário Pereira</a:t>
            </a:r>
          </a:p>
          <a:p>
            <a:pPr>
              <a:lnSpc>
                <a:spcPct val="50000"/>
              </a:lnSpc>
            </a:pPr>
            <a:endParaRPr lang="en-US" sz="2000" noProof="1">
              <a:solidFill>
                <a:srgbClr val="002060"/>
              </a:solidFill>
            </a:endParaRPr>
          </a:p>
          <a:p>
            <a:pPr>
              <a:lnSpc>
                <a:spcPct val="50000"/>
              </a:lnSpc>
            </a:pPr>
            <a:r>
              <a:rPr lang="en-US" sz="2000" noProof="1">
                <a:solidFill>
                  <a:srgbClr val="002060"/>
                </a:solidFill>
              </a:rPr>
              <a:t>December 16, 2025</a:t>
            </a:r>
          </a:p>
        </p:txBody>
      </p:sp>
    </p:spTree>
    <p:extLst>
      <p:ext uri="{BB962C8B-B14F-4D97-AF65-F5344CB8AC3E}">
        <p14:creationId xmlns:p14="http://schemas.microsoft.com/office/powerpoint/2010/main" val="11843060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7819D-22DF-BB89-F824-CADBC1617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CDD2D7D-902F-2269-3BB0-FB38B484CA03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Motivation</a:t>
            </a:r>
            <a:endParaRPr lang="en-US" sz="2800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024C74-BD52-17A9-B912-C9D5D2C76EFB}"/>
              </a:ext>
            </a:extLst>
          </p:cNvPr>
          <p:cNvSpPr txBox="1"/>
          <p:nvPr/>
        </p:nvSpPr>
        <p:spPr>
          <a:xfrm>
            <a:off x="469556" y="1987763"/>
            <a:ext cx="3566985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noProof="1">
                <a:solidFill>
                  <a:srgbClr val="002060"/>
                </a:solidFill>
              </a:rPr>
              <a:t>Annoying bugs in games </a:t>
            </a:r>
          </a:p>
          <a:p>
            <a:pPr algn="r"/>
            <a:r>
              <a:rPr lang="en-US" sz="2000" noProof="1">
                <a:solidFill>
                  <a:srgbClr val="002060"/>
                </a:solidFill>
              </a:rPr>
              <a:t>Errors in food delivery apps</a:t>
            </a:r>
          </a:p>
          <a:p>
            <a:pPr algn="r"/>
            <a:endParaRPr lang="en-US" sz="2000" noProof="1">
              <a:solidFill>
                <a:srgbClr val="002060"/>
              </a:solidFill>
            </a:endParaRPr>
          </a:p>
          <a:p>
            <a:pPr algn="r"/>
            <a:r>
              <a:rPr lang="en-US" sz="2000" noProof="1">
                <a:solidFill>
                  <a:srgbClr val="002060"/>
                </a:solidFill>
              </a:rPr>
              <a:t>Therac-25 radiation overdoses</a:t>
            </a:r>
          </a:p>
          <a:p>
            <a:pPr algn="r"/>
            <a:r>
              <a:rPr lang="en-US" sz="2000" noProof="1">
                <a:solidFill>
                  <a:srgbClr val="002060"/>
                </a:solidFill>
              </a:rPr>
              <a:t>AWS and Cloudflare outages </a:t>
            </a:r>
          </a:p>
        </p:txBody>
      </p:sp>
      <p:sp>
        <p:nvSpPr>
          <p:cNvPr id="4" name="Right Brace 3">
            <a:extLst>
              <a:ext uri="{FF2B5EF4-FFF2-40B4-BE49-F238E27FC236}">
                <a16:creationId xmlns:a16="http://schemas.microsoft.com/office/drawing/2014/main" id="{6E119382-9F46-F38D-6705-65FDB3D1A255}"/>
              </a:ext>
            </a:extLst>
          </p:cNvPr>
          <p:cNvSpPr/>
          <p:nvPr/>
        </p:nvSpPr>
        <p:spPr>
          <a:xfrm>
            <a:off x="4036541" y="1890585"/>
            <a:ext cx="527222" cy="193899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C3EECF-AB62-BF50-D520-5784A13E1375}"/>
              </a:ext>
            </a:extLst>
          </p:cNvPr>
          <p:cNvSpPr txBox="1"/>
          <p:nvPr/>
        </p:nvSpPr>
        <p:spPr>
          <a:xfrm>
            <a:off x="4563763" y="2510983"/>
            <a:ext cx="2722606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noProof="1">
                <a:solidFill>
                  <a:srgbClr val="C00000"/>
                </a:solidFill>
              </a:rPr>
              <a:t>Avoidable!</a:t>
            </a:r>
          </a:p>
          <a:p>
            <a:pPr algn="ctr"/>
            <a:r>
              <a:rPr lang="en-US" sz="2000" noProof="1">
                <a:solidFill>
                  <a:srgbClr val="002060"/>
                </a:solidFill>
              </a:rPr>
              <a:t>What is the most reliable way?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9C54A17-3D95-2445-AA2A-1BE0F7278DDC}"/>
              </a:ext>
            </a:extLst>
          </p:cNvPr>
          <p:cNvCxnSpPr>
            <a:stCxn id="6" idx="2"/>
          </p:cNvCxnSpPr>
          <p:nvPr/>
        </p:nvCxnSpPr>
        <p:spPr>
          <a:xfrm>
            <a:off x="5925066" y="3618979"/>
            <a:ext cx="0" cy="54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55FBB35-68D0-AB12-DB55-E8D45DF787E1}"/>
              </a:ext>
            </a:extLst>
          </p:cNvPr>
          <p:cNvSpPr txBox="1"/>
          <p:nvPr/>
        </p:nvSpPr>
        <p:spPr>
          <a:xfrm>
            <a:off x="4188941" y="4239377"/>
            <a:ext cx="34722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noProof="1">
                <a:solidFill>
                  <a:srgbClr val="002060"/>
                </a:solidFill>
              </a:rPr>
              <a:t>Deductive verification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C0FAB0-762B-10DB-6F17-118438930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4237027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AFA4B-9E40-839C-CC14-2188445C4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94F06FF-0B28-EDDA-5C04-CF110DABB56F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Problem Definition</a:t>
            </a:r>
            <a:endParaRPr lang="en-US" sz="2800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05CD8D-715D-ECB2-4829-9F818F4400C8}"/>
              </a:ext>
            </a:extLst>
          </p:cNvPr>
          <p:cNvSpPr txBox="1"/>
          <p:nvPr/>
        </p:nvSpPr>
        <p:spPr>
          <a:xfrm>
            <a:off x="1357184" y="2549093"/>
            <a:ext cx="64296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i="1" noProof="1">
                <a:solidFill>
                  <a:srgbClr val="002060"/>
                </a:solidFill>
              </a:rPr>
              <a:t>Can we automatically prove that two different programs are equivalent?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E23ED2-DECC-485A-D894-EB1A353D8A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3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34723231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33C5F3-341B-CDA0-3B22-A015F4422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5F7AE157-3983-D646-088D-E1E2E81873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6908" y="2311246"/>
            <a:ext cx="6858000" cy="2394086"/>
          </a:xfrm>
        </p:spPr>
        <p:txBody>
          <a:bodyPr>
            <a:noAutofit/>
          </a:bodyPr>
          <a:lstStyle/>
          <a:p>
            <a:pPr marL="457200" indent="-457200" algn="l">
              <a:buFont typeface="+mj-lt"/>
              <a:buAutoNum type="arabicPeriod"/>
            </a:pPr>
            <a:r>
              <a:rPr lang="en-US" sz="2400" noProof="1">
                <a:solidFill>
                  <a:srgbClr val="002060"/>
                </a:solidFill>
              </a:rPr>
              <a:t>WhyRel</a:t>
            </a:r>
          </a:p>
          <a:p>
            <a:pPr marL="457200" indent="-457200" algn="l">
              <a:buFont typeface="+mj-lt"/>
              <a:buAutoNum type="arabicPeriod"/>
            </a:pPr>
            <a:r>
              <a:rPr lang="en-US" sz="2400" noProof="1">
                <a:solidFill>
                  <a:srgbClr val="002060"/>
                </a:solidFill>
              </a:rPr>
              <a:t>bip2ml</a:t>
            </a:r>
          </a:p>
          <a:p>
            <a:pPr marL="457200" indent="-457200" algn="l">
              <a:buFont typeface="+mj-lt"/>
              <a:buAutoNum type="arabicPeriod"/>
            </a:pPr>
            <a:r>
              <a:rPr lang="en-US" sz="2400" noProof="1">
                <a:solidFill>
                  <a:srgbClr val="002060"/>
                </a:solidFill>
              </a:rPr>
              <a:t>Case Studies</a:t>
            </a:r>
          </a:p>
          <a:p>
            <a:pPr marL="457200" indent="-457200" algn="l">
              <a:buFont typeface="+mj-lt"/>
              <a:buAutoNum type="arabicPeriod"/>
            </a:pPr>
            <a:r>
              <a:rPr lang="en-US" sz="2400" noProof="1">
                <a:solidFill>
                  <a:srgbClr val="002060"/>
                </a:solidFill>
              </a:rPr>
              <a:t>Conclusions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18E59A-FE1A-37E4-F155-D8BDF0494D9D}"/>
              </a:ext>
            </a:extLst>
          </p:cNvPr>
          <p:cNvSpPr txBox="1"/>
          <p:nvPr/>
        </p:nvSpPr>
        <p:spPr>
          <a:xfrm>
            <a:off x="1416908" y="812984"/>
            <a:ext cx="631018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noProof="1">
                <a:solidFill>
                  <a:srgbClr val="002060"/>
                </a:solidFill>
              </a:rPr>
              <a:t>Presentation Structure</a:t>
            </a:r>
            <a:endParaRPr lang="en-US" sz="40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DA381D-06C1-EC60-F50A-82AED36CB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4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1303860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D69F5-EEB7-C983-89E8-5EAF9311E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74C6203-4DFE-71C1-7475-A0653237A23D}"/>
              </a:ext>
            </a:extLst>
          </p:cNvPr>
          <p:cNvSpPr txBox="1"/>
          <p:nvPr/>
        </p:nvSpPr>
        <p:spPr>
          <a:xfrm>
            <a:off x="2397211" y="2026503"/>
            <a:ext cx="43495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noProof="1">
                <a:solidFill>
                  <a:srgbClr val="002060"/>
                </a:solidFill>
              </a:rPr>
              <a:t>WhyRel</a:t>
            </a:r>
            <a:endParaRPr lang="en-US" sz="4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CEC26C5-CF61-CD11-CADF-665A9E286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5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17664783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D215B1-E030-AB06-C90F-33AEEBE4C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D756338-A3E7-8B31-23B0-FF6AAC0856B0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What is WhyRel?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2D3E8A-F9D1-A27A-9610-C79AA34FC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6</a:t>
            </a:fld>
            <a:endParaRPr lang="en-US" noProof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35808A7-0D85-02C4-9FD0-AC62B1E78378}"/>
              </a:ext>
            </a:extLst>
          </p:cNvPr>
          <p:cNvSpPr txBox="1"/>
          <p:nvPr/>
        </p:nvSpPr>
        <p:spPr>
          <a:xfrm>
            <a:off x="469555" y="1792136"/>
            <a:ext cx="7199872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A tool that aims to verify relational properties of pointer programs based on relational region logic</a:t>
            </a:r>
          </a:p>
          <a:p>
            <a:endParaRPr lang="en-US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These auto-active tools enable the verification of a larger set of programs but require more user input</a:t>
            </a:r>
          </a:p>
          <a:p>
            <a:endParaRPr lang="en-US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WhyRel is the most important practical work for this thesis</a:t>
            </a:r>
          </a:p>
        </p:txBody>
      </p:sp>
    </p:spTree>
    <p:extLst>
      <p:ext uri="{BB962C8B-B14F-4D97-AF65-F5344CB8AC3E}">
        <p14:creationId xmlns:p14="http://schemas.microsoft.com/office/powerpoint/2010/main" val="29618652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45C93-CF66-E549-0468-A9C8D88FE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352EB2C-F447-9BA7-9D06-99E20A45CE9D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Patterns of program alignment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D16682-A440-87DD-5EB5-FA35641703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7</a:t>
            </a:fld>
            <a:endParaRPr lang="en-US" noProof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EF7F73-2C8F-BEB4-8C67-26EEE57BE57F}"/>
              </a:ext>
            </a:extLst>
          </p:cNvPr>
          <p:cNvSpPr txBox="1"/>
          <p:nvPr/>
        </p:nvSpPr>
        <p:spPr>
          <a:xfrm>
            <a:off x="469556" y="2022795"/>
            <a:ext cx="66644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Necessary/have time?</a:t>
            </a:r>
          </a:p>
        </p:txBody>
      </p:sp>
    </p:spTree>
    <p:extLst>
      <p:ext uri="{BB962C8B-B14F-4D97-AF65-F5344CB8AC3E}">
        <p14:creationId xmlns:p14="http://schemas.microsoft.com/office/powerpoint/2010/main" val="16376900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1F572-D5BE-3853-1E62-6BE500029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F72F578-9269-9575-A7D6-C73204395B04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Translation Rules (1/2)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2FDF42-FAB6-4165-6CCD-2601338C1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8</a:t>
            </a:fld>
            <a:endParaRPr lang="en-US" noProof="1"/>
          </a:p>
        </p:txBody>
      </p:sp>
      <p:pic>
        <p:nvPicPr>
          <p:cNvPr id="14" name="Picture 13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D21F12F8-1BBD-9B71-BE88-DE59D50C33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4968"/>
          <a:stretch>
            <a:fillRect/>
          </a:stretch>
        </p:blipFill>
        <p:spPr>
          <a:xfrm>
            <a:off x="469556" y="1433421"/>
            <a:ext cx="6845644" cy="3794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49418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0B915-9A2E-33C4-5E58-C75F196B2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944263-BF22-3275-6282-333EDDBAF915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Translation Rules (2/2)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602C16-676E-4271-DAF7-66F0B91D4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9</a:t>
            </a:fld>
            <a:endParaRPr lang="en-US" noProof="1"/>
          </a:p>
        </p:txBody>
      </p:sp>
      <p:pic>
        <p:nvPicPr>
          <p:cNvPr id="5" name="Picture 4" descr="A screenshot of a computer code">
            <a:extLst>
              <a:ext uri="{FF2B5EF4-FFF2-40B4-BE49-F238E27FC236}">
                <a16:creationId xmlns:a16="http://schemas.microsoft.com/office/drawing/2014/main" id="{D43379FB-A11C-DD1E-3037-93D9689A40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580" b="25171"/>
          <a:stretch>
            <a:fillRect/>
          </a:stretch>
        </p:blipFill>
        <p:spPr>
          <a:xfrm>
            <a:off x="469556" y="1718943"/>
            <a:ext cx="6723977" cy="1303657"/>
          </a:xfrm>
          <a:prstGeom prst="rect">
            <a:avLst/>
          </a:prstGeom>
        </p:spPr>
      </p:pic>
      <p:pic>
        <p:nvPicPr>
          <p:cNvPr id="7" name="Picture 6" descr="A screenshot of a computer code">
            <a:extLst>
              <a:ext uri="{FF2B5EF4-FFF2-40B4-BE49-F238E27FC236}">
                <a16:creationId xmlns:a16="http://schemas.microsoft.com/office/drawing/2014/main" id="{5096CF0A-1AFF-C830-2A09-208F86EE78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435"/>
          <a:stretch>
            <a:fillRect/>
          </a:stretch>
        </p:blipFill>
        <p:spPr>
          <a:xfrm>
            <a:off x="1145171" y="3098800"/>
            <a:ext cx="6723977" cy="1731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09740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E1F5A8-F169-2814-0EC4-DF33D094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58B3932-2A7C-3A6E-6E7E-EEAB07A52280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From bip2ml 2 WhyRel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22067F-F56B-7D25-A9C7-976D469A4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10</a:t>
            </a:fld>
            <a:endParaRPr lang="en-US" noProof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01DFD2-1A28-5BB8-86A8-B175A9BADBA6}"/>
              </a:ext>
            </a:extLst>
          </p:cNvPr>
          <p:cNvSpPr txBox="1"/>
          <p:nvPr/>
        </p:nvSpPr>
        <p:spPr>
          <a:xfrm>
            <a:off x="469556" y="1884297"/>
            <a:ext cx="696097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noProof="1">
                <a:solidFill>
                  <a:srgbClr val="002060"/>
                </a:solidFill>
              </a:rPr>
              <a:t>Why?</a:t>
            </a:r>
          </a:p>
          <a:p>
            <a:endParaRPr lang="en-US" sz="2400" i="1" noProof="1">
              <a:solidFill>
                <a:srgbClr val="002060"/>
              </a:solidFill>
            </a:endParaRPr>
          </a:p>
          <a:p>
            <a:r>
              <a:rPr lang="en-US" sz="2400" noProof="1">
                <a:solidFill>
                  <a:srgbClr val="002060"/>
                </a:solidFill>
              </a:rPr>
              <a:t>To allow programmers to verify relational properties about their OCaml projects without needing to:</a:t>
            </a:r>
          </a:p>
          <a:p>
            <a:pPr lvl="1"/>
            <a:r>
              <a:rPr lang="en-US" sz="2400" noProof="1">
                <a:solidFill>
                  <a:srgbClr val="002060"/>
                </a:solidFill>
              </a:rPr>
              <a:t>- Completely rewrite the code</a:t>
            </a:r>
          </a:p>
          <a:p>
            <a:pPr lvl="1"/>
            <a:r>
              <a:rPr lang="en-US" sz="2400" noProof="1">
                <a:solidFill>
                  <a:srgbClr val="002060"/>
                </a:solidFill>
              </a:rPr>
              <a:t>- Learn a different programming language</a:t>
            </a:r>
          </a:p>
        </p:txBody>
      </p:sp>
    </p:spTree>
    <p:extLst>
      <p:ext uri="{BB962C8B-B14F-4D97-AF65-F5344CB8AC3E}">
        <p14:creationId xmlns:p14="http://schemas.microsoft.com/office/powerpoint/2010/main" val="32922777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0D219-590C-B954-1A55-6E398BBB8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34082B-5CA4-6116-FE7C-1C2099477B58}"/>
              </a:ext>
            </a:extLst>
          </p:cNvPr>
          <p:cNvSpPr txBox="1"/>
          <p:nvPr/>
        </p:nvSpPr>
        <p:spPr>
          <a:xfrm>
            <a:off x="2397211" y="2026503"/>
            <a:ext cx="43495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noProof="1">
                <a:solidFill>
                  <a:srgbClr val="002060"/>
                </a:solidFill>
              </a:rPr>
              <a:t>bip2ml</a:t>
            </a:r>
            <a:endParaRPr lang="en-US" sz="4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99FC01B-5B72-8DED-FCC8-3C3488E82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11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5234523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1096D9-A956-439C-64CD-BE3345CEA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D5E61C9-7408-2043-3AB4-9534A6C836AD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What is bip2ml?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3AF3DB-62AF-2FF2-62F5-000DBFDA8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12</a:t>
            </a:fld>
            <a:endParaRPr lang="en-US" noProof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B3AE1B-E870-C78E-3804-A7F4A80E557E}"/>
              </a:ext>
            </a:extLst>
          </p:cNvPr>
          <p:cNvSpPr txBox="1"/>
          <p:nvPr/>
        </p:nvSpPr>
        <p:spPr>
          <a:xfrm>
            <a:off x="469556" y="1884297"/>
            <a:ext cx="666441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A transpiler that eases verification of relational properties about Ocaml programs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Transpiles biprograms using the translation rules defined by WhyRel’s authors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Input: Gospel-annotated BipLang code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Output: Gospel-annotated Ocaml code</a:t>
            </a:r>
          </a:p>
        </p:txBody>
      </p:sp>
    </p:spTree>
    <p:extLst>
      <p:ext uri="{BB962C8B-B14F-4D97-AF65-F5344CB8AC3E}">
        <p14:creationId xmlns:p14="http://schemas.microsoft.com/office/powerpoint/2010/main" val="12367742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204D3-2CAC-93FE-D706-98DDA75D4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7F3F82-E861-1DB0-DEF2-FE290186730F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bip2ml + Cameleer Architecture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1D7D4F-A2D4-B858-6236-10F23496E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13</a:t>
            </a:fld>
            <a:endParaRPr lang="en-US" noProof="1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4B1599C-094B-F8F3-5A1B-547C33687B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778" y="2430780"/>
            <a:ext cx="8674444" cy="85343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957108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3D555-A7D6-53C5-1495-D2B554837B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2681A5C-854E-9EA8-CC38-920D2F571A0A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bip2ml Architecture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8FC1B6-F6FF-E954-30AA-3278B7BFB0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14</a:t>
            </a:fld>
            <a:endParaRPr lang="en-US" noProof="1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D5945E5-8767-0F61-5B98-A3B6164543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778" y="2361068"/>
            <a:ext cx="8674444" cy="98977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00997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989A5-A444-961B-2B17-CD22242D0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4192653-D341-353F-5531-00974CDA9117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BipLang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B44FB-BE5D-5511-BC89-A8EA73F85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15</a:t>
            </a:fld>
            <a:endParaRPr lang="en-US" noProof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2F1BD0A-DCBD-E2A9-F8C5-E7384F63E377}"/>
              </a:ext>
            </a:extLst>
          </p:cNvPr>
          <p:cNvSpPr txBox="1"/>
          <p:nvPr/>
        </p:nvSpPr>
        <p:spPr>
          <a:xfrm>
            <a:off x="469557" y="1514965"/>
            <a:ext cx="684564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Simplifies writing biprograms and is based on the biprograms language used in WhyRel’s work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Designed to be as similar as possible to OCaml in terms of syntax and semantics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Some OCaml features are missing, but we add 3 new ones:</a:t>
            </a:r>
          </a:p>
          <a:p>
            <a:r>
              <a:rPr lang="en-US" sz="2400" noProof="1">
                <a:solidFill>
                  <a:srgbClr val="002060"/>
                </a:solidFill>
              </a:rPr>
              <a:t>	- Pipe: &lt;|&gt;</a:t>
            </a:r>
          </a:p>
          <a:p>
            <a:r>
              <a:rPr lang="en-US" sz="2400" noProof="1">
                <a:solidFill>
                  <a:srgbClr val="002060"/>
                </a:solidFill>
              </a:rPr>
              <a:t>	- Floors: |_ and _|</a:t>
            </a:r>
          </a:p>
          <a:p>
            <a:r>
              <a:rPr lang="en-US" sz="2400" noProof="1">
                <a:solidFill>
                  <a:srgbClr val="002060"/>
                </a:solidFill>
              </a:rPr>
              <a:t>	- Conditionally aligned loops</a:t>
            </a:r>
          </a:p>
        </p:txBody>
      </p:sp>
    </p:spTree>
    <p:extLst>
      <p:ext uri="{BB962C8B-B14F-4D97-AF65-F5344CB8AC3E}">
        <p14:creationId xmlns:p14="http://schemas.microsoft.com/office/powerpoint/2010/main" val="39096673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C5B3A4-7FE9-F5E7-C57A-435740514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5BAA36-B89C-45E5-9557-7B125D2E9E47}"/>
              </a:ext>
            </a:extLst>
          </p:cNvPr>
          <p:cNvSpPr txBox="1"/>
          <p:nvPr/>
        </p:nvSpPr>
        <p:spPr>
          <a:xfrm>
            <a:off x="2397211" y="2026503"/>
            <a:ext cx="43495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noProof="1">
                <a:solidFill>
                  <a:srgbClr val="002060"/>
                </a:solidFill>
              </a:rPr>
              <a:t>Case Studies</a:t>
            </a:r>
            <a:endParaRPr lang="en-US" sz="4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1123094-7D5B-73D6-B454-6FDA27B18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16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37681972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70DA57-81A6-5D16-D17A-AE7919A86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80BF330-4933-CEA2-FE3B-5120B541FF4D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mult - BipLang  (1/2)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29E14-F14C-DE19-CD35-B49A28876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17</a:t>
            </a:fld>
            <a:endParaRPr lang="en-US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B54E98-1201-A8A3-3A44-5317EF7D792B}"/>
              </a:ext>
            </a:extLst>
          </p:cNvPr>
          <p:cNvSpPr txBox="1"/>
          <p:nvPr/>
        </p:nvSpPr>
        <p:spPr>
          <a:xfrm>
            <a:off x="469556" y="1326641"/>
            <a:ext cx="6944498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mult_biplang</a:t>
            </a:r>
            <a:r>
              <a:rPr lang="en-US" sz="1600" dirty="0"/>
              <a:t> (|_ n: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 _|, |_ m: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 _|) : |_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 _| = </a:t>
            </a:r>
            <a:r>
              <a:rPr lang="en-US" sz="1600" dirty="0">
                <a:solidFill>
                  <a:srgbClr val="F3530B"/>
                </a:solidFill>
              </a:rPr>
              <a:t>begin</a:t>
            </a:r>
          </a:p>
          <a:p>
            <a:pPr lvl="1"/>
            <a:r>
              <a:rPr lang="en-US" sz="1600" dirty="0"/>
              <a:t> 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</a:t>
            </a:r>
            <a:r>
              <a:rPr lang="en-US" sz="1600" dirty="0"/>
              <a:t> = |_ ref 0 _|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pPr lvl="1"/>
            <a:r>
              <a:rPr lang="en-US" sz="1600" dirty="0"/>
              <a:t> 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res = |_ ref 0 _|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pPr lvl="1"/>
            <a:endParaRPr lang="en-US" sz="1600" dirty="0"/>
          </a:p>
          <a:p>
            <a:pPr lvl="1"/>
            <a:r>
              <a:rPr lang="en-US" sz="1600" dirty="0"/>
              <a:t> </a:t>
            </a:r>
            <a:r>
              <a:rPr lang="en-US" sz="1600" dirty="0">
                <a:solidFill>
                  <a:srgbClr val="F3530B"/>
                </a:solidFill>
              </a:rPr>
              <a:t>while</a:t>
            </a:r>
            <a:r>
              <a:rPr lang="en-US" sz="1600" dirty="0"/>
              <a:t> |_ !</a:t>
            </a:r>
            <a:r>
              <a:rPr lang="en-US" sz="1600" dirty="0" err="1"/>
              <a:t>i</a:t>
            </a:r>
            <a:r>
              <a:rPr lang="en-US" sz="1600" dirty="0"/>
              <a:t> &lt; n _| </a:t>
            </a:r>
            <a:r>
              <a:rPr lang="en-US" sz="1600" dirty="0">
                <a:solidFill>
                  <a:srgbClr val="F3530B"/>
                </a:solidFill>
              </a:rPr>
              <a:t>do</a:t>
            </a:r>
          </a:p>
          <a:p>
            <a:pPr lvl="1"/>
            <a:r>
              <a:rPr lang="en-US" sz="1600" dirty="0"/>
              <a:t> 	(*@ </a:t>
            </a:r>
            <a:r>
              <a:rPr lang="en-US" sz="1600" dirty="0">
                <a:solidFill>
                  <a:srgbClr val="F3530B"/>
                </a:solidFill>
              </a:rPr>
              <a:t>variant</a:t>
            </a:r>
            <a:r>
              <a:rPr lang="en-US" sz="1600" dirty="0"/>
              <a:t>       </a:t>
            </a:r>
            <a:r>
              <a:rPr lang="en-US" sz="1600" dirty="0" err="1"/>
              <a:t>n_l</a:t>
            </a:r>
            <a:r>
              <a:rPr lang="en-US" sz="1600" dirty="0"/>
              <a:t> - !</a:t>
            </a:r>
            <a:r>
              <a:rPr lang="en-US" sz="1600" dirty="0" err="1"/>
              <a:t>i_l</a:t>
            </a:r>
            <a:r>
              <a:rPr lang="en-US" sz="1600" dirty="0"/>
              <a:t> </a:t>
            </a:r>
          </a:p>
          <a:p>
            <a:pPr lvl="1"/>
            <a:r>
              <a:rPr lang="en-US" sz="1600" dirty="0"/>
              <a:t>	          </a:t>
            </a:r>
            <a:r>
              <a:rPr lang="en-US" sz="1600" dirty="0">
                <a:solidFill>
                  <a:srgbClr val="F3530B"/>
                </a:solidFill>
              </a:rPr>
              <a:t>invariant</a:t>
            </a:r>
            <a:r>
              <a:rPr lang="en-US" sz="1600" dirty="0"/>
              <a:t>  !</a:t>
            </a:r>
            <a:r>
              <a:rPr lang="en-US" sz="1600" dirty="0" err="1"/>
              <a:t>i_l</a:t>
            </a:r>
            <a:r>
              <a:rPr lang="en-US" sz="1600" dirty="0"/>
              <a:t> = !</a:t>
            </a:r>
            <a:r>
              <a:rPr lang="en-US" sz="1600" dirty="0" err="1"/>
              <a:t>i_r</a:t>
            </a:r>
            <a:r>
              <a:rPr lang="en-US" sz="1600" dirty="0"/>
              <a:t> &amp;&amp; !</a:t>
            </a:r>
            <a:r>
              <a:rPr lang="en-US" sz="1600" dirty="0" err="1"/>
              <a:t>res_l</a:t>
            </a:r>
            <a:r>
              <a:rPr lang="en-US" sz="1600" dirty="0"/>
              <a:t> = ! </a:t>
            </a:r>
            <a:r>
              <a:rPr lang="en-US" sz="1600" dirty="0" err="1"/>
              <a:t>res_r</a:t>
            </a:r>
            <a:r>
              <a:rPr lang="en-US" sz="1600" dirty="0"/>
              <a:t> *)</a:t>
            </a:r>
          </a:p>
          <a:p>
            <a:pPr lvl="1"/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previous_res_l</a:t>
            </a:r>
            <a:r>
              <a:rPr lang="en-US" sz="1600" dirty="0"/>
              <a:t> = !</a:t>
            </a:r>
            <a:r>
              <a:rPr lang="en-US" sz="1600" dirty="0" err="1"/>
              <a:t>res_l</a:t>
            </a:r>
            <a:r>
              <a:rPr lang="en-US" sz="1600" dirty="0"/>
              <a:t>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  <a:r>
              <a:rPr lang="en-US" sz="1600" dirty="0"/>
              <a:t> </a:t>
            </a:r>
          </a:p>
          <a:p>
            <a:pPr lvl="1"/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j = |_ ref 0 _|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pPr lvl="1"/>
            <a:endParaRPr lang="en-US" sz="1600" dirty="0"/>
          </a:p>
          <a:p>
            <a:pPr lvl="1"/>
            <a:r>
              <a:rPr lang="en-US" sz="1600" dirty="0"/>
              <a:t>	 ( </a:t>
            </a:r>
          </a:p>
          <a:p>
            <a:pPr lvl="1"/>
            <a:r>
              <a:rPr lang="en-US" sz="1600" dirty="0"/>
              <a:t>		(</a:t>
            </a:r>
            <a:r>
              <a:rPr lang="en-US" sz="1600" dirty="0">
                <a:solidFill>
                  <a:srgbClr val="F3530B"/>
                </a:solidFill>
              </a:rPr>
              <a:t>while</a:t>
            </a:r>
            <a:r>
              <a:rPr lang="en-US" sz="1600" dirty="0"/>
              <a:t> (!j &lt; m) </a:t>
            </a:r>
            <a:r>
              <a:rPr lang="en-US" sz="1600" dirty="0">
                <a:solidFill>
                  <a:srgbClr val="F3530B"/>
                </a:solidFill>
              </a:rPr>
              <a:t>do</a:t>
            </a:r>
            <a:r>
              <a:rPr lang="en-US" sz="1600" dirty="0"/>
              <a:t> </a:t>
            </a:r>
          </a:p>
          <a:p>
            <a:pPr lvl="1"/>
            <a:r>
              <a:rPr lang="en-US" sz="1600" dirty="0"/>
              <a:t>			(*@ </a:t>
            </a:r>
            <a:r>
              <a:rPr lang="en-US" sz="1600" dirty="0">
                <a:solidFill>
                  <a:srgbClr val="F3530B"/>
                </a:solidFill>
              </a:rPr>
              <a:t>variant</a:t>
            </a:r>
            <a:r>
              <a:rPr lang="en-US" sz="1600" dirty="0"/>
              <a:t>      </a:t>
            </a:r>
            <a:r>
              <a:rPr lang="en-US" sz="1600" dirty="0" err="1"/>
              <a:t>m_l</a:t>
            </a:r>
            <a:r>
              <a:rPr lang="en-US" sz="1600" dirty="0"/>
              <a:t> - !</a:t>
            </a:r>
            <a:r>
              <a:rPr lang="en-US" sz="1600" dirty="0" err="1"/>
              <a:t>j_l</a:t>
            </a:r>
            <a:r>
              <a:rPr lang="en-US" sz="1600" dirty="0"/>
              <a:t> </a:t>
            </a:r>
          </a:p>
          <a:p>
            <a:pPr lvl="1"/>
            <a:r>
              <a:rPr lang="en-US" sz="1600" dirty="0"/>
              <a:t>			          </a:t>
            </a:r>
            <a:r>
              <a:rPr lang="en-US" sz="1600" dirty="0">
                <a:solidFill>
                  <a:srgbClr val="F3530B"/>
                </a:solidFill>
              </a:rPr>
              <a:t>invariant</a:t>
            </a:r>
            <a:r>
              <a:rPr lang="en-US" sz="1600" dirty="0"/>
              <a:t> 0 ≤ !</a:t>
            </a:r>
            <a:r>
              <a:rPr lang="en-US" sz="1600" dirty="0" err="1"/>
              <a:t>j_l</a:t>
            </a:r>
            <a:r>
              <a:rPr lang="en-US" sz="1600" dirty="0"/>
              <a:t> ≤ </a:t>
            </a:r>
            <a:r>
              <a:rPr lang="en-US" sz="1600" dirty="0" err="1"/>
              <a:t>m_l</a:t>
            </a:r>
            <a:r>
              <a:rPr lang="en-US" sz="1600" dirty="0"/>
              <a:t> &amp;&amp; !</a:t>
            </a:r>
            <a:r>
              <a:rPr lang="en-US" sz="1600" dirty="0" err="1"/>
              <a:t>res_l</a:t>
            </a:r>
            <a:r>
              <a:rPr lang="en-US" sz="1600" dirty="0"/>
              <a:t> = !</a:t>
            </a:r>
            <a:r>
              <a:rPr lang="en-US" sz="1600" dirty="0" err="1"/>
              <a:t>res_r</a:t>
            </a:r>
            <a:r>
              <a:rPr lang="en-US" sz="1600" dirty="0"/>
              <a:t> + !</a:t>
            </a:r>
            <a:r>
              <a:rPr lang="en-US" sz="1600" dirty="0" err="1"/>
              <a:t>j_l</a:t>
            </a:r>
            <a:r>
              <a:rPr lang="en-US" sz="1600" dirty="0"/>
              <a:t> *)</a:t>
            </a:r>
          </a:p>
          <a:p>
            <a:pPr lvl="1"/>
            <a:r>
              <a:rPr lang="en-US" sz="1600" dirty="0"/>
              <a:t>			 res := !res + 1; </a:t>
            </a:r>
          </a:p>
          <a:p>
            <a:pPr lvl="1"/>
            <a:r>
              <a:rPr lang="en-US" sz="1600" dirty="0"/>
              <a:t>			j := !j + 1 </a:t>
            </a:r>
          </a:p>
          <a:p>
            <a:pPr lvl="1"/>
            <a:r>
              <a:rPr lang="en-US" sz="1600" dirty="0"/>
              <a:t>		</a:t>
            </a:r>
            <a:r>
              <a:rPr lang="en-US" sz="1600" dirty="0">
                <a:solidFill>
                  <a:srgbClr val="F3530B"/>
                </a:solidFill>
              </a:rPr>
              <a:t>done</a:t>
            </a:r>
            <a:r>
              <a:rPr lang="en-US" sz="1600" dirty="0"/>
              <a:t>) </a:t>
            </a:r>
          </a:p>
          <a:p>
            <a:pPr lvl="1"/>
            <a:endParaRPr lang="en-US" sz="1600" dirty="0"/>
          </a:p>
          <a:p>
            <a:pPr lvl="1"/>
            <a:r>
              <a:rPr lang="en-US" sz="1600" dirty="0"/>
              <a:t>	 	</a:t>
            </a:r>
          </a:p>
        </p:txBody>
      </p:sp>
    </p:spTree>
    <p:extLst>
      <p:ext uri="{BB962C8B-B14F-4D97-AF65-F5344CB8AC3E}">
        <p14:creationId xmlns:p14="http://schemas.microsoft.com/office/powerpoint/2010/main" val="14686273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6C375-5114-E08A-ACF7-8DC5CC11E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63A2B8F-A6DC-BB28-4D1C-1D15941CDB17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mult - BipLang  (2/2)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1CC79A-EDC9-9E72-C07B-E7F641CAC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18</a:t>
            </a:fld>
            <a:endParaRPr lang="en-US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90F0BC-BDEE-D826-69C7-37B335EBC49A}"/>
              </a:ext>
            </a:extLst>
          </p:cNvPr>
          <p:cNvSpPr txBox="1"/>
          <p:nvPr/>
        </p:nvSpPr>
        <p:spPr>
          <a:xfrm>
            <a:off x="0" y="1407243"/>
            <a:ext cx="5878404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1"/>
            <a:r>
              <a:rPr lang="en-US" sz="1600" dirty="0"/>
              <a:t>		&lt;|&gt;</a:t>
            </a:r>
          </a:p>
          <a:p>
            <a:pPr lvl="1"/>
            <a:r>
              <a:rPr lang="en-US" sz="1600" dirty="0"/>
              <a:t>		(res := !res + m)); </a:t>
            </a:r>
          </a:p>
          <a:p>
            <a:pPr lvl="1"/>
            <a:r>
              <a:rPr lang="en-US" sz="1600" dirty="0"/>
              <a:t>		</a:t>
            </a:r>
            <a:r>
              <a:rPr lang="en-US" sz="1600" dirty="0">
                <a:solidFill>
                  <a:srgbClr val="F3530B"/>
                </a:solidFill>
              </a:rPr>
              <a:t>assert</a:t>
            </a:r>
            <a:r>
              <a:rPr lang="en-US" sz="1600" dirty="0"/>
              <a:t> ((!</a:t>
            </a:r>
            <a:r>
              <a:rPr lang="en-US" sz="1600" dirty="0" err="1"/>
              <a:t>res_l</a:t>
            </a:r>
            <a:r>
              <a:rPr lang="en-US" sz="1600" dirty="0"/>
              <a:t> = </a:t>
            </a:r>
            <a:r>
              <a:rPr lang="en-US" sz="1600" dirty="0" err="1"/>
              <a:t>previous_res_l</a:t>
            </a:r>
            <a:r>
              <a:rPr lang="en-US" sz="1600" dirty="0"/>
              <a:t> + </a:t>
            </a:r>
            <a:r>
              <a:rPr lang="en-US" sz="1600" dirty="0" err="1"/>
              <a:t>m_l</a:t>
            </a:r>
            <a:r>
              <a:rPr lang="en-US" sz="1600" dirty="0"/>
              <a:t>));</a:t>
            </a:r>
          </a:p>
          <a:p>
            <a:pPr lvl="1"/>
            <a:r>
              <a:rPr lang="en-US" sz="1600" dirty="0"/>
              <a:t>		</a:t>
            </a:r>
            <a:r>
              <a:rPr lang="en-US" sz="1600" dirty="0" err="1"/>
              <a:t>i</a:t>
            </a:r>
            <a:r>
              <a:rPr lang="en-US" sz="1600" dirty="0"/>
              <a:t> := |_ !</a:t>
            </a:r>
            <a:r>
              <a:rPr lang="en-US" sz="1600" dirty="0" err="1"/>
              <a:t>i</a:t>
            </a:r>
            <a:r>
              <a:rPr lang="en-US" sz="1600" dirty="0"/>
              <a:t> + 1 _| </a:t>
            </a:r>
          </a:p>
          <a:p>
            <a:pPr lvl="1"/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done</a:t>
            </a:r>
            <a:r>
              <a:rPr lang="en-US" sz="1600" dirty="0"/>
              <a:t>; </a:t>
            </a:r>
          </a:p>
          <a:p>
            <a:pPr lvl="1"/>
            <a:endParaRPr lang="en-US" sz="1600" dirty="0"/>
          </a:p>
          <a:p>
            <a:pPr lvl="1"/>
            <a:r>
              <a:rPr lang="en-US" sz="1600" dirty="0"/>
              <a:t>	|_ !res _| </a:t>
            </a:r>
          </a:p>
          <a:p>
            <a:pPr lvl="1"/>
            <a:r>
              <a:rPr lang="en-US" sz="1600" dirty="0">
                <a:solidFill>
                  <a:srgbClr val="F3530B"/>
                </a:solidFill>
              </a:rPr>
              <a:t>end</a:t>
            </a:r>
            <a:r>
              <a:rPr lang="en-US" sz="1600" dirty="0"/>
              <a:t> </a:t>
            </a:r>
          </a:p>
          <a:p>
            <a:pPr lvl="1"/>
            <a:r>
              <a:rPr lang="en-US" sz="1600" dirty="0"/>
              <a:t>(*@ </a:t>
            </a:r>
            <a:r>
              <a:rPr lang="en-US" sz="1600" dirty="0">
                <a:solidFill>
                  <a:srgbClr val="F3530B"/>
                </a:solidFill>
              </a:rPr>
              <a:t>requires</a:t>
            </a:r>
            <a:r>
              <a:rPr lang="en-US" sz="1600" dirty="0"/>
              <a:t> </a:t>
            </a:r>
            <a:r>
              <a:rPr lang="en-US" sz="1600" dirty="0" err="1"/>
              <a:t>n_l</a:t>
            </a:r>
            <a:r>
              <a:rPr lang="en-US" sz="1600" dirty="0"/>
              <a:t> = </a:t>
            </a:r>
            <a:r>
              <a:rPr lang="en-US" sz="1600" dirty="0" err="1"/>
              <a:t>n_r</a:t>
            </a:r>
            <a:r>
              <a:rPr lang="en-US" sz="1600" dirty="0"/>
              <a:t> &amp;&amp; </a:t>
            </a:r>
            <a:r>
              <a:rPr lang="en-US" sz="1600" dirty="0" err="1"/>
              <a:t>m_l</a:t>
            </a:r>
            <a:r>
              <a:rPr lang="en-US" sz="1600" dirty="0"/>
              <a:t> = </a:t>
            </a:r>
            <a:r>
              <a:rPr lang="en-US" sz="1600" dirty="0" err="1"/>
              <a:t>m_r</a:t>
            </a:r>
            <a:r>
              <a:rPr lang="en-US" sz="1600" dirty="0"/>
              <a:t> &amp;&amp; </a:t>
            </a:r>
            <a:r>
              <a:rPr lang="en-US" sz="1600" dirty="0" err="1"/>
              <a:t>m_l</a:t>
            </a:r>
            <a:r>
              <a:rPr lang="en-US" sz="1600" dirty="0"/>
              <a:t> ≥ 0 </a:t>
            </a:r>
          </a:p>
          <a:p>
            <a:pPr lvl="1"/>
            <a:r>
              <a:rPr lang="en-US" sz="1600" dirty="0"/>
              <a:t>         </a:t>
            </a:r>
            <a:r>
              <a:rPr lang="en-US" sz="1600" dirty="0">
                <a:solidFill>
                  <a:srgbClr val="F3530B"/>
                </a:solidFill>
              </a:rPr>
              <a:t>ensures</a:t>
            </a:r>
            <a:r>
              <a:rPr lang="en-US" sz="1600" dirty="0"/>
              <a:t> match result with (</a:t>
            </a:r>
            <a:r>
              <a:rPr lang="en-US" sz="1600" dirty="0" err="1"/>
              <a:t>l_res</a:t>
            </a:r>
            <a:r>
              <a:rPr lang="en-US" sz="1600" dirty="0"/>
              <a:t>, </a:t>
            </a:r>
            <a:r>
              <a:rPr lang="en-US" sz="1600" dirty="0" err="1"/>
              <a:t>r_res</a:t>
            </a:r>
            <a:r>
              <a:rPr lang="en-US" sz="1600" dirty="0"/>
              <a:t>) → </a:t>
            </a:r>
            <a:r>
              <a:rPr lang="en-US" sz="1600" dirty="0" err="1"/>
              <a:t>l_res</a:t>
            </a:r>
            <a:r>
              <a:rPr lang="en-US" sz="1600" dirty="0"/>
              <a:t> = </a:t>
            </a:r>
            <a:r>
              <a:rPr lang="en-US" sz="1600" dirty="0" err="1"/>
              <a:t>r_res</a:t>
            </a:r>
            <a:r>
              <a:rPr lang="en-US" sz="1600" dirty="0"/>
              <a:t> *)</a:t>
            </a:r>
          </a:p>
          <a:p>
            <a:pPr lvl="1"/>
            <a:r>
              <a:rPr lang="en-US" sz="1600" dirty="0"/>
              <a:t>	 	</a:t>
            </a:r>
          </a:p>
        </p:txBody>
      </p:sp>
    </p:spTree>
    <p:extLst>
      <p:ext uri="{BB962C8B-B14F-4D97-AF65-F5344CB8AC3E}">
        <p14:creationId xmlns:p14="http://schemas.microsoft.com/office/powerpoint/2010/main" val="7160721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B54E8D-B6D5-0230-DF37-1C43B702C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2A7A9C4-A0A2-C6B1-8BFE-2ABD7DBBE57A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mult - OCaml  (1/2)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770F71-793B-9A14-6C40-D1E1BC1DD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19</a:t>
            </a:fld>
            <a:endParaRPr lang="en-US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1C708B-8C9C-C8CD-D68A-5E9330C457EC}"/>
              </a:ext>
            </a:extLst>
          </p:cNvPr>
          <p:cNvSpPr txBox="1"/>
          <p:nvPr/>
        </p:nvSpPr>
        <p:spPr>
          <a:xfrm>
            <a:off x="469556" y="1417221"/>
            <a:ext cx="5782737" cy="40318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mult_ocaml</a:t>
            </a:r>
            <a:r>
              <a:rPr lang="en-US" sz="1600" dirty="0"/>
              <a:t> </a:t>
            </a:r>
            <a:r>
              <a:rPr lang="pt-PT" sz="1600" dirty="0"/>
              <a:t>(</a:t>
            </a:r>
            <a:r>
              <a:rPr lang="pt-PT" sz="1600" dirty="0" err="1"/>
              <a:t>n_l</a:t>
            </a:r>
            <a:r>
              <a:rPr lang="pt-PT" sz="1600" dirty="0"/>
              <a:t> : </a:t>
            </a:r>
            <a:r>
              <a:rPr lang="pt-PT" sz="1600" dirty="0" err="1">
                <a:solidFill>
                  <a:srgbClr val="F3530B"/>
                </a:solidFill>
              </a:rPr>
              <a:t>int</a:t>
            </a:r>
            <a:r>
              <a:rPr lang="pt-PT" sz="1600" dirty="0"/>
              <a:t>) (</a:t>
            </a:r>
            <a:r>
              <a:rPr lang="pt-PT" sz="1600" dirty="0" err="1"/>
              <a:t>n_r</a:t>
            </a:r>
            <a:r>
              <a:rPr lang="pt-PT" sz="1600" dirty="0"/>
              <a:t> : </a:t>
            </a:r>
            <a:r>
              <a:rPr lang="pt-PT" sz="1600" dirty="0" err="1">
                <a:solidFill>
                  <a:srgbClr val="F3530B"/>
                </a:solidFill>
              </a:rPr>
              <a:t>int</a:t>
            </a:r>
            <a:r>
              <a:rPr lang="pt-PT" sz="1600" dirty="0"/>
              <a:t>) (</a:t>
            </a:r>
            <a:r>
              <a:rPr lang="pt-PT" sz="1600" dirty="0" err="1"/>
              <a:t>m_l</a:t>
            </a:r>
            <a:r>
              <a:rPr lang="pt-PT" sz="1600" dirty="0"/>
              <a:t> : </a:t>
            </a:r>
            <a:r>
              <a:rPr lang="pt-PT" sz="1600" dirty="0" err="1">
                <a:solidFill>
                  <a:srgbClr val="F3530B"/>
                </a:solidFill>
              </a:rPr>
              <a:t>int</a:t>
            </a:r>
            <a:r>
              <a:rPr lang="pt-PT" sz="1600" dirty="0"/>
              <a:t>) (</a:t>
            </a:r>
            <a:r>
              <a:rPr lang="pt-PT" sz="1600" dirty="0" err="1"/>
              <a:t>m_r</a:t>
            </a:r>
            <a:r>
              <a:rPr lang="pt-PT" sz="1600" dirty="0"/>
              <a:t> : </a:t>
            </a:r>
            <a:r>
              <a:rPr lang="pt-PT" sz="1600" dirty="0" err="1">
                <a:solidFill>
                  <a:srgbClr val="F3530B"/>
                </a:solidFill>
              </a:rPr>
              <a:t>int</a:t>
            </a:r>
            <a:r>
              <a:rPr lang="pt-PT" sz="1600" dirty="0"/>
              <a:t>)</a:t>
            </a:r>
            <a:r>
              <a:rPr lang="en-US" sz="1600" dirty="0"/>
              <a:t> :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 *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 =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i_l</a:t>
            </a:r>
            <a:r>
              <a:rPr lang="en-US" sz="1600" dirty="0"/>
              <a:t> = ref (0)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pPr lvl="1"/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i_r</a:t>
            </a:r>
            <a:r>
              <a:rPr lang="en-US" sz="1600" dirty="0"/>
              <a:t> = ref (0)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pPr lvl="1"/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res_l</a:t>
            </a:r>
            <a:r>
              <a:rPr lang="en-US" sz="1600" dirty="0"/>
              <a:t> = ref (0)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pPr lvl="1"/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res_r</a:t>
            </a:r>
            <a:r>
              <a:rPr lang="en-US" sz="1600" dirty="0"/>
              <a:t> = ref (0)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pPr lvl="1"/>
            <a:endParaRPr lang="en-US" sz="1600" dirty="0"/>
          </a:p>
          <a:p>
            <a:pPr lvl="1"/>
            <a:r>
              <a:rPr lang="en-US" sz="1600" dirty="0">
                <a:solidFill>
                  <a:srgbClr val="F3530B"/>
                </a:solidFill>
              </a:rPr>
              <a:t>while</a:t>
            </a:r>
            <a:r>
              <a:rPr lang="en-US" sz="1600" dirty="0"/>
              <a:t> (!</a:t>
            </a:r>
            <a:r>
              <a:rPr lang="en-US" sz="1600" dirty="0" err="1"/>
              <a:t>i_l</a:t>
            </a:r>
            <a:r>
              <a:rPr lang="en-US" sz="1600" dirty="0"/>
              <a:t> &lt; </a:t>
            </a:r>
            <a:r>
              <a:rPr lang="en-US" sz="1600" dirty="0" err="1"/>
              <a:t>n_l</a:t>
            </a:r>
            <a:r>
              <a:rPr lang="en-US" sz="1600" dirty="0"/>
              <a:t>) </a:t>
            </a:r>
            <a:r>
              <a:rPr lang="en-US" sz="1600" dirty="0">
                <a:solidFill>
                  <a:srgbClr val="F3530B"/>
                </a:solidFill>
              </a:rPr>
              <a:t>do</a:t>
            </a:r>
          </a:p>
          <a:p>
            <a:pPr lvl="1"/>
            <a:r>
              <a:rPr lang="en-US" sz="1600" dirty="0"/>
              <a:t> 	</a:t>
            </a:r>
            <a:r>
              <a:rPr lang="pt-PT" sz="1600" dirty="0"/>
              <a:t>(*@ </a:t>
            </a:r>
            <a:r>
              <a:rPr lang="pt-PT" sz="1600" dirty="0" err="1">
                <a:solidFill>
                  <a:srgbClr val="F3530B"/>
                </a:solidFill>
              </a:rPr>
              <a:t>invariant</a:t>
            </a:r>
            <a:r>
              <a:rPr lang="pt-PT" sz="1600" dirty="0"/>
              <a:t>  ((!</a:t>
            </a:r>
            <a:r>
              <a:rPr lang="pt-PT" sz="1600" dirty="0" err="1"/>
              <a:t>i_l</a:t>
            </a:r>
            <a:r>
              <a:rPr lang="pt-PT" sz="1600" dirty="0"/>
              <a:t> &lt; </a:t>
            </a:r>
            <a:r>
              <a:rPr lang="pt-PT" sz="1600" dirty="0" err="1"/>
              <a:t>n_l</a:t>
            </a:r>
            <a:r>
              <a:rPr lang="pt-PT" sz="1600" dirty="0"/>
              <a:t>)) ↔ ((!</a:t>
            </a:r>
            <a:r>
              <a:rPr lang="pt-PT" sz="1600" dirty="0" err="1"/>
              <a:t>i_r</a:t>
            </a:r>
            <a:r>
              <a:rPr lang="pt-PT" sz="1600" dirty="0"/>
              <a:t> &lt; </a:t>
            </a:r>
            <a:r>
              <a:rPr lang="pt-PT" sz="1600" dirty="0" err="1"/>
              <a:t>n_r</a:t>
            </a:r>
            <a:r>
              <a:rPr lang="pt-PT" sz="1600" dirty="0"/>
              <a:t>)) </a:t>
            </a:r>
          </a:p>
          <a:p>
            <a:pPr lvl="1"/>
            <a:r>
              <a:rPr lang="pt-PT" sz="1600" dirty="0"/>
              <a:t>	         </a:t>
            </a:r>
            <a:r>
              <a:rPr lang="pt-PT" sz="1600" dirty="0" err="1">
                <a:solidFill>
                  <a:srgbClr val="F3530B"/>
                </a:solidFill>
              </a:rPr>
              <a:t>variant</a:t>
            </a:r>
            <a:r>
              <a:rPr lang="pt-PT" sz="1600" dirty="0"/>
              <a:t>      </a:t>
            </a:r>
            <a:r>
              <a:rPr lang="pt-PT" sz="1600" dirty="0" err="1"/>
              <a:t>n_l</a:t>
            </a:r>
            <a:r>
              <a:rPr lang="pt-PT" sz="1600" dirty="0"/>
              <a:t> - !</a:t>
            </a:r>
            <a:r>
              <a:rPr lang="pt-PT" sz="1600" dirty="0" err="1"/>
              <a:t>i_l</a:t>
            </a:r>
            <a:r>
              <a:rPr lang="pt-PT" sz="1600" dirty="0"/>
              <a:t> </a:t>
            </a:r>
          </a:p>
          <a:p>
            <a:pPr lvl="1"/>
            <a:r>
              <a:rPr lang="pt-PT" sz="1600" dirty="0"/>
              <a:t> 	         </a:t>
            </a:r>
            <a:r>
              <a:rPr lang="pt-PT" sz="1600" dirty="0" err="1">
                <a:solidFill>
                  <a:srgbClr val="F3530B"/>
                </a:solidFill>
              </a:rPr>
              <a:t>invariant</a:t>
            </a:r>
            <a:r>
              <a:rPr lang="pt-PT" sz="1600" dirty="0"/>
              <a:t>  !</a:t>
            </a:r>
            <a:r>
              <a:rPr lang="pt-PT" sz="1600" dirty="0" err="1"/>
              <a:t>i_l</a:t>
            </a:r>
            <a:r>
              <a:rPr lang="pt-PT" sz="1600" dirty="0"/>
              <a:t> = !</a:t>
            </a:r>
            <a:r>
              <a:rPr lang="pt-PT" sz="1600" dirty="0" err="1"/>
              <a:t>i_r</a:t>
            </a:r>
            <a:r>
              <a:rPr lang="pt-PT" sz="1600" dirty="0"/>
              <a:t> &amp;&amp; !</a:t>
            </a:r>
            <a:r>
              <a:rPr lang="pt-PT" sz="1600" dirty="0" err="1"/>
              <a:t>res_l</a:t>
            </a:r>
            <a:r>
              <a:rPr lang="pt-PT" sz="1600" dirty="0"/>
              <a:t> = ! </a:t>
            </a:r>
            <a:r>
              <a:rPr lang="pt-PT" sz="1600" dirty="0" err="1"/>
              <a:t>res_r</a:t>
            </a:r>
            <a:r>
              <a:rPr lang="pt-PT" sz="1600" dirty="0"/>
              <a:t> *)</a:t>
            </a:r>
          </a:p>
          <a:p>
            <a:pPr lvl="1"/>
            <a:r>
              <a:rPr lang="en-US" sz="1600" dirty="0"/>
              <a:t>	</a:t>
            </a:r>
          </a:p>
          <a:p>
            <a:pPr lvl="1"/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previous_res_l</a:t>
            </a:r>
            <a:r>
              <a:rPr lang="en-US" sz="1600" dirty="0"/>
              <a:t> = !</a:t>
            </a:r>
            <a:r>
              <a:rPr lang="en-US" sz="1600" dirty="0" err="1"/>
              <a:t>res_l</a:t>
            </a:r>
            <a:r>
              <a:rPr lang="en-US" sz="1600" dirty="0"/>
              <a:t>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  <a:r>
              <a:rPr lang="en-US" sz="1600" dirty="0"/>
              <a:t> </a:t>
            </a:r>
          </a:p>
          <a:p>
            <a:pPr lvl="1"/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j_l</a:t>
            </a:r>
            <a:r>
              <a:rPr lang="en-US" sz="1600" dirty="0"/>
              <a:t> = ref (0)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  <a:r>
              <a:rPr lang="en-US" sz="1600" dirty="0"/>
              <a:t> </a:t>
            </a:r>
          </a:p>
          <a:p>
            <a:pPr lvl="1"/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j_r</a:t>
            </a:r>
            <a:r>
              <a:rPr lang="en-US" sz="1600" dirty="0"/>
              <a:t> = ref (0)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pPr lvl="1"/>
            <a:r>
              <a:rPr lang="en-US" sz="1600" dirty="0"/>
              <a:t>	</a:t>
            </a:r>
          </a:p>
          <a:p>
            <a:pPr lvl="1"/>
            <a:r>
              <a:rPr lang="en-US" sz="1600" dirty="0"/>
              <a:t>	 	</a:t>
            </a:r>
          </a:p>
        </p:txBody>
      </p:sp>
    </p:spTree>
    <p:extLst>
      <p:ext uri="{BB962C8B-B14F-4D97-AF65-F5344CB8AC3E}">
        <p14:creationId xmlns:p14="http://schemas.microsoft.com/office/powerpoint/2010/main" val="42421519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20333-94D6-A776-B862-B795AF7C6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E7386D-40D1-775D-9328-BEFA5142C258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mult - OCaml  (2/2)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22059E-5343-3455-7802-BB23200843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20</a:t>
            </a:fld>
            <a:endParaRPr lang="en-US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5495DE-E673-BFF5-0798-A90B073A9545}"/>
              </a:ext>
            </a:extLst>
          </p:cNvPr>
          <p:cNvSpPr txBox="1"/>
          <p:nvPr/>
        </p:nvSpPr>
        <p:spPr>
          <a:xfrm>
            <a:off x="0" y="1238698"/>
            <a:ext cx="7103868" cy="42780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1"/>
            <a:r>
              <a:rPr lang="pt-PT" sz="1600" dirty="0"/>
              <a:t>		</a:t>
            </a:r>
            <a:r>
              <a:rPr lang="pt-PT" sz="1600" dirty="0" err="1">
                <a:solidFill>
                  <a:srgbClr val="F3530B"/>
                </a:solidFill>
              </a:rPr>
              <a:t>while</a:t>
            </a:r>
            <a:r>
              <a:rPr lang="pt-PT" sz="1600" dirty="0"/>
              <a:t> (!</a:t>
            </a:r>
            <a:r>
              <a:rPr lang="pt-PT" sz="1600" dirty="0" err="1"/>
              <a:t>j_l</a:t>
            </a:r>
            <a:r>
              <a:rPr lang="pt-PT" sz="1600" dirty="0"/>
              <a:t> &lt; </a:t>
            </a:r>
            <a:r>
              <a:rPr lang="pt-PT" sz="1600" dirty="0" err="1"/>
              <a:t>m_l</a:t>
            </a:r>
            <a:r>
              <a:rPr lang="pt-PT" sz="1600" dirty="0"/>
              <a:t>) </a:t>
            </a:r>
            <a:r>
              <a:rPr lang="pt-PT" sz="1600" dirty="0">
                <a:solidFill>
                  <a:srgbClr val="F3530B"/>
                </a:solidFill>
              </a:rPr>
              <a:t>do</a:t>
            </a:r>
            <a:r>
              <a:rPr lang="pt-PT" sz="1600" dirty="0"/>
              <a:t> </a:t>
            </a:r>
          </a:p>
          <a:p>
            <a:pPr lvl="1"/>
            <a:r>
              <a:rPr lang="pt-PT" sz="1600" dirty="0"/>
              <a:t>			(*@ </a:t>
            </a:r>
            <a:r>
              <a:rPr lang="pt-PT" sz="1600" dirty="0" err="1">
                <a:solidFill>
                  <a:srgbClr val="F3530B"/>
                </a:solidFill>
              </a:rPr>
              <a:t>variant</a:t>
            </a:r>
            <a:r>
              <a:rPr lang="pt-PT" sz="1600" dirty="0"/>
              <a:t>     </a:t>
            </a:r>
            <a:r>
              <a:rPr lang="pt-PT" sz="1600" dirty="0" err="1"/>
              <a:t>m_l</a:t>
            </a:r>
            <a:r>
              <a:rPr lang="pt-PT" sz="1600" dirty="0"/>
              <a:t> - !</a:t>
            </a:r>
            <a:r>
              <a:rPr lang="pt-PT" sz="1600" dirty="0" err="1"/>
              <a:t>j_l</a:t>
            </a:r>
            <a:r>
              <a:rPr lang="pt-PT" sz="1600" dirty="0"/>
              <a:t> </a:t>
            </a:r>
          </a:p>
          <a:p>
            <a:pPr lvl="1"/>
            <a:r>
              <a:rPr lang="pt-PT" sz="1600" dirty="0"/>
              <a:t>			         </a:t>
            </a:r>
            <a:r>
              <a:rPr lang="pt-PT" sz="1600" dirty="0" err="1">
                <a:solidFill>
                  <a:srgbClr val="F3530B"/>
                </a:solidFill>
              </a:rPr>
              <a:t>invariant</a:t>
            </a:r>
            <a:r>
              <a:rPr lang="pt-PT" sz="1600" dirty="0"/>
              <a:t>  0 ≤ !</a:t>
            </a:r>
            <a:r>
              <a:rPr lang="pt-PT" sz="1600" dirty="0" err="1"/>
              <a:t>j_l</a:t>
            </a:r>
            <a:r>
              <a:rPr lang="pt-PT" sz="1600" dirty="0"/>
              <a:t> &amp;&amp; !</a:t>
            </a:r>
            <a:r>
              <a:rPr lang="pt-PT" sz="1600" dirty="0" err="1"/>
              <a:t>j_l</a:t>
            </a:r>
            <a:r>
              <a:rPr lang="pt-PT" sz="1600" dirty="0"/>
              <a:t> ≤ </a:t>
            </a:r>
            <a:r>
              <a:rPr lang="pt-PT" sz="1600" dirty="0" err="1"/>
              <a:t>m_l</a:t>
            </a:r>
            <a:r>
              <a:rPr lang="pt-PT" sz="1600" dirty="0"/>
              <a:t> &amp;&amp; !</a:t>
            </a:r>
            <a:r>
              <a:rPr lang="pt-PT" sz="1600" dirty="0" err="1"/>
              <a:t>res_l</a:t>
            </a:r>
            <a:r>
              <a:rPr lang="pt-PT" sz="1600" dirty="0"/>
              <a:t> = !</a:t>
            </a:r>
            <a:r>
              <a:rPr lang="pt-PT" sz="1600" dirty="0" err="1"/>
              <a:t>res_r</a:t>
            </a:r>
            <a:r>
              <a:rPr lang="pt-PT" sz="1600" dirty="0"/>
              <a:t> + !</a:t>
            </a:r>
            <a:r>
              <a:rPr lang="pt-PT" sz="1600" dirty="0" err="1"/>
              <a:t>j_l</a:t>
            </a:r>
            <a:r>
              <a:rPr lang="pt-PT" sz="1600" dirty="0"/>
              <a:t> *)</a:t>
            </a:r>
          </a:p>
          <a:p>
            <a:pPr lvl="1"/>
            <a:endParaRPr lang="pt-PT" sz="1600" dirty="0"/>
          </a:p>
          <a:p>
            <a:pPr lvl="1"/>
            <a:r>
              <a:rPr lang="pt-PT" sz="1600" dirty="0"/>
              <a:t>			</a:t>
            </a:r>
            <a:r>
              <a:rPr lang="pt-PT" sz="1600" dirty="0" err="1"/>
              <a:t>res_l</a:t>
            </a:r>
            <a:r>
              <a:rPr lang="pt-PT" sz="1600" dirty="0"/>
              <a:t> := (!</a:t>
            </a:r>
            <a:r>
              <a:rPr lang="pt-PT" sz="1600" dirty="0" err="1"/>
              <a:t>res_l</a:t>
            </a:r>
            <a:r>
              <a:rPr lang="pt-PT" sz="1600" dirty="0"/>
              <a:t> + 1); </a:t>
            </a:r>
          </a:p>
          <a:p>
            <a:pPr lvl="1"/>
            <a:r>
              <a:rPr lang="pt-PT" sz="1600" dirty="0"/>
              <a:t>			</a:t>
            </a:r>
            <a:r>
              <a:rPr lang="pt-PT" sz="1600" dirty="0" err="1"/>
              <a:t>j_l</a:t>
            </a:r>
            <a:r>
              <a:rPr lang="pt-PT" sz="1600" dirty="0"/>
              <a:t> := (!</a:t>
            </a:r>
            <a:r>
              <a:rPr lang="pt-PT" sz="1600" dirty="0" err="1"/>
              <a:t>j_l</a:t>
            </a:r>
            <a:r>
              <a:rPr lang="pt-PT" sz="1600" dirty="0"/>
              <a:t> + 1) </a:t>
            </a:r>
          </a:p>
          <a:p>
            <a:pPr lvl="1"/>
            <a:r>
              <a:rPr lang="pt-PT" sz="1600" dirty="0"/>
              <a:t>		</a:t>
            </a:r>
            <a:r>
              <a:rPr lang="pt-PT" sz="1600" dirty="0" err="1">
                <a:solidFill>
                  <a:srgbClr val="F3530B"/>
                </a:solidFill>
              </a:rPr>
              <a:t>done</a:t>
            </a:r>
            <a:r>
              <a:rPr lang="pt-PT" sz="1600" dirty="0"/>
              <a:t>;</a:t>
            </a:r>
          </a:p>
          <a:p>
            <a:pPr lvl="1"/>
            <a:endParaRPr lang="pt-PT" sz="1600" dirty="0"/>
          </a:p>
          <a:p>
            <a:pPr lvl="1"/>
            <a:r>
              <a:rPr lang="pt-PT" sz="1600" dirty="0"/>
              <a:t>		</a:t>
            </a:r>
            <a:r>
              <a:rPr lang="pt-PT" sz="1600" dirty="0" err="1"/>
              <a:t>res_r</a:t>
            </a:r>
            <a:r>
              <a:rPr lang="pt-PT" sz="1600" dirty="0"/>
              <a:t> := (!</a:t>
            </a:r>
            <a:r>
              <a:rPr lang="pt-PT" sz="1600" dirty="0" err="1"/>
              <a:t>res_r</a:t>
            </a:r>
            <a:r>
              <a:rPr lang="pt-PT" sz="1600" dirty="0"/>
              <a:t> + </a:t>
            </a:r>
            <a:r>
              <a:rPr lang="pt-PT" sz="1600" dirty="0" err="1"/>
              <a:t>m_r</a:t>
            </a:r>
            <a:r>
              <a:rPr lang="pt-PT" sz="1600" dirty="0"/>
              <a:t>); </a:t>
            </a:r>
          </a:p>
          <a:p>
            <a:pPr lvl="1"/>
            <a:r>
              <a:rPr lang="pt-PT" sz="1600" dirty="0"/>
              <a:t>		</a:t>
            </a:r>
            <a:r>
              <a:rPr lang="pt-PT" sz="1600" dirty="0" err="1">
                <a:solidFill>
                  <a:srgbClr val="F3530B"/>
                </a:solidFill>
              </a:rPr>
              <a:t>assert</a:t>
            </a:r>
            <a:r>
              <a:rPr lang="pt-PT" sz="1600" dirty="0"/>
              <a:t> ((!</a:t>
            </a:r>
            <a:r>
              <a:rPr lang="pt-PT" sz="1600" dirty="0" err="1"/>
              <a:t>res_l</a:t>
            </a:r>
            <a:r>
              <a:rPr lang="pt-PT" sz="1600" dirty="0"/>
              <a:t> = (</a:t>
            </a:r>
            <a:r>
              <a:rPr lang="pt-PT" sz="1600" dirty="0" err="1"/>
              <a:t>previous_res_l</a:t>
            </a:r>
            <a:r>
              <a:rPr lang="pt-PT" sz="1600" dirty="0"/>
              <a:t> + </a:t>
            </a:r>
            <a:r>
              <a:rPr lang="pt-PT" sz="1600" dirty="0" err="1"/>
              <a:t>m_l</a:t>
            </a:r>
            <a:r>
              <a:rPr lang="pt-PT" sz="1600" dirty="0"/>
              <a:t>))); </a:t>
            </a:r>
          </a:p>
          <a:p>
            <a:pPr lvl="1"/>
            <a:r>
              <a:rPr lang="pt-PT" sz="1600" dirty="0"/>
              <a:t>		</a:t>
            </a:r>
            <a:r>
              <a:rPr lang="pt-PT" sz="1600" dirty="0" err="1"/>
              <a:t>i_l</a:t>
            </a:r>
            <a:r>
              <a:rPr lang="pt-PT" sz="1600" dirty="0"/>
              <a:t> := (!</a:t>
            </a:r>
            <a:r>
              <a:rPr lang="pt-PT" sz="1600" dirty="0" err="1"/>
              <a:t>i_l</a:t>
            </a:r>
            <a:r>
              <a:rPr lang="pt-PT" sz="1600" dirty="0"/>
              <a:t> + 1); </a:t>
            </a:r>
          </a:p>
          <a:p>
            <a:pPr lvl="1"/>
            <a:r>
              <a:rPr lang="pt-PT" sz="1600" dirty="0"/>
              <a:t>		</a:t>
            </a:r>
            <a:r>
              <a:rPr lang="pt-PT" sz="1600" dirty="0" err="1"/>
              <a:t>i_r</a:t>
            </a:r>
            <a:r>
              <a:rPr lang="pt-PT" sz="1600" dirty="0"/>
              <a:t> := (!</a:t>
            </a:r>
            <a:r>
              <a:rPr lang="pt-PT" sz="1600" dirty="0" err="1"/>
              <a:t>i_r</a:t>
            </a:r>
            <a:r>
              <a:rPr lang="pt-PT" sz="1600" dirty="0"/>
              <a:t> + 1) </a:t>
            </a:r>
          </a:p>
          <a:p>
            <a:pPr lvl="1"/>
            <a:r>
              <a:rPr lang="pt-PT" sz="1600" dirty="0"/>
              <a:t>	</a:t>
            </a:r>
            <a:r>
              <a:rPr lang="pt-PT" sz="1600" dirty="0" err="1">
                <a:solidFill>
                  <a:srgbClr val="F3530B"/>
                </a:solidFill>
              </a:rPr>
              <a:t>done</a:t>
            </a:r>
            <a:r>
              <a:rPr lang="pt-PT" sz="1600" dirty="0"/>
              <a:t>; </a:t>
            </a:r>
          </a:p>
          <a:p>
            <a:pPr lvl="1"/>
            <a:endParaRPr lang="pt-PT" sz="1600" dirty="0"/>
          </a:p>
          <a:p>
            <a:pPr lvl="1"/>
            <a:r>
              <a:rPr lang="pt-PT" sz="1600" dirty="0"/>
              <a:t>	(!</a:t>
            </a:r>
            <a:r>
              <a:rPr lang="pt-PT" sz="1600" dirty="0" err="1"/>
              <a:t>res_l</a:t>
            </a:r>
            <a:r>
              <a:rPr lang="pt-PT" sz="1600" dirty="0"/>
              <a:t>, !</a:t>
            </a:r>
            <a:r>
              <a:rPr lang="pt-PT" sz="1600" dirty="0" err="1"/>
              <a:t>res_r</a:t>
            </a:r>
            <a:r>
              <a:rPr lang="pt-PT" sz="1600" dirty="0"/>
              <a:t>) </a:t>
            </a:r>
          </a:p>
          <a:p>
            <a:pPr lvl="1"/>
            <a:r>
              <a:rPr lang="pt-PT" sz="1600" dirty="0"/>
              <a:t>(*@ </a:t>
            </a:r>
            <a:r>
              <a:rPr lang="pt-PT" sz="1600" dirty="0" err="1">
                <a:solidFill>
                  <a:srgbClr val="F3530B"/>
                </a:solidFill>
              </a:rPr>
              <a:t>requires</a:t>
            </a:r>
            <a:r>
              <a:rPr lang="pt-PT" sz="1600" dirty="0"/>
              <a:t>  </a:t>
            </a:r>
            <a:r>
              <a:rPr lang="pt-PT" sz="1600" dirty="0" err="1"/>
              <a:t>n_l</a:t>
            </a:r>
            <a:r>
              <a:rPr lang="pt-PT" sz="1600" dirty="0"/>
              <a:t> = </a:t>
            </a:r>
            <a:r>
              <a:rPr lang="pt-PT" sz="1600" dirty="0" err="1"/>
              <a:t>n_r</a:t>
            </a:r>
            <a:r>
              <a:rPr lang="pt-PT" sz="1600" dirty="0"/>
              <a:t> &amp;&amp; </a:t>
            </a:r>
            <a:r>
              <a:rPr lang="pt-PT" sz="1600" dirty="0" err="1"/>
              <a:t>m_l</a:t>
            </a:r>
            <a:r>
              <a:rPr lang="pt-PT" sz="1600" dirty="0"/>
              <a:t> = </a:t>
            </a:r>
            <a:r>
              <a:rPr lang="pt-PT" sz="1600" dirty="0" err="1"/>
              <a:t>m_r</a:t>
            </a:r>
            <a:r>
              <a:rPr lang="pt-PT" sz="1600" dirty="0"/>
              <a:t> &amp;&amp; </a:t>
            </a:r>
            <a:r>
              <a:rPr lang="pt-PT" sz="1600" dirty="0" err="1"/>
              <a:t>m_l</a:t>
            </a:r>
            <a:r>
              <a:rPr lang="pt-PT" sz="1600" dirty="0"/>
              <a:t> ≥ 0 </a:t>
            </a:r>
          </a:p>
          <a:p>
            <a:pPr lvl="1"/>
            <a:r>
              <a:rPr lang="pt-PT" sz="1600" dirty="0"/>
              <a:t>         </a:t>
            </a:r>
            <a:r>
              <a:rPr lang="pt-PT" sz="1600" dirty="0" err="1">
                <a:solidFill>
                  <a:srgbClr val="F3530B"/>
                </a:solidFill>
              </a:rPr>
              <a:t>ensures</a:t>
            </a:r>
            <a:r>
              <a:rPr lang="pt-PT" sz="1600" dirty="0"/>
              <a:t>  match </a:t>
            </a:r>
            <a:r>
              <a:rPr lang="pt-PT" sz="1600" dirty="0" err="1"/>
              <a:t>result</a:t>
            </a:r>
            <a:r>
              <a:rPr lang="pt-PT" sz="1600" dirty="0"/>
              <a:t> </a:t>
            </a:r>
            <a:r>
              <a:rPr lang="pt-PT" sz="1600" dirty="0" err="1"/>
              <a:t>with</a:t>
            </a:r>
            <a:r>
              <a:rPr lang="pt-PT" sz="1600" dirty="0"/>
              <a:t> (</a:t>
            </a:r>
            <a:r>
              <a:rPr lang="pt-PT" sz="1600" dirty="0" err="1"/>
              <a:t>l_res</a:t>
            </a:r>
            <a:r>
              <a:rPr lang="pt-PT" sz="1600" dirty="0"/>
              <a:t>, </a:t>
            </a:r>
            <a:r>
              <a:rPr lang="pt-PT" sz="1600" dirty="0" err="1"/>
              <a:t>r_res</a:t>
            </a:r>
            <a:r>
              <a:rPr lang="pt-PT" sz="1600" dirty="0"/>
              <a:t>) → </a:t>
            </a:r>
            <a:r>
              <a:rPr lang="pt-PT" sz="1600" dirty="0" err="1"/>
              <a:t>l_res</a:t>
            </a:r>
            <a:r>
              <a:rPr lang="pt-PT" sz="1600" dirty="0"/>
              <a:t> = </a:t>
            </a:r>
            <a:r>
              <a:rPr lang="pt-PT" sz="1600" dirty="0" err="1"/>
              <a:t>r_res</a:t>
            </a:r>
            <a:r>
              <a:rPr lang="pt-PT" sz="1600" dirty="0"/>
              <a:t> *)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012630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EDB641-193F-38C8-53D8-87AE74B90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6CD398-4FE2-78BB-20AC-437120CB1218}"/>
              </a:ext>
            </a:extLst>
          </p:cNvPr>
          <p:cNvSpPr txBox="1"/>
          <p:nvPr/>
        </p:nvSpPr>
        <p:spPr>
          <a:xfrm>
            <a:off x="469556" y="626071"/>
            <a:ext cx="82048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Induction variable strength reduction - BipLang  (1/2)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68AA87-54B8-6C37-3F26-5C8FDD9E4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21</a:t>
            </a:fld>
            <a:endParaRPr lang="en-US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9F43B5-6238-A236-23DC-473506BC36DE}"/>
              </a:ext>
            </a:extLst>
          </p:cNvPr>
          <p:cNvSpPr txBox="1"/>
          <p:nvPr/>
        </p:nvSpPr>
        <p:spPr>
          <a:xfrm>
            <a:off x="469556" y="1491362"/>
            <a:ext cx="7350538" cy="40318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induc_var_strength_red_biplang</a:t>
            </a:r>
            <a:r>
              <a:rPr lang="en-US" sz="1600" dirty="0"/>
              <a:t> (|_b :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_|, |_c :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_|, |_n :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_|) : |_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_| = </a:t>
            </a:r>
            <a:r>
              <a:rPr lang="en-US" sz="1600" dirty="0">
                <a:solidFill>
                  <a:srgbClr val="F3530B"/>
                </a:solidFill>
              </a:rPr>
              <a:t>begin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</a:t>
            </a:r>
            <a:r>
              <a:rPr lang="en-US" sz="1600" dirty="0"/>
              <a:t> = |_ ref 0 _|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j = ref 0 &lt;|&gt; ref c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x = |_ ref 0 _|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endParaRPr lang="en-US" sz="1600" dirty="0"/>
          </a:p>
          <a:p>
            <a:r>
              <a:rPr lang="en-US" sz="1600" dirty="0"/>
              <a:t>	</a:t>
            </a:r>
            <a:r>
              <a:rPr lang="pt-PT" sz="1600" dirty="0" err="1">
                <a:solidFill>
                  <a:srgbClr val="F3530B"/>
                </a:solidFill>
              </a:rPr>
              <a:t>while</a:t>
            </a:r>
            <a:r>
              <a:rPr lang="pt-PT" sz="1600" dirty="0"/>
              <a:t> |_ !i &lt; n _| </a:t>
            </a:r>
            <a:r>
              <a:rPr lang="pt-PT" sz="1600" dirty="0">
                <a:solidFill>
                  <a:srgbClr val="F3530B"/>
                </a:solidFill>
              </a:rPr>
              <a:t>do</a:t>
            </a:r>
            <a:r>
              <a:rPr lang="pt-PT" sz="1600" dirty="0"/>
              <a:t> </a:t>
            </a:r>
          </a:p>
          <a:p>
            <a:r>
              <a:rPr lang="pt-PT" sz="1600" dirty="0"/>
              <a:t>		(*@ </a:t>
            </a:r>
            <a:r>
              <a:rPr lang="pt-PT" sz="1600" dirty="0" err="1">
                <a:solidFill>
                  <a:srgbClr val="F3530B"/>
                </a:solidFill>
              </a:rPr>
              <a:t>variant</a:t>
            </a:r>
            <a:r>
              <a:rPr lang="pt-PT" sz="1600" dirty="0"/>
              <a:t>      </a:t>
            </a:r>
            <a:r>
              <a:rPr lang="pt-PT" sz="1600" dirty="0" err="1"/>
              <a:t>n_l</a:t>
            </a:r>
            <a:r>
              <a:rPr lang="pt-PT" sz="1600" dirty="0"/>
              <a:t> - !</a:t>
            </a:r>
            <a:r>
              <a:rPr lang="pt-PT" sz="1600" dirty="0" err="1"/>
              <a:t>i_l</a:t>
            </a:r>
            <a:r>
              <a:rPr lang="pt-PT" sz="1600" dirty="0"/>
              <a:t> </a:t>
            </a:r>
          </a:p>
          <a:p>
            <a:r>
              <a:rPr lang="pt-PT" sz="1600" dirty="0"/>
              <a:t>		         </a:t>
            </a:r>
            <a:r>
              <a:rPr lang="pt-PT" sz="1600" dirty="0" err="1">
                <a:solidFill>
                  <a:srgbClr val="F3530B"/>
                </a:solidFill>
              </a:rPr>
              <a:t>invariant</a:t>
            </a:r>
            <a:r>
              <a:rPr lang="pt-PT" sz="1600" dirty="0"/>
              <a:t>  !</a:t>
            </a:r>
            <a:r>
              <a:rPr lang="pt-PT" sz="1600" dirty="0" err="1"/>
              <a:t>i_l</a:t>
            </a:r>
            <a:r>
              <a:rPr lang="pt-PT" sz="1600" dirty="0"/>
              <a:t> = !</a:t>
            </a:r>
            <a:r>
              <a:rPr lang="pt-PT" sz="1600" dirty="0" err="1"/>
              <a:t>i_r</a:t>
            </a:r>
            <a:r>
              <a:rPr lang="pt-PT" sz="1600" dirty="0"/>
              <a:t> </a:t>
            </a:r>
          </a:p>
          <a:p>
            <a:r>
              <a:rPr lang="pt-PT" sz="1600" dirty="0"/>
              <a:t>		         </a:t>
            </a:r>
            <a:r>
              <a:rPr lang="pt-PT" sz="1600" dirty="0" err="1">
                <a:solidFill>
                  <a:srgbClr val="F3530B"/>
                </a:solidFill>
              </a:rPr>
              <a:t>invariant</a:t>
            </a:r>
            <a:r>
              <a:rPr lang="pt-PT" sz="1600" dirty="0"/>
              <a:t>  !</a:t>
            </a:r>
            <a:r>
              <a:rPr lang="pt-PT" sz="1600" dirty="0" err="1"/>
              <a:t>x_l</a:t>
            </a:r>
            <a:r>
              <a:rPr lang="pt-PT" sz="1600" dirty="0"/>
              <a:t> = !</a:t>
            </a:r>
            <a:r>
              <a:rPr lang="pt-PT" sz="1600" dirty="0" err="1"/>
              <a:t>x_r</a:t>
            </a:r>
            <a:r>
              <a:rPr lang="pt-PT" sz="1600" dirty="0"/>
              <a:t> </a:t>
            </a:r>
          </a:p>
          <a:p>
            <a:r>
              <a:rPr lang="pt-PT" sz="1600" dirty="0"/>
              <a:t>		         </a:t>
            </a:r>
            <a:r>
              <a:rPr lang="pt-PT" sz="1600" dirty="0" err="1">
                <a:solidFill>
                  <a:srgbClr val="F3530B"/>
                </a:solidFill>
              </a:rPr>
              <a:t>invariant</a:t>
            </a:r>
            <a:r>
              <a:rPr lang="pt-PT" sz="1600" dirty="0"/>
              <a:t>  !</a:t>
            </a:r>
            <a:r>
              <a:rPr lang="pt-PT" sz="1600" dirty="0" err="1"/>
              <a:t>j_r</a:t>
            </a:r>
            <a:r>
              <a:rPr lang="pt-PT" sz="1600" dirty="0"/>
              <a:t> = !</a:t>
            </a:r>
            <a:r>
              <a:rPr lang="pt-PT" sz="1600" dirty="0" err="1"/>
              <a:t>i_r</a:t>
            </a:r>
            <a:r>
              <a:rPr lang="pt-PT" sz="1600" dirty="0"/>
              <a:t> * </a:t>
            </a:r>
            <a:r>
              <a:rPr lang="pt-PT" sz="1600" dirty="0" err="1"/>
              <a:t>b_r</a:t>
            </a:r>
            <a:r>
              <a:rPr lang="pt-PT" sz="1600" dirty="0"/>
              <a:t> + </a:t>
            </a:r>
            <a:r>
              <a:rPr lang="pt-PT" sz="1600" dirty="0" err="1"/>
              <a:t>c_r</a:t>
            </a:r>
            <a:r>
              <a:rPr lang="pt-PT" sz="1600" dirty="0"/>
              <a:t> *)</a:t>
            </a:r>
          </a:p>
          <a:p>
            <a:endParaRPr lang="pt-PT" sz="1600" dirty="0"/>
          </a:p>
          <a:p>
            <a:pPr lvl="1"/>
            <a:r>
              <a:rPr lang="pt-PT" sz="1600" dirty="0"/>
              <a:t>	j := !i * b + c &lt;|&gt; x := !x + !j;</a:t>
            </a:r>
          </a:p>
          <a:p>
            <a:pPr lvl="2"/>
            <a:r>
              <a:rPr lang="pt-PT" sz="1600" dirty="0"/>
              <a:t>x := !x + !j 	   &lt;|&gt; j := !j + b;</a:t>
            </a:r>
          </a:p>
          <a:p>
            <a:pPr lvl="2"/>
            <a:r>
              <a:rPr lang="pt-PT" sz="1600" dirty="0"/>
              <a:t>i := |_ !i + 1 _| </a:t>
            </a:r>
          </a:p>
          <a:p>
            <a:pPr lvl="1"/>
            <a:r>
              <a:rPr lang="pt-PT" sz="1600" dirty="0" err="1">
                <a:solidFill>
                  <a:srgbClr val="F3530B"/>
                </a:solidFill>
              </a:rPr>
              <a:t>done</a:t>
            </a:r>
            <a:r>
              <a:rPr lang="pt-PT" sz="1600" dirty="0"/>
              <a:t>;</a:t>
            </a:r>
          </a:p>
          <a:p>
            <a:pPr lvl="1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1408776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81FDB7-90FF-21A6-6F09-B6D54E713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208881E-60A0-B35C-D78C-A72E6194C682}"/>
              </a:ext>
            </a:extLst>
          </p:cNvPr>
          <p:cNvSpPr txBox="1"/>
          <p:nvPr/>
        </p:nvSpPr>
        <p:spPr>
          <a:xfrm>
            <a:off x="469556" y="626071"/>
            <a:ext cx="82048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Induction variable strength reduction - BipLang  (2/2)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F200C5-25B2-2B59-E325-BA1D0A3F7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22</a:t>
            </a:fld>
            <a:endParaRPr lang="en-US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5FBF70-DB88-940F-70C9-28E8CA13AE2F}"/>
              </a:ext>
            </a:extLst>
          </p:cNvPr>
          <p:cNvSpPr txBox="1"/>
          <p:nvPr/>
        </p:nvSpPr>
        <p:spPr>
          <a:xfrm>
            <a:off x="469556" y="1607298"/>
            <a:ext cx="545841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sz="1600" dirty="0"/>
              <a:t>	|_ !x _| </a:t>
            </a:r>
          </a:p>
          <a:p>
            <a:r>
              <a:rPr lang="pt-PT" sz="1600" dirty="0" err="1">
                <a:solidFill>
                  <a:srgbClr val="F3530B"/>
                </a:solidFill>
              </a:rPr>
              <a:t>end</a:t>
            </a:r>
            <a:r>
              <a:rPr lang="pt-PT" sz="1600" dirty="0"/>
              <a:t> </a:t>
            </a:r>
          </a:p>
          <a:p>
            <a:r>
              <a:rPr lang="pt-PT" sz="1600" dirty="0"/>
              <a:t>(*@ </a:t>
            </a:r>
            <a:r>
              <a:rPr lang="pt-PT" sz="1600" dirty="0" err="1">
                <a:solidFill>
                  <a:srgbClr val="F3530B"/>
                </a:solidFill>
              </a:rPr>
              <a:t>requires</a:t>
            </a:r>
            <a:r>
              <a:rPr lang="pt-PT" sz="1600" dirty="0"/>
              <a:t>  </a:t>
            </a:r>
            <a:r>
              <a:rPr lang="pt-PT" sz="1600" dirty="0" err="1"/>
              <a:t>b_l</a:t>
            </a:r>
            <a:r>
              <a:rPr lang="pt-PT" sz="1600" dirty="0"/>
              <a:t> = </a:t>
            </a:r>
            <a:r>
              <a:rPr lang="pt-PT" sz="1600" dirty="0" err="1"/>
              <a:t>b_r</a:t>
            </a:r>
            <a:r>
              <a:rPr lang="pt-PT" sz="1600" dirty="0"/>
              <a:t> &amp;&amp; </a:t>
            </a:r>
            <a:r>
              <a:rPr lang="pt-PT" sz="1600" dirty="0" err="1"/>
              <a:t>c_l</a:t>
            </a:r>
            <a:r>
              <a:rPr lang="pt-PT" sz="1600" dirty="0"/>
              <a:t> = </a:t>
            </a:r>
            <a:r>
              <a:rPr lang="pt-PT" sz="1600" dirty="0" err="1"/>
              <a:t>c_r</a:t>
            </a:r>
            <a:r>
              <a:rPr lang="pt-PT" sz="1600" dirty="0"/>
              <a:t> &amp;&amp; </a:t>
            </a:r>
            <a:r>
              <a:rPr lang="pt-PT" sz="1600" dirty="0" err="1"/>
              <a:t>n_l</a:t>
            </a:r>
            <a:r>
              <a:rPr lang="pt-PT" sz="1600" dirty="0"/>
              <a:t> = </a:t>
            </a:r>
            <a:r>
              <a:rPr lang="pt-PT" sz="1600" dirty="0" err="1"/>
              <a:t>n_r</a:t>
            </a:r>
            <a:r>
              <a:rPr lang="pt-PT" sz="1600" dirty="0"/>
              <a:t> </a:t>
            </a:r>
          </a:p>
          <a:p>
            <a:r>
              <a:rPr lang="pt-PT" sz="1600" dirty="0"/>
              <a:t>         </a:t>
            </a:r>
            <a:r>
              <a:rPr lang="pt-PT" sz="1600" dirty="0" err="1">
                <a:solidFill>
                  <a:srgbClr val="F3530B"/>
                </a:solidFill>
              </a:rPr>
              <a:t>ensures</a:t>
            </a:r>
            <a:r>
              <a:rPr lang="pt-PT" sz="1600" dirty="0"/>
              <a:t>  match </a:t>
            </a:r>
            <a:r>
              <a:rPr lang="pt-PT" sz="1600" dirty="0" err="1"/>
              <a:t>result</a:t>
            </a:r>
            <a:r>
              <a:rPr lang="pt-PT" sz="1600" dirty="0"/>
              <a:t> </a:t>
            </a:r>
            <a:r>
              <a:rPr lang="pt-PT" sz="1600" dirty="0" err="1"/>
              <a:t>with</a:t>
            </a:r>
            <a:r>
              <a:rPr lang="pt-PT" sz="1600" dirty="0"/>
              <a:t> (</a:t>
            </a:r>
            <a:r>
              <a:rPr lang="pt-PT" sz="1600" dirty="0" err="1"/>
              <a:t>l_res</a:t>
            </a:r>
            <a:r>
              <a:rPr lang="pt-PT" sz="1600" dirty="0"/>
              <a:t>, </a:t>
            </a:r>
            <a:r>
              <a:rPr lang="pt-PT" sz="1600" dirty="0" err="1"/>
              <a:t>r_res</a:t>
            </a:r>
            <a:r>
              <a:rPr lang="pt-PT" sz="1600" dirty="0"/>
              <a:t>) → </a:t>
            </a:r>
            <a:r>
              <a:rPr lang="pt-PT" sz="1600" dirty="0" err="1"/>
              <a:t>l_res</a:t>
            </a:r>
            <a:r>
              <a:rPr lang="pt-PT" sz="1600" dirty="0"/>
              <a:t> = </a:t>
            </a:r>
            <a:r>
              <a:rPr lang="pt-PT" sz="1600" dirty="0" err="1"/>
              <a:t>r_res</a:t>
            </a:r>
            <a:r>
              <a:rPr lang="pt-PT" sz="1600" dirty="0"/>
              <a:t> *)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4277169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65B06D-D839-F14B-4672-75B4F8945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FA329DC-AEBA-6A4F-5C27-9E723C23FD98}"/>
              </a:ext>
            </a:extLst>
          </p:cNvPr>
          <p:cNvSpPr txBox="1"/>
          <p:nvPr/>
        </p:nvSpPr>
        <p:spPr>
          <a:xfrm>
            <a:off x="469556" y="626071"/>
            <a:ext cx="82048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Induction variable strength reduction - OCaml  (1/2)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BD45AB-AD05-79BD-2F1D-3741401F2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23</a:t>
            </a:fld>
            <a:endParaRPr lang="en-US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243738-9AEF-0B9F-F297-E7C42F6EE883}"/>
              </a:ext>
            </a:extLst>
          </p:cNvPr>
          <p:cNvSpPr txBox="1"/>
          <p:nvPr/>
        </p:nvSpPr>
        <p:spPr>
          <a:xfrm>
            <a:off x="469556" y="1491362"/>
            <a:ext cx="8139601" cy="40318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induc_var_strength_red_ocaml</a:t>
            </a:r>
            <a:r>
              <a:rPr lang="en-US" sz="1600" dirty="0"/>
              <a:t> </a:t>
            </a:r>
            <a:r>
              <a:rPr lang="sv-SE" sz="1600" dirty="0"/>
              <a:t>(b_l : </a:t>
            </a:r>
            <a:r>
              <a:rPr lang="sv-SE" sz="1600" dirty="0">
                <a:solidFill>
                  <a:srgbClr val="F3530B"/>
                </a:solidFill>
              </a:rPr>
              <a:t>int</a:t>
            </a:r>
            <a:r>
              <a:rPr lang="sv-SE" sz="1600" dirty="0"/>
              <a:t>) (b_r : </a:t>
            </a:r>
            <a:r>
              <a:rPr lang="sv-SE" sz="1600" dirty="0">
                <a:solidFill>
                  <a:srgbClr val="F3530B"/>
                </a:solidFill>
              </a:rPr>
              <a:t>int</a:t>
            </a:r>
            <a:r>
              <a:rPr lang="sv-SE" sz="1600" dirty="0"/>
              <a:t>) (c_l : </a:t>
            </a:r>
            <a:r>
              <a:rPr lang="sv-SE" sz="1600" dirty="0">
                <a:solidFill>
                  <a:srgbClr val="F3530B"/>
                </a:solidFill>
              </a:rPr>
              <a:t>int</a:t>
            </a:r>
            <a:r>
              <a:rPr lang="sv-SE" sz="1600" dirty="0"/>
              <a:t>) (c_r : </a:t>
            </a:r>
            <a:r>
              <a:rPr lang="sv-SE" sz="1600" dirty="0">
                <a:solidFill>
                  <a:srgbClr val="F3530B"/>
                </a:solidFill>
              </a:rPr>
              <a:t>int</a:t>
            </a:r>
            <a:r>
              <a:rPr lang="sv-SE" sz="1600" dirty="0"/>
              <a:t>) (n_l : </a:t>
            </a:r>
            <a:r>
              <a:rPr lang="sv-SE" sz="1600" dirty="0">
                <a:solidFill>
                  <a:srgbClr val="F3530B"/>
                </a:solidFill>
              </a:rPr>
              <a:t>int</a:t>
            </a:r>
            <a:r>
              <a:rPr lang="sv-SE" sz="1600" dirty="0"/>
              <a:t>) (n_r : </a:t>
            </a:r>
            <a:r>
              <a:rPr lang="sv-SE" sz="1600" dirty="0">
                <a:solidFill>
                  <a:srgbClr val="F3530B"/>
                </a:solidFill>
              </a:rPr>
              <a:t>int</a:t>
            </a:r>
            <a:r>
              <a:rPr lang="sv-SE" sz="1600" dirty="0"/>
              <a:t>) : </a:t>
            </a:r>
          </a:p>
          <a:p>
            <a:r>
              <a:rPr lang="sv-SE" sz="1600" dirty="0"/>
              <a:t>	</a:t>
            </a:r>
            <a:r>
              <a:rPr lang="sv-SE" sz="1600" dirty="0">
                <a:solidFill>
                  <a:srgbClr val="F3530B"/>
                </a:solidFill>
              </a:rPr>
              <a:t>int</a:t>
            </a:r>
            <a:r>
              <a:rPr lang="sv-SE" sz="1600" dirty="0"/>
              <a:t> * </a:t>
            </a:r>
            <a:r>
              <a:rPr lang="sv-SE" sz="1600" dirty="0">
                <a:solidFill>
                  <a:srgbClr val="F3530B"/>
                </a:solidFill>
              </a:rPr>
              <a:t>int</a:t>
            </a:r>
            <a:r>
              <a:rPr lang="sv-SE" sz="1600" dirty="0"/>
              <a:t> =</a:t>
            </a:r>
          </a:p>
          <a:p>
            <a:endParaRPr lang="en-US" sz="1600" dirty="0">
              <a:solidFill>
                <a:schemeClr val="accent2"/>
              </a:solidFill>
            </a:endParaRP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i_l</a:t>
            </a:r>
            <a:r>
              <a:rPr lang="en-US" sz="1600" dirty="0"/>
              <a:t> = ref (0)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  <a:r>
              <a:rPr lang="en-US" sz="1600" dirty="0"/>
              <a:t> 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i_r</a:t>
            </a:r>
            <a:r>
              <a:rPr lang="en-US" sz="1600" dirty="0"/>
              <a:t> = ref (0)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j_l</a:t>
            </a:r>
            <a:r>
              <a:rPr lang="en-US" sz="1600" dirty="0"/>
              <a:t> = ref (0)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j_r</a:t>
            </a:r>
            <a:r>
              <a:rPr lang="en-US" sz="1600" dirty="0"/>
              <a:t> = ref (</a:t>
            </a:r>
            <a:r>
              <a:rPr lang="en-US" sz="1600" dirty="0" err="1"/>
              <a:t>c_r</a:t>
            </a:r>
            <a:r>
              <a:rPr lang="en-US" sz="1600" dirty="0"/>
              <a:t>)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  <a:r>
              <a:rPr lang="en-US" sz="1600" dirty="0"/>
              <a:t> 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x_l</a:t>
            </a:r>
            <a:r>
              <a:rPr lang="en-US" sz="1600" dirty="0"/>
              <a:t> = ref (0)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  <a:r>
              <a:rPr lang="en-US" sz="1600" dirty="0"/>
              <a:t> 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x_r</a:t>
            </a:r>
            <a:r>
              <a:rPr lang="en-US" sz="1600" dirty="0"/>
              <a:t> = ref (0)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endParaRPr lang="en-US" sz="1600" dirty="0"/>
          </a:p>
          <a:p>
            <a:r>
              <a:rPr lang="en-US" sz="1600" dirty="0"/>
              <a:t>	</a:t>
            </a:r>
            <a:r>
              <a:rPr lang="pt-PT" sz="1600" dirty="0" err="1">
                <a:solidFill>
                  <a:srgbClr val="F3530B"/>
                </a:solidFill>
              </a:rPr>
              <a:t>while</a:t>
            </a:r>
            <a:r>
              <a:rPr lang="pt-PT" sz="1600" dirty="0"/>
              <a:t> </a:t>
            </a:r>
            <a:r>
              <a:rPr lang="en-US" sz="1600" dirty="0"/>
              <a:t>(!</a:t>
            </a:r>
            <a:r>
              <a:rPr lang="en-US" sz="1600" dirty="0" err="1"/>
              <a:t>i_l</a:t>
            </a:r>
            <a:r>
              <a:rPr lang="en-US" sz="1600" dirty="0"/>
              <a:t> &lt; </a:t>
            </a:r>
            <a:r>
              <a:rPr lang="en-US" sz="1600" dirty="0" err="1"/>
              <a:t>n_l</a:t>
            </a:r>
            <a:r>
              <a:rPr lang="en-US" sz="1600" dirty="0"/>
              <a:t>) </a:t>
            </a:r>
            <a:r>
              <a:rPr lang="pt-PT" sz="1600" dirty="0">
                <a:solidFill>
                  <a:srgbClr val="F3530B"/>
                </a:solidFill>
              </a:rPr>
              <a:t>do</a:t>
            </a:r>
            <a:r>
              <a:rPr lang="pt-PT" sz="1600" dirty="0"/>
              <a:t> </a:t>
            </a:r>
          </a:p>
          <a:p>
            <a:r>
              <a:rPr lang="pt-PT" sz="1600" dirty="0"/>
              <a:t>		(*@ </a:t>
            </a:r>
            <a:r>
              <a:rPr lang="pt-PT" sz="1600" dirty="0" err="1">
                <a:solidFill>
                  <a:srgbClr val="F3530B"/>
                </a:solidFill>
              </a:rPr>
              <a:t>invariant</a:t>
            </a:r>
            <a:r>
              <a:rPr lang="pt-PT" sz="1600" dirty="0"/>
              <a:t>  ((!</a:t>
            </a:r>
            <a:r>
              <a:rPr lang="pt-PT" sz="1600" dirty="0" err="1"/>
              <a:t>i_l</a:t>
            </a:r>
            <a:r>
              <a:rPr lang="pt-PT" sz="1600" dirty="0"/>
              <a:t> &lt; </a:t>
            </a:r>
            <a:r>
              <a:rPr lang="pt-PT" sz="1600" dirty="0" err="1"/>
              <a:t>n_l</a:t>
            </a:r>
            <a:r>
              <a:rPr lang="pt-PT" sz="1600" dirty="0"/>
              <a:t>)) ↔ ((!</a:t>
            </a:r>
            <a:r>
              <a:rPr lang="pt-PT" sz="1600" dirty="0" err="1"/>
              <a:t>i_r</a:t>
            </a:r>
            <a:r>
              <a:rPr lang="pt-PT" sz="1600" dirty="0"/>
              <a:t> &lt; </a:t>
            </a:r>
            <a:r>
              <a:rPr lang="pt-PT" sz="1600" dirty="0" err="1"/>
              <a:t>n_r</a:t>
            </a:r>
            <a:r>
              <a:rPr lang="pt-PT" sz="1600" dirty="0"/>
              <a:t>))</a:t>
            </a:r>
          </a:p>
          <a:p>
            <a:r>
              <a:rPr lang="pt-PT" sz="1600" dirty="0">
                <a:solidFill>
                  <a:schemeClr val="accent2"/>
                </a:solidFill>
              </a:rPr>
              <a:t>		         </a:t>
            </a:r>
            <a:r>
              <a:rPr lang="pt-PT" sz="1600" dirty="0" err="1">
                <a:solidFill>
                  <a:srgbClr val="F3530B"/>
                </a:solidFill>
              </a:rPr>
              <a:t>variant</a:t>
            </a:r>
            <a:r>
              <a:rPr lang="pt-PT" sz="1600" dirty="0"/>
              <a:t>      </a:t>
            </a:r>
            <a:r>
              <a:rPr lang="pt-PT" sz="1600" dirty="0" err="1"/>
              <a:t>n_l</a:t>
            </a:r>
            <a:r>
              <a:rPr lang="pt-PT" sz="1600" dirty="0"/>
              <a:t> - !</a:t>
            </a:r>
            <a:r>
              <a:rPr lang="pt-PT" sz="1600" dirty="0" err="1"/>
              <a:t>i_l</a:t>
            </a:r>
            <a:r>
              <a:rPr lang="pt-PT" sz="1600" dirty="0"/>
              <a:t> </a:t>
            </a:r>
          </a:p>
          <a:p>
            <a:r>
              <a:rPr lang="pt-PT" sz="1600" dirty="0"/>
              <a:t>		         </a:t>
            </a:r>
            <a:r>
              <a:rPr lang="pt-PT" sz="1600" dirty="0" err="1">
                <a:solidFill>
                  <a:srgbClr val="F3530B"/>
                </a:solidFill>
              </a:rPr>
              <a:t>invariant</a:t>
            </a:r>
            <a:r>
              <a:rPr lang="pt-PT" sz="1600" dirty="0"/>
              <a:t>  !</a:t>
            </a:r>
            <a:r>
              <a:rPr lang="pt-PT" sz="1600" dirty="0" err="1"/>
              <a:t>i_l</a:t>
            </a:r>
            <a:r>
              <a:rPr lang="pt-PT" sz="1600" dirty="0"/>
              <a:t> = !</a:t>
            </a:r>
            <a:r>
              <a:rPr lang="pt-PT" sz="1600" dirty="0" err="1"/>
              <a:t>i_r</a:t>
            </a:r>
            <a:r>
              <a:rPr lang="pt-PT" sz="1600" dirty="0"/>
              <a:t> </a:t>
            </a:r>
          </a:p>
          <a:p>
            <a:r>
              <a:rPr lang="pt-PT" sz="1600" dirty="0"/>
              <a:t>		         </a:t>
            </a:r>
            <a:r>
              <a:rPr lang="pt-PT" sz="1600" dirty="0" err="1">
                <a:solidFill>
                  <a:srgbClr val="F3530B"/>
                </a:solidFill>
              </a:rPr>
              <a:t>invariant</a:t>
            </a:r>
            <a:r>
              <a:rPr lang="pt-PT" sz="1600" dirty="0"/>
              <a:t>  !</a:t>
            </a:r>
            <a:r>
              <a:rPr lang="pt-PT" sz="1600" dirty="0" err="1"/>
              <a:t>x_l</a:t>
            </a:r>
            <a:r>
              <a:rPr lang="pt-PT" sz="1600" dirty="0"/>
              <a:t> = !</a:t>
            </a:r>
            <a:r>
              <a:rPr lang="pt-PT" sz="1600" dirty="0" err="1"/>
              <a:t>x_r</a:t>
            </a:r>
            <a:r>
              <a:rPr lang="pt-PT" sz="1600" dirty="0"/>
              <a:t> </a:t>
            </a:r>
          </a:p>
          <a:p>
            <a:r>
              <a:rPr lang="pt-PT" sz="1600" dirty="0"/>
              <a:t>		         </a:t>
            </a:r>
            <a:r>
              <a:rPr lang="pt-PT" sz="1600" dirty="0" err="1">
                <a:solidFill>
                  <a:srgbClr val="F3530B"/>
                </a:solidFill>
              </a:rPr>
              <a:t>invariant</a:t>
            </a:r>
            <a:r>
              <a:rPr lang="pt-PT" sz="1600" dirty="0"/>
              <a:t>  !</a:t>
            </a:r>
            <a:r>
              <a:rPr lang="pt-PT" sz="1600" dirty="0" err="1"/>
              <a:t>j_r</a:t>
            </a:r>
            <a:r>
              <a:rPr lang="pt-PT" sz="1600" dirty="0"/>
              <a:t> = !</a:t>
            </a:r>
            <a:r>
              <a:rPr lang="pt-PT" sz="1600" dirty="0" err="1"/>
              <a:t>i_r</a:t>
            </a:r>
            <a:r>
              <a:rPr lang="pt-PT" sz="1600" dirty="0"/>
              <a:t> * </a:t>
            </a:r>
            <a:r>
              <a:rPr lang="pt-PT" sz="1600" dirty="0" err="1"/>
              <a:t>b_r</a:t>
            </a:r>
            <a:r>
              <a:rPr lang="pt-PT" sz="1600" dirty="0"/>
              <a:t> + </a:t>
            </a:r>
            <a:r>
              <a:rPr lang="pt-PT" sz="1600" dirty="0" err="1"/>
              <a:t>c_r</a:t>
            </a:r>
            <a:r>
              <a:rPr lang="pt-PT" sz="1600" dirty="0"/>
              <a:t> *)</a:t>
            </a:r>
          </a:p>
        </p:txBody>
      </p:sp>
    </p:spTree>
    <p:extLst>
      <p:ext uri="{BB962C8B-B14F-4D97-AF65-F5344CB8AC3E}">
        <p14:creationId xmlns:p14="http://schemas.microsoft.com/office/powerpoint/2010/main" val="31893846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B914A-439F-DA5D-A3DD-FEC1C1E27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F84FB8-B2C7-8AD3-F208-3932D3502E15}"/>
              </a:ext>
            </a:extLst>
          </p:cNvPr>
          <p:cNvSpPr txBox="1"/>
          <p:nvPr/>
        </p:nvSpPr>
        <p:spPr>
          <a:xfrm>
            <a:off x="469556" y="626071"/>
            <a:ext cx="82048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Induction variable strength reduction - OCaml  (2/2)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88D123-700C-C59D-3834-68A214DBC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24</a:t>
            </a:fld>
            <a:endParaRPr lang="en-US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E1EC12-0753-1288-6196-ED65D450434C}"/>
              </a:ext>
            </a:extLst>
          </p:cNvPr>
          <p:cNvSpPr txBox="1"/>
          <p:nvPr/>
        </p:nvSpPr>
        <p:spPr>
          <a:xfrm>
            <a:off x="469556" y="1607298"/>
            <a:ext cx="5458417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sz="1600" dirty="0"/>
              <a:t>		</a:t>
            </a:r>
            <a:r>
              <a:rPr lang="pt-PT" sz="1600" dirty="0" err="1"/>
              <a:t>j_l</a:t>
            </a:r>
            <a:r>
              <a:rPr lang="pt-PT" sz="1600" dirty="0"/>
              <a:t> := ((!</a:t>
            </a:r>
            <a:r>
              <a:rPr lang="pt-PT" sz="1600" dirty="0" err="1"/>
              <a:t>i_l</a:t>
            </a:r>
            <a:r>
              <a:rPr lang="pt-PT" sz="1600" dirty="0"/>
              <a:t> * </a:t>
            </a:r>
            <a:r>
              <a:rPr lang="pt-PT" sz="1600" dirty="0" err="1"/>
              <a:t>b_l</a:t>
            </a:r>
            <a:r>
              <a:rPr lang="pt-PT" sz="1600" dirty="0"/>
              <a:t>) + </a:t>
            </a:r>
            <a:r>
              <a:rPr lang="pt-PT" sz="1600" dirty="0" err="1"/>
              <a:t>c_l</a:t>
            </a:r>
            <a:r>
              <a:rPr lang="pt-PT" sz="1600" dirty="0"/>
              <a:t>);</a:t>
            </a:r>
          </a:p>
          <a:p>
            <a:r>
              <a:rPr lang="pt-PT" sz="1600" dirty="0"/>
              <a:t>		</a:t>
            </a:r>
            <a:r>
              <a:rPr lang="pt-PT" sz="1600" dirty="0" err="1"/>
              <a:t>x_r</a:t>
            </a:r>
            <a:r>
              <a:rPr lang="pt-PT" sz="1600" dirty="0"/>
              <a:t> := (!</a:t>
            </a:r>
            <a:r>
              <a:rPr lang="pt-PT" sz="1600" dirty="0" err="1"/>
              <a:t>x_r</a:t>
            </a:r>
            <a:r>
              <a:rPr lang="pt-PT" sz="1600" dirty="0"/>
              <a:t> + !</a:t>
            </a:r>
            <a:r>
              <a:rPr lang="pt-PT" sz="1600" dirty="0" err="1"/>
              <a:t>j_r</a:t>
            </a:r>
            <a:r>
              <a:rPr lang="pt-PT" sz="1600" dirty="0"/>
              <a:t>);</a:t>
            </a:r>
          </a:p>
          <a:p>
            <a:r>
              <a:rPr lang="pt-PT" sz="1600" dirty="0"/>
              <a:t>		</a:t>
            </a:r>
            <a:r>
              <a:rPr lang="pt-PT" sz="1600" dirty="0" err="1"/>
              <a:t>x_l</a:t>
            </a:r>
            <a:r>
              <a:rPr lang="pt-PT" sz="1600" dirty="0"/>
              <a:t> := (!</a:t>
            </a:r>
            <a:r>
              <a:rPr lang="pt-PT" sz="1600" dirty="0" err="1"/>
              <a:t>x_l</a:t>
            </a:r>
            <a:r>
              <a:rPr lang="pt-PT" sz="1600" dirty="0"/>
              <a:t> + !</a:t>
            </a:r>
            <a:r>
              <a:rPr lang="pt-PT" sz="1600" dirty="0" err="1"/>
              <a:t>j_l</a:t>
            </a:r>
            <a:r>
              <a:rPr lang="pt-PT" sz="1600" dirty="0"/>
              <a:t>);</a:t>
            </a:r>
          </a:p>
          <a:p>
            <a:pPr lvl="2"/>
            <a:r>
              <a:rPr lang="pt-PT" sz="1600" dirty="0" err="1"/>
              <a:t>j_r</a:t>
            </a:r>
            <a:r>
              <a:rPr lang="pt-PT" sz="1600" dirty="0"/>
              <a:t> := (!</a:t>
            </a:r>
            <a:r>
              <a:rPr lang="pt-PT" sz="1600" dirty="0" err="1"/>
              <a:t>j_r</a:t>
            </a:r>
            <a:r>
              <a:rPr lang="pt-PT" sz="1600" dirty="0"/>
              <a:t> + </a:t>
            </a:r>
            <a:r>
              <a:rPr lang="pt-PT" sz="1600" dirty="0" err="1"/>
              <a:t>b_r</a:t>
            </a:r>
            <a:r>
              <a:rPr lang="pt-PT" sz="1600" dirty="0"/>
              <a:t>);</a:t>
            </a:r>
          </a:p>
          <a:p>
            <a:pPr lvl="2"/>
            <a:r>
              <a:rPr lang="pt-PT" sz="1600" dirty="0" err="1"/>
              <a:t>i_l</a:t>
            </a:r>
            <a:r>
              <a:rPr lang="pt-PT" sz="1600" dirty="0"/>
              <a:t> := (!</a:t>
            </a:r>
            <a:r>
              <a:rPr lang="pt-PT" sz="1600" dirty="0" err="1"/>
              <a:t>i_l</a:t>
            </a:r>
            <a:r>
              <a:rPr lang="pt-PT" sz="1600" dirty="0"/>
              <a:t> + 1); </a:t>
            </a:r>
          </a:p>
          <a:p>
            <a:pPr lvl="2"/>
            <a:r>
              <a:rPr lang="pt-PT" sz="1600" dirty="0" err="1"/>
              <a:t>i_r</a:t>
            </a:r>
            <a:r>
              <a:rPr lang="pt-PT" sz="1600" dirty="0"/>
              <a:t> := (!</a:t>
            </a:r>
            <a:r>
              <a:rPr lang="pt-PT" sz="1600" dirty="0" err="1"/>
              <a:t>i_r</a:t>
            </a:r>
            <a:r>
              <a:rPr lang="pt-PT" sz="1600" dirty="0"/>
              <a:t> + 1) </a:t>
            </a:r>
          </a:p>
          <a:p>
            <a:r>
              <a:rPr lang="pt-PT" sz="1600" dirty="0"/>
              <a:t>	</a:t>
            </a:r>
            <a:r>
              <a:rPr lang="pt-PT" sz="1600" dirty="0" err="1">
                <a:solidFill>
                  <a:srgbClr val="F3530B"/>
                </a:solidFill>
              </a:rPr>
              <a:t>done</a:t>
            </a:r>
            <a:r>
              <a:rPr lang="pt-PT" sz="1600" dirty="0"/>
              <a:t>; </a:t>
            </a:r>
          </a:p>
          <a:p>
            <a:endParaRPr lang="pt-PT" sz="1600" dirty="0"/>
          </a:p>
          <a:p>
            <a:r>
              <a:rPr lang="pt-PT" sz="1600" dirty="0"/>
              <a:t>	(!</a:t>
            </a:r>
            <a:r>
              <a:rPr lang="pt-PT" sz="1600" dirty="0" err="1"/>
              <a:t>x_l</a:t>
            </a:r>
            <a:r>
              <a:rPr lang="pt-PT" sz="1600" dirty="0"/>
              <a:t>, !</a:t>
            </a:r>
            <a:r>
              <a:rPr lang="pt-PT" sz="1600" dirty="0" err="1"/>
              <a:t>x_r</a:t>
            </a:r>
            <a:r>
              <a:rPr lang="pt-PT" sz="1600" dirty="0"/>
              <a:t>) </a:t>
            </a:r>
          </a:p>
          <a:p>
            <a:r>
              <a:rPr lang="pt-PT" sz="1600" dirty="0"/>
              <a:t>(*@ </a:t>
            </a:r>
            <a:r>
              <a:rPr lang="pt-PT" sz="1600" dirty="0" err="1">
                <a:solidFill>
                  <a:srgbClr val="F3530B"/>
                </a:solidFill>
              </a:rPr>
              <a:t>requires</a:t>
            </a:r>
            <a:r>
              <a:rPr lang="pt-PT" sz="1600" dirty="0"/>
              <a:t>  </a:t>
            </a:r>
            <a:r>
              <a:rPr lang="pt-PT" sz="1600" dirty="0" err="1"/>
              <a:t>b_l</a:t>
            </a:r>
            <a:r>
              <a:rPr lang="pt-PT" sz="1600" dirty="0"/>
              <a:t> = </a:t>
            </a:r>
            <a:r>
              <a:rPr lang="pt-PT" sz="1600" dirty="0" err="1"/>
              <a:t>b_r</a:t>
            </a:r>
            <a:r>
              <a:rPr lang="pt-PT" sz="1600" dirty="0"/>
              <a:t> &amp;&amp; </a:t>
            </a:r>
            <a:r>
              <a:rPr lang="pt-PT" sz="1600" dirty="0" err="1"/>
              <a:t>c_l</a:t>
            </a:r>
            <a:r>
              <a:rPr lang="pt-PT" sz="1600" dirty="0"/>
              <a:t> = </a:t>
            </a:r>
            <a:r>
              <a:rPr lang="pt-PT" sz="1600" dirty="0" err="1"/>
              <a:t>c_r</a:t>
            </a:r>
            <a:r>
              <a:rPr lang="pt-PT" sz="1600" dirty="0"/>
              <a:t> &amp;&amp; </a:t>
            </a:r>
            <a:r>
              <a:rPr lang="pt-PT" sz="1600" dirty="0" err="1"/>
              <a:t>n_l</a:t>
            </a:r>
            <a:r>
              <a:rPr lang="pt-PT" sz="1600" dirty="0"/>
              <a:t> = </a:t>
            </a:r>
            <a:r>
              <a:rPr lang="pt-PT" sz="1600" dirty="0" err="1"/>
              <a:t>n_r</a:t>
            </a:r>
            <a:r>
              <a:rPr lang="pt-PT" sz="1600" dirty="0"/>
              <a:t> </a:t>
            </a:r>
          </a:p>
          <a:p>
            <a:r>
              <a:rPr lang="pt-PT" sz="1600" dirty="0"/>
              <a:t>         </a:t>
            </a:r>
            <a:r>
              <a:rPr lang="pt-PT" sz="1600" dirty="0" err="1">
                <a:solidFill>
                  <a:srgbClr val="F3530B"/>
                </a:solidFill>
              </a:rPr>
              <a:t>ensures</a:t>
            </a:r>
            <a:r>
              <a:rPr lang="pt-PT" sz="1600" dirty="0"/>
              <a:t>  match </a:t>
            </a:r>
            <a:r>
              <a:rPr lang="pt-PT" sz="1600" dirty="0" err="1"/>
              <a:t>result</a:t>
            </a:r>
            <a:r>
              <a:rPr lang="pt-PT" sz="1600" dirty="0"/>
              <a:t> </a:t>
            </a:r>
            <a:r>
              <a:rPr lang="pt-PT" sz="1600" dirty="0" err="1"/>
              <a:t>with</a:t>
            </a:r>
            <a:r>
              <a:rPr lang="pt-PT" sz="1600" dirty="0"/>
              <a:t> (</a:t>
            </a:r>
            <a:r>
              <a:rPr lang="pt-PT" sz="1600" dirty="0" err="1"/>
              <a:t>l_res</a:t>
            </a:r>
            <a:r>
              <a:rPr lang="pt-PT" sz="1600" dirty="0"/>
              <a:t>, </a:t>
            </a:r>
            <a:r>
              <a:rPr lang="pt-PT" sz="1600" dirty="0" err="1"/>
              <a:t>r_res</a:t>
            </a:r>
            <a:r>
              <a:rPr lang="pt-PT" sz="1600" dirty="0"/>
              <a:t>) → </a:t>
            </a:r>
            <a:r>
              <a:rPr lang="pt-PT" sz="1600" dirty="0" err="1"/>
              <a:t>l_res</a:t>
            </a:r>
            <a:r>
              <a:rPr lang="pt-PT" sz="1600" dirty="0"/>
              <a:t> = </a:t>
            </a:r>
            <a:r>
              <a:rPr lang="pt-PT" sz="1600" dirty="0" err="1"/>
              <a:t>r_res</a:t>
            </a:r>
            <a:r>
              <a:rPr lang="pt-PT" sz="1600" dirty="0"/>
              <a:t> *)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6707901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1BEEB2-A2E7-A095-0D67-C8F49CCE5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6E3E384-093A-B9CE-78A1-77D4EAC837BE}"/>
              </a:ext>
            </a:extLst>
          </p:cNvPr>
          <p:cNvSpPr txBox="1"/>
          <p:nvPr/>
        </p:nvSpPr>
        <p:spPr>
          <a:xfrm>
            <a:off x="2148016" y="1965578"/>
            <a:ext cx="48479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noProof="1">
                <a:solidFill>
                  <a:srgbClr val="002060"/>
                </a:solidFill>
              </a:rPr>
              <a:t>Conclusions</a:t>
            </a:r>
            <a:endParaRPr lang="en-US" sz="4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DAAEED0-1424-4359-EE48-501447F587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25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11916046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B5FB5-7586-D717-91C7-741C84D5C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E350F9-99DD-2B75-33DB-749AAED00065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Contributions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8750DE-2CEA-2561-1153-039EF8AEB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26</a:t>
            </a:fld>
            <a:endParaRPr lang="en-US" noProof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3D1327-50A1-0AE7-EAF9-3F8F177E5AC7}"/>
              </a:ext>
            </a:extLst>
          </p:cNvPr>
          <p:cNvSpPr txBox="1"/>
          <p:nvPr/>
        </p:nvSpPr>
        <p:spPr>
          <a:xfrm>
            <a:off x="1116225" y="1785812"/>
            <a:ext cx="69115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u="sng" noProof="1">
                <a:solidFill>
                  <a:srgbClr val="002060"/>
                </a:solidFill>
              </a:rPr>
              <a:t>Verify program equivalence and other relational properties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F3E87A-4C4F-A88B-2DEB-BF8635F38C3A}"/>
              </a:ext>
            </a:extLst>
          </p:cNvPr>
          <p:cNvCxnSpPr/>
          <p:nvPr/>
        </p:nvCxnSpPr>
        <p:spPr>
          <a:xfrm>
            <a:off x="4376352" y="2138568"/>
            <a:ext cx="0" cy="540000"/>
          </a:xfrm>
          <a:prstGeom prst="straightConnector1">
            <a:avLst/>
          </a:prstGeom>
          <a:ln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CBA38FC-E9DF-2BF3-596E-934B90710206}"/>
              </a:ext>
            </a:extLst>
          </p:cNvPr>
          <p:cNvCxnSpPr/>
          <p:nvPr/>
        </p:nvCxnSpPr>
        <p:spPr>
          <a:xfrm>
            <a:off x="4376351" y="3031023"/>
            <a:ext cx="0" cy="540000"/>
          </a:xfrm>
          <a:prstGeom prst="straightConnector1">
            <a:avLst/>
          </a:prstGeom>
          <a:ln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C0E3C4B-A089-BE80-ABD7-5273455A3BD5}"/>
              </a:ext>
            </a:extLst>
          </p:cNvPr>
          <p:cNvCxnSpPr/>
          <p:nvPr/>
        </p:nvCxnSpPr>
        <p:spPr>
          <a:xfrm>
            <a:off x="4376351" y="3923478"/>
            <a:ext cx="0" cy="540000"/>
          </a:xfrm>
          <a:prstGeom prst="straightConnector1">
            <a:avLst/>
          </a:prstGeom>
          <a:ln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9D56771-2BF2-2AEB-6DE7-6643B703A113}"/>
              </a:ext>
            </a:extLst>
          </p:cNvPr>
          <p:cNvSpPr txBox="1"/>
          <p:nvPr/>
        </p:nvSpPr>
        <p:spPr>
          <a:xfrm>
            <a:off x="1167477" y="2678568"/>
            <a:ext cx="68090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noProof="1">
                <a:solidFill>
                  <a:srgbClr val="002060"/>
                </a:solidFill>
              </a:rPr>
              <a:t>Bring the translation rules of WhyRel into the world of OCaml</a:t>
            </a:r>
            <a:endParaRPr lang="pt-PT" sz="2000" noProof="1">
              <a:solidFill>
                <a:srgbClr val="00206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E2C493-16B0-B0B4-3669-4B91741668D7}"/>
              </a:ext>
            </a:extLst>
          </p:cNvPr>
          <p:cNvSpPr txBox="1"/>
          <p:nvPr/>
        </p:nvSpPr>
        <p:spPr>
          <a:xfrm>
            <a:off x="2567266" y="4463478"/>
            <a:ext cx="36181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noProof="1">
                <a:solidFill>
                  <a:srgbClr val="002060"/>
                </a:solidFill>
              </a:rPr>
              <a:t>BipLang – adaptation of OCaml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3D5E08-9237-E3CC-651E-9B11DA4DD13D}"/>
              </a:ext>
            </a:extLst>
          </p:cNvPr>
          <p:cNvSpPr txBox="1"/>
          <p:nvPr/>
        </p:nvSpPr>
        <p:spPr>
          <a:xfrm>
            <a:off x="1892563" y="3571023"/>
            <a:ext cx="49675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PT" sz="2000" noProof="1">
                <a:solidFill>
                  <a:srgbClr val="002060"/>
                </a:solidFill>
              </a:rPr>
              <a:t>bip2ml </a:t>
            </a:r>
            <a:r>
              <a:rPr lang="en-US" sz="2000" noProof="1">
                <a:solidFill>
                  <a:srgbClr val="002060"/>
                </a:solidFill>
              </a:rPr>
              <a:t>–</a:t>
            </a:r>
            <a:r>
              <a:rPr lang="pt-PT" sz="2000" noProof="1">
                <a:solidFill>
                  <a:srgbClr val="002060"/>
                </a:solidFill>
              </a:rPr>
              <a:t> O</a:t>
            </a:r>
            <a:r>
              <a:rPr lang="en-US" sz="2000" noProof="1">
                <a:solidFill>
                  <a:srgbClr val="002060"/>
                </a:solidFill>
              </a:rPr>
              <a:t>Caml relational verification tool</a:t>
            </a:r>
          </a:p>
        </p:txBody>
      </p:sp>
    </p:spTree>
    <p:extLst>
      <p:ext uri="{BB962C8B-B14F-4D97-AF65-F5344CB8AC3E}">
        <p14:creationId xmlns:p14="http://schemas.microsoft.com/office/powerpoint/2010/main" val="6306411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3C991-DEE5-ACC4-4FAD-F4AC40B63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360CD7C-D619-788E-9392-AD791E2160AE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Limitations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61056C-1D23-C251-AFC5-DD28D79BB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27</a:t>
            </a:fld>
            <a:endParaRPr lang="en-US" noProof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3714B2-C1F5-56DD-577E-6936CB34E77F}"/>
              </a:ext>
            </a:extLst>
          </p:cNvPr>
          <p:cNvSpPr txBox="1"/>
          <p:nvPr/>
        </p:nvSpPr>
        <p:spPr>
          <a:xfrm>
            <a:off x="469556" y="2099739"/>
            <a:ext cx="666441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BipLang does not contain all Ocaml features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Automatic verification depends on the interpretation of “automatic”</a:t>
            </a:r>
          </a:p>
        </p:txBody>
      </p:sp>
    </p:spTree>
    <p:extLst>
      <p:ext uri="{BB962C8B-B14F-4D97-AF65-F5344CB8AC3E}">
        <p14:creationId xmlns:p14="http://schemas.microsoft.com/office/powerpoint/2010/main" val="29515619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03A83-A2E0-75A9-CAF8-76845C105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227CC9D-A2C0-8251-1C28-9FA3786BFE78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Future Work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C48BCD-CB87-56DE-A29E-8F58536D6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28</a:t>
            </a:fld>
            <a:endParaRPr lang="en-US" noProof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67E19D-BC23-C69B-75B1-B3507E6D1851}"/>
              </a:ext>
            </a:extLst>
          </p:cNvPr>
          <p:cNvSpPr txBox="1"/>
          <p:nvPr/>
        </p:nvSpPr>
        <p:spPr>
          <a:xfrm>
            <a:off x="469556" y="2022795"/>
            <a:ext cx="612895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Higher-order constructs (iter, fold…)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Pointer based programs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Dynamic programming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Program evolution</a:t>
            </a:r>
          </a:p>
        </p:txBody>
      </p:sp>
    </p:spTree>
    <p:extLst>
      <p:ext uri="{BB962C8B-B14F-4D97-AF65-F5344CB8AC3E}">
        <p14:creationId xmlns:p14="http://schemas.microsoft.com/office/powerpoint/2010/main" val="22390269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4C233-D244-61BA-BDF8-CB6D060B5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0274D2-09B6-D69D-1B09-52211756F8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4494" y="716690"/>
            <a:ext cx="7655011" cy="571043"/>
          </a:xfrm>
        </p:spPr>
        <p:txBody>
          <a:bodyPr>
            <a:normAutofit/>
          </a:bodyPr>
          <a:lstStyle/>
          <a:p>
            <a:r>
              <a:rPr lang="en-US" sz="3200" noProof="1">
                <a:solidFill>
                  <a:srgbClr val="002060"/>
                </a:solidFill>
              </a:rPr>
              <a:t>Formal Verification of Programs Equivalence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D296B62-9DC8-8E89-BBD7-11E0414C0F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2999" y="3355925"/>
            <a:ext cx="6858000" cy="1379802"/>
          </a:xfrm>
        </p:spPr>
        <p:txBody>
          <a:bodyPr>
            <a:no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João Nini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Advisor: Mário Pereira</a:t>
            </a:r>
          </a:p>
          <a:p>
            <a:pPr>
              <a:lnSpc>
                <a:spcPct val="50000"/>
              </a:lnSpc>
            </a:pPr>
            <a:endParaRPr lang="en-US" sz="2000" noProof="1">
              <a:solidFill>
                <a:srgbClr val="002060"/>
              </a:solidFill>
            </a:endParaRPr>
          </a:p>
          <a:p>
            <a:pPr>
              <a:lnSpc>
                <a:spcPct val="50000"/>
              </a:lnSpc>
            </a:pPr>
            <a:r>
              <a:rPr lang="en-US" sz="2000" noProof="1">
                <a:solidFill>
                  <a:srgbClr val="002060"/>
                </a:solidFill>
              </a:rPr>
              <a:t>December 16, 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788A04-F651-B4D5-7DA9-E26D50D91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29</a:t>
            </a:fld>
            <a:endParaRPr lang="en-US" noProof="1"/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DB787C8E-BF42-9283-4789-2CA358339C70}"/>
              </a:ext>
            </a:extLst>
          </p:cNvPr>
          <p:cNvSpPr txBox="1">
            <a:spLocks/>
          </p:cNvSpPr>
          <p:nvPr/>
        </p:nvSpPr>
        <p:spPr>
          <a:xfrm>
            <a:off x="3189587" y="2091846"/>
            <a:ext cx="2764824" cy="57104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noProof="1">
                <a:solidFill>
                  <a:srgbClr val="002060"/>
                </a:solidFill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26953530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826BA70-A7E5-F483-BA3D-98C04A80A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AA8E83C-3A46-AA04-908F-598B9F9EEBB0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Motivation</a:t>
            </a:r>
            <a:endParaRPr lang="en-US" sz="2800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FC5142-BA81-5C9F-7A50-17190D05BD78}"/>
              </a:ext>
            </a:extLst>
          </p:cNvPr>
          <p:cNvSpPr txBox="1"/>
          <p:nvPr/>
        </p:nvSpPr>
        <p:spPr>
          <a:xfrm>
            <a:off x="469556" y="1888004"/>
            <a:ext cx="356698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noProof="1">
                <a:solidFill>
                  <a:srgbClr val="002060"/>
                </a:solidFill>
              </a:rPr>
              <a:t>Annoying bugs in games </a:t>
            </a:r>
          </a:p>
          <a:p>
            <a:pPr algn="r"/>
            <a:r>
              <a:rPr lang="en-US" sz="2000" noProof="1">
                <a:solidFill>
                  <a:srgbClr val="002060"/>
                </a:solidFill>
              </a:rPr>
              <a:t>Errors in food delivery apps</a:t>
            </a:r>
          </a:p>
          <a:p>
            <a:pPr algn="r"/>
            <a:endParaRPr lang="en-US" sz="2000" noProof="1">
              <a:solidFill>
                <a:srgbClr val="002060"/>
              </a:solidFill>
            </a:endParaRPr>
          </a:p>
          <a:p>
            <a:pPr algn="r"/>
            <a:r>
              <a:rPr lang="en-US" sz="2000" noProof="1">
                <a:solidFill>
                  <a:srgbClr val="002060"/>
                </a:solidFill>
              </a:rPr>
              <a:t>Therac-25 radiation overdoses</a:t>
            </a:r>
          </a:p>
          <a:p>
            <a:pPr algn="r"/>
            <a:r>
              <a:rPr lang="en-US" sz="2000" noProof="1">
                <a:solidFill>
                  <a:srgbClr val="002060"/>
                </a:solidFill>
              </a:rPr>
              <a:t>Boeing 737 Max crashes</a:t>
            </a:r>
          </a:p>
          <a:p>
            <a:pPr algn="r"/>
            <a:r>
              <a:rPr lang="en-US" sz="2000" noProof="1">
                <a:solidFill>
                  <a:srgbClr val="002060"/>
                </a:solidFill>
              </a:rPr>
              <a:t>CrowdStrike outage </a:t>
            </a:r>
          </a:p>
        </p:txBody>
      </p:sp>
      <p:sp>
        <p:nvSpPr>
          <p:cNvPr id="4" name="Right Brace 3">
            <a:extLst>
              <a:ext uri="{FF2B5EF4-FFF2-40B4-BE49-F238E27FC236}">
                <a16:creationId xmlns:a16="http://schemas.microsoft.com/office/drawing/2014/main" id="{51F95A25-FC4D-6497-E417-EAEA1231D68E}"/>
              </a:ext>
            </a:extLst>
          </p:cNvPr>
          <p:cNvSpPr/>
          <p:nvPr/>
        </p:nvSpPr>
        <p:spPr>
          <a:xfrm>
            <a:off x="4036541" y="1890585"/>
            <a:ext cx="527222" cy="193899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7C6807-4AAE-CF7E-FCCB-BDC358BFDD9F}"/>
              </a:ext>
            </a:extLst>
          </p:cNvPr>
          <p:cNvSpPr txBox="1"/>
          <p:nvPr/>
        </p:nvSpPr>
        <p:spPr>
          <a:xfrm>
            <a:off x="4563763" y="2510983"/>
            <a:ext cx="2722606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noProof="1">
                <a:solidFill>
                  <a:srgbClr val="FF0000"/>
                </a:solidFill>
              </a:rPr>
              <a:t>Avoidable!</a:t>
            </a:r>
          </a:p>
          <a:p>
            <a:pPr algn="ctr"/>
            <a:r>
              <a:rPr lang="en-US" sz="2000" noProof="1">
                <a:solidFill>
                  <a:srgbClr val="002060"/>
                </a:solidFill>
              </a:rPr>
              <a:t>What is the most reliable way?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93179EA-D3E2-2F79-938E-BA6657302E66}"/>
              </a:ext>
            </a:extLst>
          </p:cNvPr>
          <p:cNvCxnSpPr>
            <a:stCxn id="6" idx="2"/>
          </p:cNvCxnSpPr>
          <p:nvPr/>
        </p:nvCxnSpPr>
        <p:spPr>
          <a:xfrm>
            <a:off x="5925066" y="3618979"/>
            <a:ext cx="0" cy="540000"/>
          </a:xfrm>
          <a:prstGeom prst="straightConnector1">
            <a:avLst/>
          </a:prstGeom>
          <a:ln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E42B29F-D46C-59DE-1777-2B8DB938FA1F}"/>
              </a:ext>
            </a:extLst>
          </p:cNvPr>
          <p:cNvSpPr txBox="1"/>
          <p:nvPr/>
        </p:nvSpPr>
        <p:spPr>
          <a:xfrm>
            <a:off x="4188941" y="4239377"/>
            <a:ext cx="34722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noProof="1">
                <a:solidFill>
                  <a:srgbClr val="002060"/>
                </a:solidFill>
              </a:rPr>
              <a:t>Deductive verification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F622D3-7468-9FE5-A9F2-5AF134EA2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30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18855834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1AF4590-A0EF-AF90-3407-BA2B32EB0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49C5539-01CF-7C82-4572-98C712FDE80F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Challenges</a:t>
            </a:r>
            <a:endParaRPr lang="en-US" sz="2800" noProof="1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C502F3-A7CE-E63C-CCC6-270641B93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31</a:t>
            </a:fld>
            <a:endParaRPr lang="en-US" noProof="1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B71C3D-8683-34F1-997F-FD5358F35113}"/>
              </a:ext>
            </a:extLst>
          </p:cNvPr>
          <p:cNvSpPr txBox="1"/>
          <p:nvPr/>
        </p:nvSpPr>
        <p:spPr>
          <a:xfrm>
            <a:off x="469556" y="1931255"/>
            <a:ext cx="698568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1">
                <a:solidFill>
                  <a:srgbClr val="002060"/>
                </a:solidFill>
              </a:rPr>
              <a:t>Compared to other forms of software verification, deductive verification requires:</a:t>
            </a:r>
          </a:p>
          <a:p>
            <a:endParaRPr lang="en-US" sz="2400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Specialized knowledge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More effort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More time</a:t>
            </a:r>
          </a:p>
        </p:txBody>
      </p:sp>
    </p:spTree>
    <p:extLst>
      <p:ext uri="{BB962C8B-B14F-4D97-AF65-F5344CB8AC3E}">
        <p14:creationId xmlns:p14="http://schemas.microsoft.com/office/powerpoint/2010/main" val="163024943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A73273-C385-5C88-81B4-DF94A455D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2B80A12-38ED-C385-3FEE-CDB0A8D951BC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Problem Definition</a:t>
            </a:r>
            <a:endParaRPr lang="en-US" sz="2800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21531F-114E-2737-E66A-DAC48AF0F279}"/>
              </a:ext>
            </a:extLst>
          </p:cNvPr>
          <p:cNvSpPr txBox="1"/>
          <p:nvPr/>
        </p:nvSpPr>
        <p:spPr>
          <a:xfrm>
            <a:off x="1357184" y="2549093"/>
            <a:ext cx="64296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i="1" noProof="1">
                <a:solidFill>
                  <a:srgbClr val="002060"/>
                </a:solidFill>
              </a:rPr>
              <a:t>Can we automatically prove that two programs P1 and P2 are correct and equivalent?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CAE083-10D5-D7CC-79B8-67AFA0135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32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90424699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04C4A0-09C2-509D-41FA-F496FCBC8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A776937-F01E-BE04-B869-2B7F7062A576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Goals and Expected Contributions</a:t>
            </a:r>
            <a:endParaRPr lang="en-US" sz="2800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CEF7B4-8D5C-C811-68C8-F77BCEF4A885}"/>
              </a:ext>
            </a:extLst>
          </p:cNvPr>
          <p:cNvSpPr txBox="1"/>
          <p:nvPr/>
        </p:nvSpPr>
        <p:spPr>
          <a:xfrm>
            <a:off x="469557" y="2400812"/>
            <a:ext cx="612895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Product programs in OCaml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Facilitate the proof of the hardest program by using the proof of the simplest one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E7CB5A-A900-3B1E-4E5D-321B1ACB0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33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366487094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ABB0875-03D9-5126-8BAD-E18E2990C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F1BF29-1EE2-11C4-C63D-88EE7FA49927}"/>
              </a:ext>
            </a:extLst>
          </p:cNvPr>
          <p:cNvSpPr txBox="1"/>
          <p:nvPr/>
        </p:nvSpPr>
        <p:spPr>
          <a:xfrm>
            <a:off x="2397211" y="2026503"/>
            <a:ext cx="43495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noProof="1">
                <a:solidFill>
                  <a:srgbClr val="002060"/>
                </a:solidFill>
              </a:rPr>
              <a:t>Background</a:t>
            </a:r>
            <a:endParaRPr lang="en-US" sz="4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EDB8A9E-88E4-C7B2-12DF-6CD676CBD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34</a:t>
            </a:fld>
            <a:endParaRPr lang="en-US" noProof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887527-BA57-CF39-EA4A-982A18774BE3}"/>
              </a:ext>
            </a:extLst>
          </p:cNvPr>
          <p:cNvSpPr txBox="1"/>
          <p:nvPr/>
        </p:nvSpPr>
        <p:spPr>
          <a:xfrm>
            <a:off x="1383957" y="939114"/>
            <a:ext cx="17681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noProof="1">
                <a:solidFill>
                  <a:srgbClr val="FFFF00"/>
                </a:solidFill>
              </a:rPr>
              <a:t>Hoare Logic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078C22-F81E-4E02-CB51-15F14D176A1F}"/>
              </a:ext>
            </a:extLst>
          </p:cNvPr>
          <p:cNvSpPr txBox="1"/>
          <p:nvPr/>
        </p:nvSpPr>
        <p:spPr>
          <a:xfrm>
            <a:off x="6890952" y="2953643"/>
            <a:ext cx="1492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noProof="1">
                <a:solidFill>
                  <a:schemeClr val="accent2"/>
                </a:solidFill>
              </a:rPr>
              <a:t>Cameleer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EA9305-D84A-B034-1322-577821CA4F4C}"/>
              </a:ext>
            </a:extLst>
          </p:cNvPr>
          <p:cNvSpPr txBox="1"/>
          <p:nvPr/>
        </p:nvSpPr>
        <p:spPr>
          <a:xfrm>
            <a:off x="4920947" y="4077229"/>
            <a:ext cx="13067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noProof="1">
                <a:solidFill>
                  <a:srgbClr val="C00000"/>
                </a:solidFill>
              </a:rPr>
              <a:t>GOSPEL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320B3E-73D3-CD3E-C4D5-2F400BED8F2F}"/>
              </a:ext>
            </a:extLst>
          </p:cNvPr>
          <p:cNvSpPr txBox="1"/>
          <p:nvPr/>
        </p:nvSpPr>
        <p:spPr>
          <a:xfrm>
            <a:off x="4639652" y="724141"/>
            <a:ext cx="31761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noProof="1">
                <a:solidFill>
                  <a:srgbClr val="FFFF00"/>
                </a:solidFill>
              </a:rPr>
              <a:t>Relational Hoare Logic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5839CF-434B-7C6C-0F8C-58D3B336AB64}"/>
              </a:ext>
            </a:extLst>
          </p:cNvPr>
          <p:cNvSpPr txBox="1"/>
          <p:nvPr/>
        </p:nvSpPr>
        <p:spPr>
          <a:xfrm>
            <a:off x="818738" y="2442001"/>
            <a:ext cx="11304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noProof="1">
                <a:solidFill>
                  <a:srgbClr val="C00000"/>
                </a:solidFill>
              </a:rPr>
              <a:t>OCaml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3DA7EE-8840-D0A4-AE7A-6CC9EF62FCAF}"/>
              </a:ext>
            </a:extLst>
          </p:cNvPr>
          <p:cNvSpPr txBox="1"/>
          <p:nvPr/>
        </p:nvSpPr>
        <p:spPr>
          <a:xfrm>
            <a:off x="1801410" y="4077228"/>
            <a:ext cx="9332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noProof="1">
                <a:solidFill>
                  <a:schemeClr val="accent2"/>
                </a:solidFill>
              </a:rPr>
              <a:t>Why3</a:t>
            </a:r>
          </a:p>
        </p:txBody>
      </p:sp>
    </p:spTree>
    <p:extLst>
      <p:ext uri="{BB962C8B-B14F-4D97-AF65-F5344CB8AC3E}">
        <p14:creationId xmlns:p14="http://schemas.microsoft.com/office/powerpoint/2010/main" val="204634827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DF7E4D4-952D-E8F3-1749-587073F71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88B288E-01CE-4FBB-FA4D-1532A605A73E}"/>
              </a:ext>
            </a:extLst>
          </p:cNvPr>
          <p:cNvSpPr txBox="1"/>
          <p:nvPr/>
        </p:nvSpPr>
        <p:spPr>
          <a:xfrm>
            <a:off x="469556" y="626071"/>
            <a:ext cx="457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Hoare Logic</a:t>
            </a:r>
            <a:endParaRPr lang="en-US" sz="2800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29EFAC-5AD1-86F5-677E-66941FBADA4B}"/>
              </a:ext>
            </a:extLst>
          </p:cNvPr>
          <p:cNvSpPr txBox="1"/>
          <p:nvPr/>
        </p:nvSpPr>
        <p:spPr>
          <a:xfrm>
            <a:off x="469556" y="1732855"/>
            <a:ext cx="7331676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Fundamental in deductive verification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Allows reasoning about the correctness of a program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If the pre-condition holds and the program terminates, then the post-condition also holds after the execution 							   (</a:t>
            </a:r>
            <a:r>
              <a:rPr lang="en-US" sz="2200" b="1" noProof="1">
                <a:solidFill>
                  <a:srgbClr val="002060"/>
                </a:solidFill>
              </a:rPr>
              <a:t>Hoare triple</a:t>
            </a:r>
            <a:r>
              <a:rPr lang="en-US" sz="2200" noProof="1">
                <a:solidFill>
                  <a:srgbClr val="002060"/>
                </a:solidFill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8A841-D3CB-5840-1A33-50BD87384557}"/>
              </a:ext>
            </a:extLst>
          </p:cNvPr>
          <p:cNvSpPr txBox="1"/>
          <p:nvPr/>
        </p:nvSpPr>
        <p:spPr>
          <a:xfrm>
            <a:off x="3478426" y="3722361"/>
            <a:ext cx="17670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noProof="1">
                <a:solidFill>
                  <a:srgbClr val="002060"/>
                </a:solidFill>
              </a:rPr>
              <a:t>{P} </a:t>
            </a:r>
            <a:r>
              <a:rPr lang="en-US" sz="2800" b="1" noProof="1">
                <a:solidFill>
                  <a:srgbClr val="002060"/>
                </a:solidFill>
              </a:rPr>
              <a:t>S</a:t>
            </a:r>
            <a:r>
              <a:rPr lang="en-US" sz="2800" noProof="1">
                <a:solidFill>
                  <a:srgbClr val="002060"/>
                </a:solidFill>
              </a:rPr>
              <a:t> {Q}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F9F2763-10D7-0251-2C38-30156B9E37BB}"/>
              </a:ext>
            </a:extLst>
          </p:cNvPr>
          <p:cNvSpPr txBox="1"/>
          <p:nvPr/>
        </p:nvSpPr>
        <p:spPr>
          <a:xfrm>
            <a:off x="1037963" y="4690420"/>
            <a:ext cx="22159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noProof="1">
                <a:solidFill>
                  <a:srgbClr val="002060"/>
                </a:solidFill>
              </a:rPr>
              <a:t>Pre-condition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FA02B5-6BD5-B9CF-DDDB-FD3B7D0B2DBD}"/>
              </a:ext>
            </a:extLst>
          </p:cNvPr>
          <p:cNvSpPr txBox="1"/>
          <p:nvPr/>
        </p:nvSpPr>
        <p:spPr>
          <a:xfrm>
            <a:off x="3253944" y="4693167"/>
            <a:ext cx="22159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noProof="1">
                <a:solidFill>
                  <a:srgbClr val="002060"/>
                </a:solidFill>
              </a:rPr>
              <a:t>Program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F512DF-E1CF-D5DE-267A-2EFBC9121C49}"/>
              </a:ext>
            </a:extLst>
          </p:cNvPr>
          <p:cNvSpPr txBox="1"/>
          <p:nvPr/>
        </p:nvSpPr>
        <p:spPr>
          <a:xfrm>
            <a:off x="5469925" y="4690420"/>
            <a:ext cx="22159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noProof="1">
                <a:solidFill>
                  <a:srgbClr val="002060"/>
                </a:solidFill>
              </a:rPr>
              <a:t>Post-condition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0447F5A-D5B6-428D-588E-0895770C7C47}"/>
              </a:ext>
            </a:extLst>
          </p:cNvPr>
          <p:cNvCxnSpPr>
            <a:cxnSpLocks/>
          </p:cNvCxnSpPr>
          <p:nvPr/>
        </p:nvCxnSpPr>
        <p:spPr>
          <a:xfrm flipH="1">
            <a:off x="3122141" y="4242487"/>
            <a:ext cx="724930" cy="4451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E65A080-C42C-D3A7-ED94-17B98DFD13A9}"/>
              </a:ext>
            </a:extLst>
          </p:cNvPr>
          <p:cNvCxnSpPr>
            <a:stCxn id="4" idx="2"/>
            <a:endCxn id="6" idx="0"/>
          </p:cNvCxnSpPr>
          <p:nvPr/>
        </p:nvCxnSpPr>
        <p:spPr>
          <a:xfrm>
            <a:off x="4361935" y="4245581"/>
            <a:ext cx="0" cy="4475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8961681-FFCC-BA08-3836-472C8CEA6473}"/>
              </a:ext>
            </a:extLst>
          </p:cNvPr>
          <p:cNvCxnSpPr/>
          <p:nvPr/>
        </p:nvCxnSpPr>
        <p:spPr>
          <a:xfrm>
            <a:off x="4860325" y="4244034"/>
            <a:ext cx="609600" cy="443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E2C5BD96-C82C-30DB-0133-9CE088813C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35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35635854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20EB817-9A4A-A752-45FE-802F77F34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6A7992F-728A-EB95-C874-674DAC1DDB6D}"/>
              </a:ext>
            </a:extLst>
          </p:cNvPr>
          <p:cNvSpPr txBox="1"/>
          <p:nvPr/>
        </p:nvSpPr>
        <p:spPr>
          <a:xfrm>
            <a:off x="469556" y="626071"/>
            <a:ext cx="457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Relational Hoare Logic</a:t>
            </a:r>
            <a:endParaRPr lang="en-US" sz="2800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BAC42F-A972-CB6F-292C-4DF37B2315E7}"/>
              </a:ext>
            </a:extLst>
          </p:cNvPr>
          <p:cNvSpPr txBox="1"/>
          <p:nvPr/>
        </p:nvSpPr>
        <p:spPr>
          <a:xfrm>
            <a:off x="469556" y="1774728"/>
            <a:ext cx="7710617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Extension of Hoare Logic to reason about two different programs or different runs of the same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Much better to establish that two programs are equivalent or not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If both P1 and P2 respect the pre-condition, either they both terminate respecting the post-condition or neither does                             </a:t>
            </a:r>
            <a:r>
              <a:rPr lang="en-US" sz="2200" noProof="1">
                <a:solidFill>
                  <a:srgbClr val="ACCFEE"/>
                </a:solidFill>
              </a:rPr>
              <a:t>.</a:t>
            </a:r>
            <a:r>
              <a:rPr lang="en-US" sz="2200" noProof="1">
                <a:solidFill>
                  <a:srgbClr val="002060"/>
                </a:solidFill>
              </a:rPr>
              <a:t>                                          (</a:t>
            </a:r>
            <a:r>
              <a:rPr lang="en-US" sz="2200" b="1" noProof="1">
                <a:solidFill>
                  <a:srgbClr val="002060"/>
                </a:solidFill>
              </a:rPr>
              <a:t>Hoare quadruple</a:t>
            </a:r>
            <a:r>
              <a:rPr lang="en-US" sz="2200" noProof="1">
                <a:solidFill>
                  <a:srgbClr val="002060"/>
                </a:solidFill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732A12-4DCA-63E4-21CB-5676DB55634C}"/>
              </a:ext>
            </a:extLst>
          </p:cNvPr>
          <p:cNvSpPr txBox="1"/>
          <p:nvPr/>
        </p:nvSpPr>
        <p:spPr>
          <a:xfrm>
            <a:off x="3179806" y="4432861"/>
            <a:ext cx="27843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noProof="1">
                <a:solidFill>
                  <a:srgbClr val="002060"/>
                </a:solidFill>
              </a:rPr>
              <a:t>{Φ} </a:t>
            </a:r>
            <a:r>
              <a:rPr lang="en-US" sz="2800" i="1" noProof="1">
                <a:solidFill>
                  <a:srgbClr val="002060"/>
                </a:solidFill>
              </a:rPr>
              <a:t>P1</a:t>
            </a:r>
            <a:r>
              <a:rPr lang="en-US" sz="2800" noProof="1">
                <a:solidFill>
                  <a:srgbClr val="002060"/>
                </a:solidFill>
              </a:rPr>
              <a:t> ~ </a:t>
            </a:r>
            <a:r>
              <a:rPr lang="en-US" sz="2800" i="1" noProof="1">
                <a:solidFill>
                  <a:srgbClr val="002060"/>
                </a:solidFill>
              </a:rPr>
              <a:t>P2</a:t>
            </a:r>
            <a:r>
              <a:rPr lang="en-US" sz="2800" noProof="1">
                <a:solidFill>
                  <a:srgbClr val="002060"/>
                </a:solidFill>
              </a:rPr>
              <a:t>  {Ψ}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257913-406A-1190-228C-D3DE24D51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36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2178331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5D73EA-6268-85E9-FB11-18CC193A24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82A4701-3E84-FF62-97A9-45FD593A3BF5}"/>
              </a:ext>
            </a:extLst>
          </p:cNvPr>
          <p:cNvSpPr txBox="1"/>
          <p:nvPr/>
        </p:nvSpPr>
        <p:spPr>
          <a:xfrm>
            <a:off x="469556" y="626071"/>
            <a:ext cx="457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Ocaml (1/2)</a:t>
            </a:r>
            <a:endParaRPr lang="en-US" sz="2800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E1C460-8768-4812-5AF4-EF2037D27808}"/>
              </a:ext>
            </a:extLst>
          </p:cNvPr>
          <p:cNvSpPr txBox="1"/>
          <p:nvPr/>
        </p:nvSpPr>
        <p:spPr>
          <a:xfrm>
            <a:off x="469556" y="2072670"/>
            <a:ext cx="743053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Multi-paradigm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Interpreted or compiled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Strongly and statically typed with type inference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Used in: Meta, Microsoft, Bloomberg, Docker, Coq…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C9AD30C-DB5E-2DFA-F5B7-F95F0D78E2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37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185407502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CF8EE8F-22A6-F1D4-FBBB-BCC8F7947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B6E19D4-30CF-86A0-73E1-139F833182D9}"/>
              </a:ext>
            </a:extLst>
          </p:cNvPr>
          <p:cNvSpPr txBox="1"/>
          <p:nvPr/>
        </p:nvSpPr>
        <p:spPr>
          <a:xfrm>
            <a:off x="469556" y="626071"/>
            <a:ext cx="457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Ocaml (2/2)</a:t>
            </a:r>
            <a:endParaRPr lang="en-US" sz="2800" noProof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91A7A2-7DB7-9936-26EC-F405DD78909E}"/>
              </a:ext>
            </a:extLst>
          </p:cNvPr>
          <p:cNvSpPr txBox="1"/>
          <p:nvPr/>
        </p:nvSpPr>
        <p:spPr>
          <a:xfrm>
            <a:off x="469556" y="2491518"/>
            <a:ext cx="439488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noProof="1">
                <a:solidFill>
                  <a:srgbClr val="002060"/>
                </a:solidFill>
              </a:rPr>
              <a:t>let rec gcd (a: int) (b:int) : int =</a:t>
            </a:r>
          </a:p>
          <a:p>
            <a:r>
              <a:rPr lang="en-US" sz="2200" noProof="1">
                <a:solidFill>
                  <a:srgbClr val="002060"/>
                </a:solidFill>
              </a:rPr>
              <a:t>   if b = 0 then a</a:t>
            </a:r>
          </a:p>
          <a:p>
            <a:r>
              <a:rPr lang="en-US" sz="2200" noProof="1">
                <a:solidFill>
                  <a:srgbClr val="002060"/>
                </a:solidFill>
              </a:rPr>
              <a:t>   else gcd b (mod a b)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CEEEF9-24CA-62A0-4225-AB0A6AC0D0E4}"/>
              </a:ext>
            </a:extLst>
          </p:cNvPr>
          <p:cNvSpPr txBox="1"/>
          <p:nvPr/>
        </p:nvSpPr>
        <p:spPr>
          <a:xfrm>
            <a:off x="4572000" y="1900043"/>
            <a:ext cx="4394887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noProof="1">
                <a:solidFill>
                  <a:srgbClr val="002060"/>
                </a:solidFill>
              </a:rPr>
              <a:t>let gcd_iter (a0: int) (b0: int) : int =   </a:t>
            </a:r>
          </a:p>
          <a:p>
            <a:r>
              <a:rPr lang="en-US" sz="2200" noProof="1">
                <a:solidFill>
                  <a:srgbClr val="002060"/>
                </a:solidFill>
              </a:rPr>
              <a:t>      let b = ref b0 in</a:t>
            </a:r>
          </a:p>
          <a:p>
            <a:r>
              <a:rPr lang="en-US" sz="2200" noProof="1">
                <a:solidFill>
                  <a:srgbClr val="002060"/>
                </a:solidFill>
              </a:rPr>
              <a:t>      let a = ref a0 in</a:t>
            </a:r>
          </a:p>
          <a:p>
            <a:r>
              <a:rPr lang="en-US" sz="2200" noProof="1">
                <a:solidFill>
                  <a:srgbClr val="002060"/>
                </a:solidFill>
              </a:rPr>
              <a:t>      while !b &lt;&gt; 0 do</a:t>
            </a:r>
          </a:p>
          <a:p>
            <a:r>
              <a:rPr lang="en-US" sz="2200" noProof="1">
                <a:solidFill>
                  <a:srgbClr val="002060"/>
                </a:solidFill>
              </a:rPr>
              <a:t>          let tmp = !a in</a:t>
            </a:r>
          </a:p>
          <a:p>
            <a:r>
              <a:rPr lang="en-US" sz="2200" noProof="1">
                <a:solidFill>
                  <a:srgbClr val="002060"/>
                </a:solidFill>
              </a:rPr>
              <a:t>          a := !b;</a:t>
            </a:r>
          </a:p>
          <a:p>
            <a:r>
              <a:rPr lang="en-US" sz="2200" noProof="1">
                <a:solidFill>
                  <a:srgbClr val="002060"/>
                </a:solidFill>
              </a:rPr>
              <a:t>          b := tmp mod !b</a:t>
            </a:r>
          </a:p>
          <a:p>
            <a:r>
              <a:rPr lang="en-US" sz="2200" noProof="1">
                <a:solidFill>
                  <a:srgbClr val="002060"/>
                </a:solidFill>
              </a:rPr>
              <a:t>      done;</a:t>
            </a:r>
          </a:p>
          <a:p>
            <a:r>
              <a:rPr lang="en-US" sz="2200" noProof="1">
                <a:solidFill>
                  <a:srgbClr val="002060"/>
                </a:solidFill>
              </a:rPr>
              <a:t>      !a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17E93C-AEE3-2272-5E9C-219FFD409691}"/>
              </a:ext>
            </a:extLst>
          </p:cNvPr>
          <p:cNvSpPr txBox="1"/>
          <p:nvPr/>
        </p:nvSpPr>
        <p:spPr>
          <a:xfrm>
            <a:off x="5576500" y="1211561"/>
            <a:ext cx="17628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noProof="1">
                <a:solidFill>
                  <a:srgbClr val="002060"/>
                </a:solidFill>
              </a:rPr>
              <a:t>Imperative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26EC03-05AA-307E-2F02-421AA59FED2C}"/>
              </a:ext>
            </a:extLst>
          </p:cNvPr>
          <p:cNvSpPr txBox="1"/>
          <p:nvPr/>
        </p:nvSpPr>
        <p:spPr>
          <a:xfrm>
            <a:off x="1297458" y="1881534"/>
            <a:ext cx="17628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noProof="1">
                <a:solidFill>
                  <a:srgbClr val="002060"/>
                </a:solidFill>
              </a:rPr>
              <a:t>Functional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CF94898-EF21-D9A6-C498-CE061B5AD9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38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145024194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4B3143F-BC20-9451-F3B4-6D9E3EF14C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4B26212-FCF7-D816-5ADE-1389404BA7F2}"/>
              </a:ext>
            </a:extLst>
          </p:cNvPr>
          <p:cNvSpPr txBox="1"/>
          <p:nvPr/>
        </p:nvSpPr>
        <p:spPr>
          <a:xfrm>
            <a:off x="469556" y="626071"/>
            <a:ext cx="457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Why3</a:t>
            </a:r>
            <a:endParaRPr lang="en-US" sz="2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E38234B-8853-1DF1-F048-BFB6D3B442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39</a:t>
            </a:fld>
            <a:endParaRPr lang="en-US" noProof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9B67B2-AF0C-816F-9EDC-164D968E96C3}"/>
              </a:ext>
            </a:extLst>
          </p:cNvPr>
          <p:cNvSpPr txBox="1"/>
          <p:nvPr/>
        </p:nvSpPr>
        <p:spPr>
          <a:xfrm>
            <a:off x="469556" y="1857106"/>
            <a:ext cx="7710617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Open source deductive verification platform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Establishes the bridge between the programmer and different types of theorem provers:</a:t>
            </a:r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en-US" sz="2400" noProof="1">
                <a:solidFill>
                  <a:srgbClr val="002060"/>
                </a:solidFill>
              </a:rPr>
              <a:t>SMT solvers (Z3, cvc5, Alt-Ergo…)</a:t>
            </a:r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en-US" sz="2400" noProof="1">
                <a:solidFill>
                  <a:srgbClr val="002060"/>
                </a:solidFill>
              </a:rPr>
              <a:t>Interactive proof assistants (Coq, Isabelle…)</a:t>
            </a:r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en-US" sz="2400" noProof="1">
                <a:solidFill>
                  <a:srgbClr val="002060"/>
                </a:solidFill>
              </a:rPr>
              <a:t>TPTP provers (Vampire, E…)</a:t>
            </a:r>
          </a:p>
          <a:p>
            <a:endParaRPr lang="en-US" sz="2200" noProof="1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611018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27E46C-B7E3-BC72-C1D0-B12AEC6C9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FDFAB5-13B5-35FB-F401-88513722720F}"/>
              </a:ext>
            </a:extLst>
          </p:cNvPr>
          <p:cNvSpPr txBox="1"/>
          <p:nvPr/>
        </p:nvSpPr>
        <p:spPr>
          <a:xfrm>
            <a:off x="469556" y="626071"/>
            <a:ext cx="457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GOSPEL</a:t>
            </a:r>
            <a:endParaRPr lang="en-US" sz="2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7724ABA-31BB-719D-DEBF-ACDE27530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40</a:t>
            </a:fld>
            <a:endParaRPr lang="en-US" noProof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43DD99-F8E6-4314-CA0C-0FDCCDFDA6AB}"/>
              </a:ext>
            </a:extLst>
          </p:cNvPr>
          <p:cNvSpPr txBox="1"/>
          <p:nvPr/>
        </p:nvSpPr>
        <p:spPr>
          <a:xfrm>
            <a:off x="469557" y="1914771"/>
            <a:ext cx="686212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Generic Ocaml SPEcification Language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Specification language for OCaml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Allows program correctness verification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Created to significantly improve conciseness and accessibility</a:t>
            </a:r>
          </a:p>
        </p:txBody>
      </p:sp>
    </p:spTree>
    <p:extLst>
      <p:ext uri="{BB962C8B-B14F-4D97-AF65-F5344CB8AC3E}">
        <p14:creationId xmlns:p14="http://schemas.microsoft.com/office/powerpoint/2010/main" val="318601776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66EB30A-7619-4D99-481F-0CBBC3A27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092E55F-E45E-FDA1-BCCE-3BA4ED3D2B14}"/>
              </a:ext>
            </a:extLst>
          </p:cNvPr>
          <p:cNvSpPr txBox="1"/>
          <p:nvPr/>
        </p:nvSpPr>
        <p:spPr>
          <a:xfrm>
            <a:off x="469556" y="626071"/>
            <a:ext cx="457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Cameleer</a:t>
            </a:r>
            <a:endParaRPr lang="en-US" sz="2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222C82B-2F77-7A79-7DDA-1242235B5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41</a:t>
            </a:fld>
            <a:endParaRPr lang="en-US" noProof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D2D323-831C-F0D5-6D63-C25F3131331C}"/>
              </a:ext>
            </a:extLst>
          </p:cNvPr>
          <p:cNvSpPr txBox="1"/>
          <p:nvPr/>
        </p:nvSpPr>
        <p:spPr>
          <a:xfrm>
            <a:off x="469556" y="2072670"/>
            <a:ext cx="719163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An evolution from Why3 with the help of GOSPEL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Directly accepts GOSPEL-annotated OCaml code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Translates it to WhyML and uses the Why3 tool to perform the actual verification</a:t>
            </a:r>
          </a:p>
        </p:txBody>
      </p:sp>
    </p:spTree>
    <p:extLst>
      <p:ext uri="{BB962C8B-B14F-4D97-AF65-F5344CB8AC3E}">
        <p14:creationId xmlns:p14="http://schemas.microsoft.com/office/powerpoint/2010/main" val="236549005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856298B-06C5-4ECE-9C4B-629EC30BE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8985FC6-3F84-8437-B7F4-8A3CD9A2AC06}"/>
              </a:ext>
            </a:extLst>
          </p:cNvPr>
          <p:cNvSpPr txBox="1"/>
          <p:nvPr/>
        </p:nvSpPr>
        <p:spPr>
          <a:xfrm>
            <a:off x="2397211" y="2026503"/>
            <a:ext cx="43495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noProof="1">
                <a:solidFill>
                  <a:srgbClr val="002060"/>
                </a:solidFill>
              </a:rPr>
              <a:t>State of the Art</a:t>
            </a:r>
            <a:endParaRPr lang="en-US" sz="4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AB1438E-8A6B-6697-DA47-26A586695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42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203642626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477C210-B278-1BC1-CBC6-100502E12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28F5BD-5ECB-BFE8-5F3D-AAF8C1D4424E}"/>
              </a:ext>
            </a:extLst>
          </p:cNvPr>
          <p:cNvSpPr txBox="1"/>
          <p:nvPr/>
        </p:nvSpPr>
        <p:spPr>
          <a:xfrm>
            <a:off x="469556" y="626071"/>
            <a:ext cx="457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Self-composition</a:t>
            </a:r>
            <a:endParaRPr lang="en-US" sz="2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742F2B1-B8DC-7E54-228C-BF7A0E92C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43</a:t>
            </a:fld>
            <a:endParaRPr lang="en-US" noProof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310BAE-8658-5E98-07FF-83FA2CFAB5DB}"/>
              </a:ext>
            </a:extLst>
          </p:cNvPr>
          <p:cNvSpPr txBox="1"/>
          <p:nvPr/>
        </p:nvSpPr>
        <p:spPr>
          <a:xfrm>
            <a:off x="469556" y="1964948"/>
            <a:ext cx="7249298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Originally developed to control information flow in a more extensible and flexible way than type systems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It is highly expressive, and there is no need to prove its soundness as one would with type systems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Despite being considerably complete, it is impractical</a:t>
            </a:r>
          </a:p>
        </p:txBody>
      </p:sp>
    </p:spTree>
    <p:extLst>
      <p:ext uri="{BB962C8B-B14F-4D97-AF65-F5344CB8AC3E}">
        <p14:creationId xmlns:p14="http://schemas.microsoft.com/office/powerpoint/2010/main" val="13476428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B367974-27CD-96C7-B94A-C65F9D529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3F9E675-8290-36EE-4703-6245592289E5}"/>
              </a:ext>
            </a:extLst>
          </p:cNvPr>
          <p:cNvSpPr txBox="1"/>
          <p:nvPr/>
        </p:nvSpPr>
        <p:spPr>
          <a:xfrm>
            <a:off x="469556" y="626071"/>
            <a:ext cx="457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Cross-products</a:t>
            </a:r>
            <a:endParaRPr lang="en-US" sz="2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6EBFA2-5D5A-6C82-B9B9-F3B1DAC2B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44</a:t>
            </a:fld>
            <a:endParaRPr lang="en-US" noProof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BC8E7C-0485-F468-57E1-C778AF5D85A0}"/>
              </a:ext>
            </a:extLst>
          </p:cNvPr>
          <p:cNvSpPr txBox="1"/>
          <p:nvPr/>
        </p:nvSpPr>
        <p:spPr>
          <a:xfrm>
            <a:off x="469556" y="1964948"/>
            <a:ext cx="7249298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Started as a method to prove program equivalence, focused on compiler optimizations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Supports most intraprocedural compiler optimizations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Not applicable to two programs with dissimilar structures</a:t>
            </a:r>
          </a:p>
        </p:txBody>
      </p:sp>
    </p:spTree>
    <p:extLst>
      <p:ext uri="{BB962C8B-B14F-4D97-AF65-F5344CB8AC3E}">
        <p14:creationId xmlns:p14="http://schemas.microsoft.com/office/powerpoint/2010/main" val="128407720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B70B375-E31E-3F2F-AFC0-C0FC52239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F772E8C-2DF6-2B93-C9C8-35422A79FD2A}"/>
              </a:ext>
            </a:extLst>
          </p:cNvPr>
          <p:cNvSpPr txBox="1"/>
          <p:nvPr/>
        </p:nvSpPr>
        <p:spPr>
          <a:xfrm>
            <a:off x="469556" y="626071"/>
            <a:ext cx="457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Product Programs</a:t>
            </a:r>
            <a:endParaRPr lang="en-US" sz="2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00DCCA8-A512-AF89-8E53-0E47BD0D13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45</a:t>
            </a:fld>
            <a:endParaRPr lang="en-US" noProof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39828F-55D3-1B9B-B591-306BC72A6214}"/>
              </a:ext>
            </a:extLst>
          </p:cNvPr>
          <p:cNvSpPr txBox="1"/>
          <p:nvPr/>
        </p:nvSpPr>
        <p:spPr>
          <a:xfrm>
            <a:off x="469555" y="1948472"/>
            <a:ext cx="8045795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Combines the best of self-composition and cross-products</a:t>
            </a:r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en-US" sz="2200" noProof="1">
                <a:solidFill>
                  <a:srgbClr val="002060"/>
                </a:solidFill>
              </a:rPr>
              <a:t>Flexibility of self-composition for asynchronous steps</a:t>
            </a:r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en-US" sz="2200" noProof="1">
                <a:solidFill>
                  <a:srgbClr val="002060"/>
                </a:solidFill>
              </a:rPr>
              <a:t>Efficiency of cross-products for synchronous steps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Reduces relational verification into standard verification, therefore has extensive tool support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Support for two programs that are structurally dissimilar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noProof="1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526948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ACB0338-63E5-3446-E370-73633C92B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7861103-4978-26AD-2892-35AC109192CC}"/>
              </a:ext>
            </a:extLst>
          </p:cNvPr>
          <p:cNvSpPr txBox="1"/>
          <p:nvPr/>
        </p:nvSpPr>
        <p:spPr>
          <a:xfrm>
            <a:off x="469555" y="626071"/>
            <a:ext cx="75129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Program Equivalence</a:t>
            </a:r>
            <a:r>
              <a:rPr lang="en-US" sz="2800" noProof="1"/>
              <a:t> </a:t>
            </a:r>
            <a:r>
              <a:rPr lang="en-US" sz="2800" noProof="1">
                <a:solidFill>
                  <a:srgbClr val="002060"/>
                </a:solidFill>
              </a:rPr>
              <a:t>(1/2)</a:t>
            </a:r>
            <a:endParaRPr lang="en-US" sz="2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45E8230-F0BF-61D9-072A-F54A61D2B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46</a:t>
            </a:fld>
            <a:endParaRPr lang="en-US" noProof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49B0F8-9BFA-F40E-F353-415B8F3BED6B}"/>
              </a:ext>
            </a:extLst>
          </p:cNvPr>
          <p:cNvSpPr txBox="1"/>
          <p:nvPr/>
        </p:nvSpPr>
        <p:spPr>
          <a:xfrm>
            <a:off x="628650" y="2034383"/>
            <a:ext cx="3311965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let source (b c n: int) : (x: int)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= let ref i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let ref j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let ref x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while i &lt; n do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    j &lt;- i * b + c;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    x &lt;- x + j;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    i &lt;- i + 1;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done;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0A88F8-3687-2E9D-6339-42520B757525}"/>
              </a:ext>
            </a:extLst>
          </p:cNvPr>
          <p:cNvSpPr txBox="1"/>
          <p:nvPr/>
        </p:nvSpPr>
        <p:spPr>
          <a:xfrm>
            <a:off x="1273356" y="1472168"/>
            <a:ext cx="17628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noProof="1">
                <a:solidFill>
                  <a:srgbClr val="002060"/>
                </a:solidFill>
              </a:rPr>
              <a:t>Original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6447DA-ACB5-0B8B-FCCA-A2387DE9C64B}"/>
              </a:ext>
            </a:extLst>
          </p:cNvPr>
          <p:cNvSpPr txBox="1"/>
          <p:nvPr/>
        </p:nvSpPr>
        <p:spPr>
          <a:xfrm>
            <a:off x="4572000" y="2034383"/>
            <a:ext cx="398006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let transformed (b c n: int) : (x': int)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= let ref i'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let ref j' = c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let ref x'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while i' &lt; n do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    x' &lt;- x' + j';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    j' &lt;- j' + b;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    i' &lt;- i' + 1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done;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x'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D135EBC-BE2D-1693-9866-1C9B2C34605E}"/>
              </a:ext>
            </a:extLst>
          </p:cNvPr>
          <p:cNvSpPr txBox="1"/>
          <p:nvPr/>
        </p:nvSpPr>
        <p:spPr>
          <a:xfrm>
            <a:off x="5039171" y="1472168"/>
            <a:ext cx="185004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noProof="1">
                <a:solidFill>
                  <a:srgbClr val="002060"/>
                </a:solidFill>
              </a:rPr>
              <a:t>Transformed</a:t>
            </a:r>
          </a:p>
        </p:txBody>
      </p:sp>
    </p:spTree>
    <p:extLst>
      <p:ext uri="{BB962C8B-B14F-4D97-AF65-F5344CB8AC3E}">
        <p14:creationId xmlns:p14="http://schemas.microsoft.com/office/powerpoint/2010/main" val="327778363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D0B6939-EFD0-0747-E370-837827B8E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6617301-7558-0E00-4B79-620987B97C78}"/>
              </a:ext>
            </a:extLst>
          </p:cNvPr>
          <p:cNvSpPr txBox="1"/>
          <p:nvPr/>
        </p:nvSpPr>
        <p:spPr>
          <a:xfrm>
            <a:off x="469556" y="626071"/>
            <a:ext cx="75788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Program Equivalence (2/2)</a:t>
            </a:r>
            <a:endParaRPr lang="en-US" sz="2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5B7511E-D467-B923-BDC6-DA0948F7E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47</a:t>
            </a:fld>
            <a:endParaRPr lang="en-US" noProof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CB8B139-D553-7467-0311-2975116C14A3}"/>
              </a:ext>
            </a:extLst>
          </p:cNvPr>
          <p:cNvSpPr txBox="1"/>
          <p:nvPr/>
        </p:nvSpPr>
        <p:spPr>
          <a:xfrm>
            <a:off x="3059018" y="1549209"/>
            <a:ext cx="238789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noProof="1">
                <a:solidFill>
                  <a:srgbClr val="002060"/>
                </a:solidFill>
              </a:rPr>
              <a:t>Product Program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2672C02-BB9A-552B-9D23-458A537F0BFA}"/>
              </a:ext>
            </a:extLst>
          </p:cNvPr>
          <p:cNvSpPr txBox="1"/>
          <p:nvPr/>
        </p:nvSpPr>
        <p:spPr>
          <a:xfrm>
            <a:off x="469556" y="2321854"/>
            <a:ext cx="3783408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let main (b c n: int) : (x: int, x': int)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= let ref i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let ref i'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let ref j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let ref j' = c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let ref x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let ref x' = 0 in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A89BCEB-3A31-E279-ADA7-A524E9D98453}"/>
              </a:ext>
            </a:extLst>
          </p:cNvPr>
          <p:cNvSpPr txBox="1"/>
          <p:nvPr/>
        </p:nvSpPr>
        <p:spPr>
          <a:xfrm>
            <a:off x="4891038" y="2321854"/>
            <a:ext cx="2542684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while i &lt; n &amp;&amp; i' &lt; n do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j &lt;- i * b + c;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x &lt;- x + j;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i &lt;- i + 1;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x' &lt;- x' + j';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j' &lt;- j' + b;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i' &lt;- i' + 1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done;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x, x'</a:t>
            </a:r>
          </a:p>
        </p:txBody>
      </p:sp>
    </p:spTree>
    <p:extLst>
      <p:ext uri="{BB962C8B-B14F-4D97-AF65-F5344CB8AC3E}">
        <p14:creationId xmlns:p14="http://schemas.microsoft.com/office/powerpoint/2010/main" val="126483946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4BB6573-AE68-E606-5028-F477F5DCA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11615-3F81-E543-EE9B-3433E85F0FD7}"/>
              </a:ext>
            </a:extLst>
          </p:cNvPr>
          <p:cNvSpPr txBox="1"/>
          <p:nvPr/>
        </p:nvSpPr>
        <p:spPr>
          <a:xfrm>
            <a:off x="1190368" y="2026503"/>
            <a:ext cx="67632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noProof="1">
                <a:solidFill>
                  <a:srgbClr val="002060"/>
                </a:solidFill>
              </a:rPr>
              <a:t>Preliminary Results</a:t>
            </a:r>
            <a:endParaRPr lang="en-US" sz="4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C4028F-0FBD-78C7-E826-C6832D422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48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318173180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E036967-5B1E-B1FA-22A4-1F2F6B825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AB0DC70-D3C9-886F-1388-347F7D1795C4}"/>
              </a:ext>
            </a:extLst>
          </p:cNvPr>
          <p:cNvSpPr txBox="1"/>
          <p:nvPr/>
        </p:nvSpPr>
        <p:spPr>
          <a:xfrm>
            <a:off x="469555" y="626071"/>
            <a:ext cx="57912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Simple Equivalence Proof - Factorial</a:t>
            </a:r>
            <a:endParaRPr lang="en-US" sz="2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32D9266-7A53-3653-0A3D-9BF387ACF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49</a:t>
            </a:fld>
            <a:endParaRPr lang="en-US" noProof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75FE50-C5C1-4BBA-BE15-47E90825F906}"/>
              </a:ext>
            </a:extLst>
          </p:cNvPr>
          <p:cNvSpPr txBox="1"/>
          <p:nvPr/>
        </p:nvSpPr>
        <p:spPr>
          <a:xfrm>
            <a:off x="734969" y="2507100"/>
            <a:ext cx="2825580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(*@ function rec fact 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(n: integer) : integer =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 if n = 0 then 1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else n * fact (n-1) *)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(*@ requires n &gt;= 0 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     variant n *)</a:t>
            </a:r>
          </a:p>
          <a:p>
            <a:endParaRPr lang="en-US" noProof="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D423E8-4811-F466-CDE5-58EFB6506D4D}"/>
              </a:ext>
            </a:extLst>
          </p:cNvPr>
          <p:cNvSpPr txBox="1"/>
          <p:nvPr/>
        </p:nvSpPr>
        <p:spPr>
          <a:xfrm>
            <a:off x="1056175" y="1932168"/>
            <a:ext cx="17628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noProof="1">
                <a:solidFill>
                  <a:srgbClr val="002060"/>
                </a:solidFill>
              </a:rPr>
              <a:t>Functional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7CBF11-B5F6-F95A-E926-7A3107FA9818}"/>
              </a:ext>
            </a:extLst>
          </p:cNvPr>
          <p:cNvSpPr txBox="1"/>
          <p:nvPr/>
        </p:nvSpPr>
        <p:spPr>
          <a:xfrm>
            <a:off x="4112480" y="1597539"/>
            <a:ext cx="4296551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let fact_iter (n: int) : int =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if n &lt;= 1 then 1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else begin 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  let res = ref 1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  for i = 2 to n do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    (*@ invariant !res = fact (i-1) *)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    res := !res * i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  done;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  !res end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(*@ result = fact_iter 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requires n &gt;= 0 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ensures result = fact n *)</a:t>
            </a:r>
            <a:endParaRPr lang="en-US" sz="2000" noProof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01534C-AA84-24D3-3A83-A31FBA2EE35A}"/>
              </a:ext>
            </a:extLst>
          </p:cNvPr>
          <p:cNvSpPr txBox="1"/>
          <p:nvPr/>
        </p:nvSpPr>
        <p:spPr>
          <a:xfrm>
            <a:off x="6699291" y="2248330"/>
            <a:ext cx="17628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noProof="1">
                <a:solidFill>
                  <a:srgbClr val="002060"/>
                </a:solidFill>
              </a:rPr>
              <a:t>Imperative</a:t>
            </a:r>
          </a:p>
        </p:txBody>
      </p:sp>
    </p:spTree>
    <p:extLst>
      <p:ext uri="{BB962C8B-B14F-4D97-AF65-F5344CB8AC3E}">
        <p14:creationId xmlns:p14="http://schemas.microsoft.com/office/powerpoint/2010/main" val="192361495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AC8D082-1553-7A18-544C-877009A95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F4502D-F07D-F841-D1E8-B1968807A964}"/>
              </a:ext>
            </a:extLst>
          </p:cNvPr>
          <p:cNvSpPr txBox="1"/>
          <p:nvPr/>
        </p:nvSpPr>
        <p:spPr>
          <a:xfrm>
            <a:off x="469555" y="626071"/>
            <a:ext cx="75129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Simple Product Program</a:t>
            </a:r>
            <a:endParaRPr lang="en-US" sz="2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2790DA9-F599-59FB-0135-024CFF9CE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50</a:t>
            </a:fld>
            <a:endParaRPr lang="en-US" noProof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7D949A-38E4-6435-CD39-34D6E452C940}"/>
              </a:ext>
            </a:extLst>
          </p:cNvPr>
          <p:cNvSpPr txBox="1"/>
          <p:nvPr/>
        </p:nvSpPr>
        <p:spPr>
          <a:xfrm>
            <a:off x="469556" y="1971219"/>
            <a:ext cx="218122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val ref x : int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val ref y : int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val ref z : int</a:t>
            </a:r>
          </a:p>
          <a:p>
            <a:endParaRPr lang="en-US" sz="2000" noProof="1">
              <a:solidFill>
                <a:srgbClr val="002060"/>
              </a:solidFill>
            </a:endParaRPr>
          </a:p>
          <a:p>
            <a:r>
              <a:rPr lang="en-US" sz="2000" noProof="1">
                <a:solidFill>
                  <a:srgbClr val="002060"/>
                </a:solidFill>
              </a:rPr>
              <a:t>let original () =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y &lt;- x + 1; 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z &lt;- y + 1;</a:t>
            </a:r>
            <a:endParaRPr lang="en-US" noProof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D647A4-9760-5FD9-452D-5BE8515A49FF}"/>
              </a:ext>
            </a:extLst>
          </p:cNvPr>
          <p:cNvSpPr txBox="1"/>
          <p:nvPr/>
        </p:nvSpPr>
        <p:spPr>
          <a:xfrm>
            <a:off x="469556" y="1409004"/>
            <a:ext cx="17628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noProof="1">
                <a:solidFill>
                  <a:srgbClr val="002060"/>
                </a:solidFill>
              </a:rPr>
              <a:t>Original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1BE2CDF-15DB-17AA-BDEC-6B0FDC33B650}"/>
              </a:ext>
            </a:extLst>
          </p:cNvPr>
          <p:cNvSpPr txBox="1"/>
          <p:nvPr/>
        </p:nvSpPr>
        <p:spPr>
          <a:xfrm>
            <a:off x="3055045" y="1971218"/>
            <a:ext cx="2443101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val ref x : int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val ref y : int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val ref z : int</a:t>
            </a:r>
          </a:p>
          <a:p>
            <a:endParaRPr lang="en-US" sz="2000" noProof="1">
              <a:solidFill>
                <a:srgbClr val="002060"/>
              </a:solidFill>
            </a:endParaRPr>
          </a:p>
          <a:p>
            <a:r>
              <a:rPr lang="en-US" sz="2000" noProof="1">
                <a:solidFill>
                  <a:srgbClr val="002060"/>
                </a:solidFill>
              </a:rPr>
              <a:t>let transformed () =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z &lt;- x + 2; 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y &lt;- z - 1;</a:t>
            </a:r>
            <a:endParaRPr lang="en-US" sz="2000" noProof="1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EAFED1-B1C3-074F-FABF-01CC640A4942}"/>
              </a:ext>
            </a:extLst>
          </p:cNvPr>
          <p:cNvSpPr txBox="1"/>
          <p:nvPr/>
        </p:nvSpPr>
        <p:spPr>
          <a:xfrm>
            <a:off x="3152706" y="1406265"/>
            <a:ext cx="185004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noProof="1">
                <a:solidFill>
                  <a:srgbClr val="002060"/>
                </a:solidFill>
              </a:rPr>
              <a:t>Transformed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E8A61B-3F7F-A926-EB4E-C7E2EF324B04}"/>
              </a:ext>
            </a:extLst>
          </p:cNvPr>
          <p:cNvSpPr txBox="1"/>
          <p:nvPr/>
        </p:nvSpPr>
        <p:spPr>
          <a:xfrm>
            <a:off x="5848864" y="1971218"/>
            <a:ext cx="2825580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val ref x1, y1, z1 : int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val ref x2, y2, z2 : int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let product ()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requires { x1 = x2 }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ensures { y1 = y2 }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ensures { z1 = z2 } =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    y1 &lt;- x1 + 1; 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    z2 &lt;- x2 + 2;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    z1 &lt;- y1 + 1;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    y2 &lt;- z2 - 1;</a:t>
            </a:r>
            <a:endParaRPr lang="en-US" noProof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93B13C-A56F-280A-96AA-2FC544F3C61E}"/>
              </a:ext>
            </a:extLst>
          </p:cNvPr>
          <p:cNvSpPr txBox="1"/>
          <p:nvPr/>
        </p:nvSpPr>
        <p:spPr>
          <a:xfrm>
            <a:off x="5923004" y="1406264"/>
            <a:ext cx="238789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noProof="1">
                <a:solidFill>
                  <a:srgbClr val="002060"/>
                </a:solidFill>
              </a:rPr>
              <a:t>Product Program</a:t>
            </a:r>
          </a:p>
        </p:txBody>
      </p:sp>
    </p:spTree>
    <p:extLst>
      <p:ext uri="{BB962C8B-B14F-4D97-AF65-F5344CB8AC3E}">
        <p14:creationId xmlns:p14="http://schemas.microsoft.com/office/powerpoint/2010/main" val="219515763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110ABCC-D81C-6FB9-ECF0-29E19F4D5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94A5C45-5E9D-8E33-3925-4D31BD061B60}"/>
              </a:ext>
            </a:extLst>
          </p:cNvPr>
          <p:cNvSpPr txBox="1"/>
          <p:nvPr/>
        </p:nvSpPr>
        <p:spPr>
          <a:xfrm>
            <a:off x="469555" y="626071"/>
            <a:ext cx="75129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Product Program with a while loop (1/2)</a:t>
            </a:r>
            <a:endParaRPr lang="en-US" sz="2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9971F3F-29B8-2C3B-B92E-960339E3A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51</a:t>
            </a:fld>
            <a:endParaRPr lang="en-US" noProof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FAF574-4B98-906D-BC20-37A8BF6F959C}"/>
              </a:ext>
            </a:extLst>
          </p:cNvPr>
          <p:cNvSpPr txBox="1"/>
          <p:nvPr/>
        </p:nvSpPr>
        <p:spPr>
          <a:xfrm>
            <a:off x="628650" y="2034383"/>
            <a:ext cx="3311965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let source (b c n: int) : (x: int)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= let ref i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let ref j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let ref x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while i &lt; n do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    j &lt;- i * b + c;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    x &lt;- x + j;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    i &lt;- i + 1;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done;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5D6688-136A-514F-6F90-A7C02A98119B}"/>
              </a:ext>
            </a:extLst>
          </p:cNvPr>
          <p:cNvSpPr txBox="1"/>
          <p:nvPr/>
        </p:nvSpPr>
        <p:spPr>
          <a:xfrm>
            <a:off x="1273356" y="1472168"/>
            <a:ext cx="17628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noProof="1">
                <a:solidFill>
                  <a:srgbClr val="002060"/>
                </a:solidFill>
              </a:rPr>
              <a:t>Original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5508BF-C9BF-F409-6EB1-106AC5D4E27D}"/>
              </a:ext>
            </a:extLst>
          </p:cNvPr>
          <p:cNvSpPr txBox="1"/>
          <p:nvPr/>
        </p:nvSpPr>
        <p:spPr>
          <a:xfrm>
            <a:off x="4572000" y="2034383"/>
            <a:ext cx="398006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let transformed (b c n: int) : (x': int)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= let ref i'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let ref j' = c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let ref x'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while i' &lt; n do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    x' &lt;- x' + j';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    j' &lt;- j' + b;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    i' &lt;- i' + 1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done;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x'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853963-9BBE-B108-8560-763C81F35D29}"/>
              </a:ext>
            </a:extLst>
          </p:cNvPr>
          <p:cNvSpPr txBox="1"/>
          <p:nvPr/>
        </p:nvSpPr>
        <p:spPr>
          <a:xfrm>
            <a:off x="5039171" y="1472168"/>
            <a:ext cx="185004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noProof="1">
                <a:solidFill>
                  <a:srgbClr val="002060"/>
                </a:solidFill>
              </a:rPr>
              <a:t>Transformed</a:t>
            </a:r>
          </a:p>
        </p:txBody>
      </p:sp>
    </p:spTree>
    <p:extLst>
      <p:ext uri="{BB962C8B-B14F-4D97-AF65-F5344CB8AC3E}">
        <p14:creationId xmlns:p14="http://schemas.microsoft.com/office/powerpoint/2010/main" val="101000333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C11026-FAA4-D1A2-2375-7FFC6299E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32FC440-129E-2558-9D28-427E638D4C2C}"/>
              </a:ext>
            </a:extLst>
          </p:cNvPr>
          <p:cNvSpPr txBox="1"/>
          <p:nvPr/>
        </p:nvSpPr>
        <p:spPr>
          <a:xfrm>
            <a:off x="469556" y="626071"/>
            <a:ext cx="75788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Product Program with a while loop (2/2)</a:t>
            </a:r>
            <a:endParaRPr lang="en-US" sz="2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A68434A-19E8-A5A0-1225-58E4B7BFA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52</a:t>
            </a:fld>
            <a:endParaRPr lang="en-US" noProof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C07CD9C-9A61-8687-8170-507700B4A05B}"/>
              </a:ext>
            </a:extLst>
          </p:cNvPr>
          <p:cNvSpPr txBox="1"/>
          <p:nvPr/>
        </p:nvSpPr>
        <p:spPr>
          <a:xfrm>
            <a:off x="469556" y="1520129"/>
            <a:ext cx="238789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noProof="1">
                <a:solidFill>
                  <a:srgbClr val="002060"/>
                </a:solidFill>
              </a:rPr>
              <a:t>Product Program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72FA40D-39E5-D614-E52B-E422319BE4AD}"/>
              </a:ext>
            </a:extLst>
          </p:cNvPr>
          <p:cNvSpPr txBox="1"/>
          <p:nvPr/>
        </p:nvSpPr>
        <p:spPr>
          <a:xfrm>
            <a:off x="469556" y="2321854"/>
            <a:ext cx="3783408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let main (b c n: int) : (x: int, x': int)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ensures { x = x' }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= let ref i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let ref i'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let ref j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let ref j' = c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let ref x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let ref x' = 0 in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0D1468-CF67-22DA-BE1E-F6F8CBB279AB}"/>
              </a:ext>
            </a:extLst>
          </p:cNvPr>
          <p:cNvSpPr txBox="1"/>
          <p:nvPr/>
        </p:nvSpPr>
        <p:spPr>
          <a:xfrm>
            <a:off x="4891038" y="1355666"/>
            <a:ext cx="2987741" cy="40934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while i &lt; n &amp;&amp; i' &lt; n do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variant   { n - i }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invariant { j' = i' * b + c }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invariant { i = i' }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invariant { x = x' }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j &lt;- i * b + c;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x &lt;- x + j;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i &lt;- i + 1;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x' &lt;- x' + j';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j' &lt;- j' + b;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i' &lt;- i' + 1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done;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x, x'</a:t>
            </a:r>
          </a:p>
        </p:txBody>
      </p:sp>
    </p:spTree>
    <p:extLst>
      <p:ext uri="{BB962C8B-B14F-4D97-AF65-F5344CB8AC3E}">
        <p14:creationId xmlns:p14="http://schemas.microsoft.com/office/powerpoint/2010/main" val="347392914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B341E9-3BBC-2ADB-7FDE-98EC6456C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7D8B8D2-0F30-A037-BEFB-CE467471990F}"/>
              </a:ext>
            </a:extLst>
          </p:cNvPr>
          <p:cNvSpPr txBox="1"/>
          <p:nvPr/>
        </p:nvSpPr>
        <p:spPr>
          <a:xfrm>
            <a:off x="2397211" y="2026503"/>
            <a:ext cx="43495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noProof="1">
                <a:solidFill>
                  <a:srgbClr val="002060"/>
                </a:solidFill>
              </a:rPr>
              <a:t>Work Plan</a:t>
            </a:r>
            <a:endParaRPr lang="en-US" sz="4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15BE622-DA9D-6404-5ADC-95292C970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53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283966098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04CAF5-49D7-3FC3-F1FD-36842A73C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40B4928-6465-DB56-6C10-343AF1671929}"/>
              </a:ext>
            </a:extLst>
          </p:cNvPr>
          <p:cNvSpPr txBox="1"/>
          <p:nvPr/>
        </p:nvSpPr>
        <p:spPr>
          <a:xfrm>
            <a:off x="-362466" y="617833"/>
            <a:ext cx="34187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noProof="1">
                <a:solidFill>
                  <a:srgbClr val="002060"/>
                </a:solidFill>
              </a:rPr>
              <a:t>Work Plan</a:t>
            </a:r>
            <a:endParaRPr lang="en-US" sz="2800" noProof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5C78AD-1D89-A24C-57AC-C2014F32439E}"/>
              </a:ext>
            </a:extLst>
          </p:cNvPr>
          <p:cNvSpPr txBox="1"/>
          <p:nvPr/>
        </p:nvSpPr>
        <p:spPr>
          <a:xfrm>
            <a:off x="0" y="2343845"/>
            <a:ext cx="288324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noProof="1"/>
              <a:t>Preliminary</a:t>
            </a:r>
          </a:p>
          <a:p>
            <a:pPr algn="r"/>
            <a:r>
              <a:rPr lang="en-US" sz="1400" noProof="1"/>
              <a:t>Collection of case studies</a:t>
            </a:r>
          </a:p>
          <a:p>
            <a:pPr algn="r"/>
            <a:endParaRPr lang="en-US" sz="1400" noProof="1"/>
          </a:p>
          <a:p>
            <a:pPr algn="r"/>
            <a:r>
              <a:rPr lang="en-US" sz="1400" b="1" noProof="1"/>
              <a:t>First-order product programs</a:t>
            </a:r>
          </a:p>
          <a:p>
            <a:pPr algn="r"/>
            <a:r>
              <a:rPr lang="en-US" sz="1400" noProof="1"/>
              <a:t>Definition in OCaml</a:t>
            </a:r>
          </a:p>
          <a:p>
            <a:pPr algn="r"/>
            <a:r>
              <a:rPr lang="en-US" sz="1400" noProof="1"/>
              <a:t>Implementation in Cameleer</a:t>
            </a:r>
          </a:p>
          <a:p>
            <a:pPr algn="r"/>
            <a:endParaRPr lang="en-US" sz="1400" noProof="1"/>
          </a:p>
          <a:p>
            <a:pPr algn="r"/>
            <a:r>
              <a:rPr lang="en-US" sz="1400" b="1" noProof="1"/>
              <a:t>Extension to higher-order </a:t>
            </a:r>
            <a:r>
              <a:rPr lang="en-US" sz="1400" noProof="1"/>
              <a:t>Definition in OCaml</a:t>
            </a:r>
          </a:p>
          <a:p>
            <a:pPr algn="r"/>
            <a:r>
              <a:rPr lang="en-US" sz="1400" noProof="1"/>
              <a:t>Implementation in Cameleer</a:t>
            </a:r>
          </a:p>
          <a:p>
            <a:pPr algn="r"/>
            <a:endParaRPr lang="en-US" sz="1400" noProof="1"/>
          </a:p>
          <a:p>
            <a:pPr algn="r"/>
            <a:r>
              <a:rPr lang="en-US" sz="1400" b="1" noProof="1"/>
              <a:t>Dissertation</a:t>
            </a:r>
          </a:p>
          <a:p>
            <a:pPr algn="r"/>
            <a:r>
              <a:rPr lang="en-US" sz="1400" noProof="1"/>
              <a:t>Writing</a:t>
            </a:r>
          </a:p>
          <a:p>
            <a:pPr algn="r"/>
            <a:endParaRPr lang="en-US" sz="1600" noProof="1"/>
          </a:p>
        </p:txBody>
      </p:sp>
      <p:pic>
        <p:nvPicPr>
          <p:cNvPr id="7" name="Picture 6" descr="A screenshot of a project management&#10;&#10;AI-generated content may be incorrect.">
            <a:extLst>
              <a:ext uri="{FF2B5EF4-FFF2-40B4-BE49-F238E27FC236}">
                <a16:creationId xmlns:a16="http://schemas.microsoft.com/office/drawing/2014/main" id="{C867ADD3-EE41-9A04-671D-5DE434BBFB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3243" y="1416908"/>
            <a:ext cx="5906530" cy="3760685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6CEE43D-0441-A2DA-4517-2B20BDB562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54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89402979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o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857</TotalTime>
  <Words>3243</Words>
  <Application>Microsoft Office PowerPoint</Application>
  <PresentationFormat>On-screen Show (16:10)</PresentationFormat>
  <Paragraphs>488</Paragraphs>
  <Slides>54</Slides>
  <Notes>0</Notes>
  <HiddenSlides>25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9" baseType="lpstr">
      <vt:lpstr>Aptos</vt:lpstr>
      <vt:lpstr>Aptos Display</vt:lpstr>
      <vt:lpstr>Arial</vt:lpstr>
      <vt:lpstr>Wingdings</vt:lpstr>
      <vt:lpstr>Tema do Office</vt:lpstr>
      <vt:lpstr>Formal Verification of Programs Equivalence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Formal Verification of Programs Equivalence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Joao Francisco Serrenho Nini</dc:creator>
  <cp:lastModifiedBy>João Nini</cp:lastModifiedBy>
  <cp:revision>63</cp:revision>
  <dcterms:created xsi:type="dcterms:W3CDTF">2025-02-13T13:42:37Z</dcterms:created>
  <dcterms:modified xsi:type="dcterms:W3CDTF">2025-12-07T21:55:14Z</dcterms:modified>
</cp:coreProperties>
</file>