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sldIdLst>
    <p:sldId id="256" r:id="rId2"/>
    <p:sldId id="292" r:id="rId3"/>
    <p:sldId id="293" r:id="rId4"/>
    <p:sldId id="257" r:id="rId5"/>
    <p:sldId id="294" r:id="rId6"/>
    <p:sldId id="308" r:id="rId7"/>
    <p:sldId id="319" r:id="rId8"/>
    <p:sldId id="302" r:id="rId9"/>
    <p:sldId id="328" r:id="rId10"/>
    <p:sldId id="329" r:id="rId11"/>
    <p:sldId id="306" r:id="rId12"/>
    <p:sldId id="330" r:id="rId13"/>
    <p:sldId id="305" r:id="rId14"/>
    <p:sldId id="295" r:id="rId15"/>
    <p:sldId id="314" r:id="rId16"/>
    <p:sldId id="304" r:id="rId17"/>
    <p:sldId id="313" r:id="rId18"/>
    <p:sldId id="320" r:id="rId19"/>
    <p:sldId id="323" r:id="rId20"/>
    <p:sldId id="296" r:id="rId21"/>
    <p:sldId id="326" r:id="rId22"/>
    <p:sldId id="327" r:id="rId23"/>
    <p:sldId id="311" r:id="rId24"/>
    <p:sldId id="312" r:id="rId25"/>
    <p:sldId id="309" r:id="rId26"/>
    <p:sldId id="310" r:id="rId27"/>
    <p:sldId id="315" r:id="rId28"/>
    <p:sldId id="325" r:id="rId29"/>
    <p:sldId id="324" r:id="rId30"/>
    <p:sldId id="316" r:id="rId31"/>
    <p:sldId id="317" r:id="rId32"/>
    <p:sldId id="318" r:id="rId33"/>
    <p:sldId id="297" r:id="rId34"/>
    <p:sldId id="298" r:id="rId35"/>
    <p:sldId id="300" r:id="rId36"/>
    <p:sldId id="299" r:id="rId37"/>
    <p:sldId id="301" r:id="rId3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30B"/>
    <a:srgbClr val="ACCFEE"/>
    <a:srgbClr val="90BEE8"/>
    <a:srgbClr val="81AADB"/>
    <a:srgbClr val="78B8F8"/>
    <a:srgbClr val="9CCBFA"/>
    <a:srgbClr val="6EA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D7271-F55A-4686-93D9-9528AEDA19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F2602-38FE-4418-A7EF-ADB22DAE4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8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36AD-E7CA-395C-D859-E4383BC8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81250-FD0C-AA88-D3F6-8E6E42427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2709B-5945-6080-4D4A-9186046C5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BF5DE-6FEC-6561-87BB-BBD0DD680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2602-38FE-4418-A7EF-ADB22DAE42F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30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EDDC-0B47-B433-1B35-66DFD014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A5D21-A92E-40CD-4C67-ABAE813C8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CE718-7D99-FB27-33CE-6532283DB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789EB-0FEC-8AE9-3A69-66C308248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2602-38FE-4418-A7EF-ADB22DAE42F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53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2602-38FE-4418-A7EF-ADB22DAE42F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09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8597-CF9F-4020-2510-8250018A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A2086-778C-2731-8FF2-66E6F7BF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B735D-0845-C0A7-6580-7C14303C9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30F77-6870-1AF1-7FB6-C618D64B6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2602-38FE-4418-A7EF-ADB22DAE42F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7401-CD86-6C61-93A6-984C4436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E712F-641A-85A1-9E28-B73DD58A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0BF0D-67E7-A7A3-CE75-9ACFD2BA3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41903-4911-B03E-B6ED-09FDAB767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2602-38FE-4418-A7EF-ADB22DAE42F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8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F2F9-84AD-46CB-8486-EB732804F76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rgbClr val="002060"/>
                </a:solidFill>
              </a:defRPr>
            </a:lvl1pPr>
          </a:lstStyle>
          <a:p>
            <a:fld id="{292A9FD8-515A-4698-9313-0AB17EE963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79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4784-9B75-4DBC-ACA0-9F51227CD78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0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4D52-32DE-4F35-8CB6-5A44573D3FC9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FB22E-8A21-4AF6-BDE0-993A2F9B14BB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0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D9E4-527D-47F1-B47F-963D62CCBC76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2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6A608-925A-4874-BCA4-36BA40FADF76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09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B426-3683-4E7C-B869-5155B20F8BC6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EA60-24F6-40E8-A0D7-2067F6ECA6B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8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6440-8C5F-4111-9AD5-D0C1FDF01CE9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2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18752-90E6-4B57-86C0-C43DD2320A2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1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E5269-252E-4ABC-B047-AD967E98EA5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2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6FEB8-5B01-4F5E-B573-CC516A2AD5E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A9FD8-515A-4698-9313-0AB17EE96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6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9373C-2D23-F449-45CC-7F420DB7E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88433"/>
            <a:ext cx="6858000" cy="1687842"/>
          </a:xfrm>
        </p:spPr>
        <p:txBody>
          <a:bodyPr>
            <a:normAutofit/>
          </a:bodyPr>
          <a:lstStyle/>
          <a:p>
            <a:r>
              <a:rPr lang="en-US" sz="4400" noProof="1">
                <a:solidFill>
                  <a:srgbClr val="002060"/>
                </a:solidFill>
              </a:rPr>
              <a:t>Formal Verification of Programs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77CF3-8E6D-455B-29AC-24263015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</a:t>
            </a:fld>
            <a:endParaRPr lang="en-US" noProof="1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FD5CCAB-49EF-292A-B1D6-C8D6E36210E2}"/>
              </a:ext>
            </a:extLst>
          </p:cNvPr>
          <p:cNvSpPr txBox="1">
            <a:spLocks/>
          </p:cNvSpPr>
          <p:nvPr/>
        </p:nvSpPr>
        <p:spPr>
          <a:xfrm>
            <a:off x="1143000" y="3207644"/>
            <a:ext cx="6858000" cy="1379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>
                <a:solidFill>
                  <a:srgbClr val="002060"/>
                </a:solidFill>
              </a:rPr>
              <a:t>João Nini</a:t>
            </a:r>
          </a:p>
          <a:p>
            <a:r>
              <a:rPr lang="en-US" sz="2000" noProof="1">
                <a:solidFill>
                  <a:srgbClr val="002060"/>
                </a:solidFill>
              </a:rPr>
              <a:t>Advisor: Mário Pereira</a:t>
            </a:r>
          </a:p>
          <a:p>
            <a:pPr>
              <a:lnSpc>
                <a:spcPct val="50000"/>
              </a:lnSpc>
            </a:pPr>
            <a:endParaRPr lang="en-US" sz="2000" noProof="1">
              <a:solidFill>
                <a:srgbClr val="002060"/>
              </a:solidFill>
            </a:endParaRPr>
          </a:p>
          <a:p>
            <a:pPr>
              <a:lnSpc>
                <a:spcPct val="50000"/>
              </a:lnSpc>
            </a:pPr>
            <a:r>
              <a:rPr lang="en-US" sz="2000" noProof="1">
                <a:solidFill>
                  <a:srgbClr val="002060"/>
                </a:solidFill>
              </a:rPr>
              <a:t>December 16, 2025</a:t>
            </a:r>
          </a:p>
        </p:txBody>
      </p:sp>
    </p:spTree>
    <p:extLst>
      <p:ext uri="{BB962C8B-B14F-4D97-AF65-F5344CB8AC3E}">
        <p14:creationId xmlns:p14="http://schemas.microsoft.com/office/powerpoint/2010/main" val="1184306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819D-22DF-BB89-F824-CADBC161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D2D7D-902F-2269-3BB0-FB38B484CA03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1">
                <a:solidFill>
                  <a:srgbClr val="002060"/>
                </a:solidFill>
              </a:rPr>
              <a:t>Motivation</a:t>
            </a:r>
            <a:endParaRPr lang="en-US" sz="2800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24C74-BD52-17A9-B912-C9D5D2C76EFB}"/>
              </a:ext>
            </a:extLst>
          </p:cNvPr>
          <p:cNvSpPr txBox="1"/>
          <p:nvPr/>
        </p:nvSpPr>
        <p:spPr>
          <a:xfrm>
            <a:off x="469556" y="1987763"/>
            <a:ext cx="35669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noProof="1">
                <a:solidFill>
                  <a:srgbClr val="002060"/>
                </a:solidFill>
              </a:rPr>
              <a:t>Annoying bugs in games </a:t>
            </a:r>
          </a:p>
          <a:p>
            <a:pPr algn="r"/>
            <a:r>
              <a:rPr lang="en-US" sz="2000" noProof="1">
                <a:solidFill>
                  <a:srgbClr val="002060"/>
                </a:solidFill>
              </a:rPr>
              <a:t>Errors in food delivery apps</a:t>
            </a:r>
          </a:p>
          <a:p>
            <a:pPr algn="r"/>
            <a:endParaRPr lang="en-US" sz="2000" noProof="1">
              <a:solidFill>
                <a:srgbClr val="002060"/>
              </a:solidFill>
            </a:endParaRPr>
          </a:p>
          <a:p>
            <a:pPr algn="r"/>
            <a:r>
              <a:rPr lang="en-US" sz="2000" noProof="1">
                <a:solidFill>
                  <a:srgbClr val="002060"/>
                </a:solidFill>
              </a:rPr>
              <a:t>Therac-25 radiation overdoses</a:t>
            </a:r>
          </a:p>
          <a:p>
            <a:pPr algn="r"/>
            <a:r>
              <a:rPr lang="en-US" sz="2000" noProof="1">
                <a:solidFill>
                  <a:srgbClr val="002060"/>
                </a:solidFill>
              </a:rPr>
              <a:t>AWS and Cloudflare outages 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E119382-9F46-F38D-6705-65FDB3D1A255}"/>
              </a:ext>
            </a:extLst>
          </p:cNvPr>
          <p:cNvSpPr/>
          <p:nvPr/>
        </p:nvSpPr>
        <p:spPr>
          <a:xfrm>
            <a:off x="4036541" y="1890585"/>
            <a:ext cx="527222" cy="19389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3EECF-AB62-BF50-D520-5784A13E1375}"/>
              </a:ext>
            </a:extLst>
          </p:cNvPr>
          <p:cNvSpPr txBox="1"/>
          <p:nvPr/>
        </p:nvSpPr>
        <p:spPr>
          <a:xfrm>
            <a:off x="4563763" y="2510983"/>
            <a:ext cx="27226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1">
                <a:solidFill>
                  <a:srgbClr val="C00000"/>
                </a:solidFill>
              </a:rPr>
              <a:t>Avoidable!</a:t>
            </a:r>
          </a:p>
          <a:p>
            <a:pPr algn="ctr"/>
            <a:r>
              <a:rPr lang="en-US" sz="2000" noProof="1">
                <a:solidFill>
                  <a:srgbClr val="002060"/>
                </a:solidFill>
              </a:rPr>
              <a:t>What is the most reliable way?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C54A17-3D95-2445-AA2A-1BE0F7278DDC}"/>
              </a:ext>
            </a:extLst>
          </p:cNvPr>
          <p:cNvCxnSpPr>
            <a:stCxn id="6" idx="2"/>
          </p:cNvCxnSpPr>
          <p:nvPr/>
        </p:nvCxnSpPr>
        <p:spPr>
          <a:xfrm>
            <a:off x="5925066" y="361897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5FBB35-68D0-AB12-DB55-E8D45DF787E1}"/>
              </a:ext>
            </a:extLst>
          </p:cNvPr>
          <p:cNvSpPr txBox="1"/>
          <p:nvPr/>
        </p:nvSpPr>
        <p:spPr>
          <a:xfrm>
            <a:off x="4188941" y="4239377"/>
            <a:ext cx="347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noProof="1">
                <a:solidFill>
                  <a:srgbClr val="002060"/>
                </a:solidFill>
              </a:rPr>
              <a:t>Deductive verification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0FAB0-762B-10DB-6F17-11843893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2370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FA4B-9E40-839C-CC14-2188445C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F06FF-0B28-EDDA-5C04-CF110DABB56F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1">
                <a:solidFill>
                  <a:srgbClr val="002060"/>
                </a:solidFill>
              </a:rPr>
              <a:t>Problem Definition</a:t>
            </a:r>
            <a:endParaRPr lang="en-US" sz="2800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5CD8D-715D-ECB2-4829-9F818F4400C8}"/>
              </a:ext>
            </a:extLst>
          </p:cNvPr>
          <p:cNvSpPr txBox="1"/>
          <p:nvPr/>
        </p:nvSpPr>
        <p:spPr>
          <a:xfrm>
            <a:off x="1357184" y="2549093"/>
            <a:ext cx="6429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noProof="1">
                <a:solidFill>
                  <a:srgbClr val="002060"/>
                </a:solidFill>
              </a:rPr>
              <a:t>Can we automatically prove that two different programs are equivalent?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23ED2-DECC-485A-D894-EB1A353D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7232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C5F3-341B-CDA0-3B22-A015F442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F7AE157-3983-D646-088D-E1E2E8187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908" y="2311246"/>
            <a:ext cx="6858000" cy="2394086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noProof="1">
                <a:solidFill>
                  <a:srgbClr val="002060"/>
                </a:solidFill>
              </a:rPr>
              <a:t>WhyRel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noProof="1">
                <a:solidFill>
                  <a:srgbClr val="002060"/>
                </a:solidFill>
              </a:rPr>
              <a:t>bip2ml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noProof="1">
                <a:solidFill>
                  <a:srgbClr val="002060"/>
                </a:solidFill>
              </a:rPr>
              <a:t>Case Studies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noProof="1">
                <a:solidFill>
                  <a:srgbClr val="002060"/>
                </a:solidFill>
              </a:rPr>
              <a:t>Conclusions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8E59A-FE1A-37E4-F155-D8BDF0494D9D}"/>
              </a:ext>
            </a:extLst>
          </p:cNvPr>
          <p:cNvSpPr txBox="1"/>
          <p:nvPr/>
        </p:nvSpPr>
        <p:spPr>
          <a:xfrm>
            <a:off x="1416908" y="812984"/>
            <a:ext cx="6310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noProof="1">
                <a:solidFill>
                  <a:srgbClr val="002060"/>
                </a:solidFill>
              </a:rPr>
              <a:t>Presentation Structure</a:t>
            </a:r>
            <a:endParaRPr lang="en-US" sz="40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A381D-06C1-EC60-F50A-82AED36C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038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D69F5-EEB7-C983-89E8-5EAF9311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C6203-4DFE-71C1-7475-A0653237A23D}"/>
              </a:ext>
            </a:extLst>
          </p:cNvPr>
          <p:cNvSpPr txBox="1"/>
          <p:nvPr/>
        </p:nvSpPr>
        <p:spPr>
          <a:xfrm>
            <a:off x="2397211" y="2026503"/>
            <a:ext cx="4349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noProof="1">
                <a:solidFill>
                  <a:srgbClr val="002060"/>
                </a:solidFill>
              </a:rPr>
              <a:t>WhyRel</a:t>
            </a:r>
            <a:endParaRPr lang="en-US" sz="48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EC26C5-CF61-CD11-CADF-665A9E28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647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15B1-E030-AB06-C90F-33AEEBE4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56338-A3E7-8B31-23B0-FF6AAC0856B0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What is WhyRel?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D3E8A-F9D1-A27A-9610-C79AA34F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6</a:t>
            </a:fld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808A7-0D85-02C4-9FD0-AC62B1E78378}"/>
              </a:ext>
            </a:extLst>
          </p:cNvPr>
          <p:cNvSpPr txBox="1"/>
          <p:nvPr/>
        </p:nvSpPr>
        <p:spPr>
          <a:xfrm>
            <a:off x="469555" y="1792136"/>
            <a:ext cx="719987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A tool that aims to verify relational properties of pointer programs based on relational region logic</a:t>
            </a:r>
          </a:p>
          <a:p>
            <a:endParaRPr lang="en-US" noProof="1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These auto-active tools enable the verification of a larger set of programs but require more user input</a:t>
            </a:r>
          </a:p>
          <a:p>
            <a:endParaRPr lang="en-US" noProof="1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WhyRel is the most important practical work for this thesis</a:t>
            </a:r>
          </a:p>
        </p:txBody>
      </p:sp>
    </p:spTree>
    <p:extLst>
      <p:ext uri="{BB962C8B-B14F-4D97-AF65-F5344CB8AC3E}">
        <p14:creationId xmlns:p14="http://schemas.microsoft.com/office/powerpoint/2010/main" val="296186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5C93-CF66-E549-0468-A9C8D88FE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2EB2C-F447-9BA7-9D06-99E20A45CE9D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Patterns of program alignment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16682-A440-87DD-5EB5-FA356417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7</a:t>
            </a:fld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F7F73-2C8F-BEB4-8C67-26EEE57BE57F}"/>
              </a:ext>
            </a:extLst>
          </p:cNvPr>
          <p:cNvSpPr txBox="1"/>
          <p:nvPr/>
        </p:nvSpPr>
        <p:spPr>
          <a:xfrm>
            <a:off x="469556" y="2022795"/>
            <a:ext cx="666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Necessary/have time?</a:t>
            </a:r>
          </a:p>
        </p:txBody>
      </p:sp>
    </p:spTree>
    <p:extLst>
      <p:ext uri="{BB962C8B-B14F-4D97-AF65-F5344CB8AC3E}">
        <p14:creationId xmlns:p14="http://schemas.microsoft.com/office/powerpoint/2010/main" val="163769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F572-D5BE-3853-1E62-6BE50002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2F578-9269-9575-A7D6-C73204395B04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Translation Rules (1/5)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DF42-FAB6-4165-6CCD-2601338C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8</a:t>
            </a:fld>
            <a:endParaRPr lang="en-US" noProof="1"/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21F12F8-1BBD-9B71-BE88-DE59D50C3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587"/>
          <a:stretch>
            <a:fillRect/>
          </a:stretch>
        </p:blipFill>
        <p:spPr>
          <a:xfrm>
            <a:off x="469556" y="1537559"/>
            <a:ext cx="6845644" cy="304271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1560344-7DCD-488D-72BC-0CA8EBCC9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3" b="85708"/>
          <a:stretch>
            <a:fillRect/>
          </a:stretch>
        </p:blipFill>
        <p:spPr>
          <a:xfrm>
            <a:off x="469556" y="2539577"/>
            <a:ext cx="7049118" cy="6389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CD87F6-2577-E0B5-D02C-F53394BC2700}"/>
              </a:ext>
            </a:extLst>
          </p:cNvPr>
          <p:cNvSpPr txBox="1"/>
          <p:nvPr/>
        </p:nvSpPr>
        <p:spPr>
          <a:xfrm>
            <a:off x="469556" y="1874361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 x := 2 &lt;|&gt; x := 3;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53B920-5353-7944-4523-DC92DF856D1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593855" y="2059027"/>
            <a:ext cx="1838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322955-F0CA-8A0D-D3F5-1E33C172F674}"/>
              </a:ext>
            </a:extLst>
          </p:cNvPr>
          <p:cNvSpPr txBox="1"/>
          <p:nvPr/>
        </p:nvSpPr>
        <p:spPr>
          <a:xfrm>
            <a:off x="4431957" y="1874361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x_l</a:t>
            </a:r>
            <a:r>
              <a:rPr lang="pt-PT" dirty="0"/>
              <a:t> := 2; </a:t>
            </a:r>
            <a:r>
              <a:rPr lang="pt-PT" dirty="0" err="1"/>
              <a:t>x_r</a:t>
            </a:r>
            <a:r>
              <a:rPr lang="pt-PT" dirty="0"/>
              <a:t> := 3;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E846F-5F59-D691-741D-680B8593F54C}"/>
              </a:ext>
            </a:extLst>
          </p:cNvPr>
          <p:cNvSpPr txBox="1"/>
          <p:nvPr/>
        </p:nvSpPr>
        <p:spPr>
          <a:xfrm>
            <a:off x="469556" y="3119882"/>
            <a:ext cx="320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 |_ </a:t>
            </a:r>
            <a:r>
              <a:rPr lang="pt-PT" dirty="0" err="1"/>
              <a:t>fun_name</a:t>
            </a:r>
            <a:r>
              <a:rPr lang="pt-PT" dirty="0"/>
              <a:t> (</a:t>
            </a:r>
            <a:r>
              <a:rPr lang="pt-PT" dirty="0" err="1"/>
              <a:t>message</a:t>
            </a:r>
            <a:r>
              <a:rPr lang="pt-PT" dirty="0"/>
              <a:t>) _|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EDEA28-1A6A-FAFC-A6A1-A5532404B3F2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3670497" y="3304548"/>
            <a:ext cx="761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432FE2-D200-C55F-3035-70CC98B1C79C}"/>
              </a:ext>
            </a:extLst>
          </p:cNvPr>
          <p:cNvSpPr txBox="1"/>
          <p:nvPr/>
        </p:nvSpPr>
        <p:spPr>
          <a:xfrm>
            <a:off x="4431957" y="3119882"/>
            <a:ext cx="374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fun_name</a:t>
            </a:r>
            <a:r>
              <a:rPr lang="pt-PT" dirty="0"/>
              <a:t> (</a:t>
            </a:r>
            <a:r>
              <a:rPr lang="pt-PT" dirty="0" err="1"/>
              <a:t>message_l</a:t>
            </a:r>
            <a:r>
              <a:rPr lang="pt-PT" dirty="0"/>
              <a:t>) (</a:t>
            </a:r>
            <a:r>
              <a:rPr lang="pt-PT" dirty="0" err="1"/>
              <a:t>message_r</a:t>
            </a:r>
            <a:r>
              <a:rPr lang="pt-PT" dirty="0"/>
              <a:t>)</a:t>
            </a:r>
            <a:endParaRPr lang="en-US" dirty="0"/>
          </a:p>
        </p:txBody>
      </p:sp>
      <p:pic>
        <p:nvPicPr>
          <p:cNvPr id="22" name="Picture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3D7CCD4-3AD4-7D8A-4F6C-65A2D168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99" b="78803"/>
          <a:stretch>
            <a:fillRect/>
          </a:stretch>
        </p:blipFill>
        <p:spPr>
          <a:xfrm>
            <a:off x="469556" y="3936083"/>
            <a:ext cx="7049118" cy="4613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9961D2B-A4BD-9B3B-8209-47B09F2E8DB6}"/>
              </a:ext>
            </a:extLst>
          </p:cNvPr>
          <p:cNvSpPr txBox="1"/>
          <p:nvPr/>
        </p:nvSpPr>
        <p:spPr>
          <a:xfrm>
            <a:off x="469556" y="4397395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|_ n := 5 _|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C790EA-56BB-7E8A-34CE-7E9F08FEC647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2024790" y="4582061"/>
            <a:ext cx="2407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E9FF04-2F9C-332D-C8E7-7C36D1D3ED38}"/>
              </a:ext>
            </a:extLst>
          </p:cNvPr>
          <p:cNvSpPr txBox="1"/>
          <p:nvPr/>
        </p:nvSpPr>
        <p:spPr>
          <a:xfrm>
            <a:off x="4431957" y="4397395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n_l</a:t>
            </a:r>
            <a:r>
              <a:rPr lang="pt-PT" dirty="0"/>
              <a:t> := 5 &lt;|&gt; </a:t>
            </a:r>
            <a:r>
              <a:rPr lang="pt-PT" dirty="0" err="1"/>
              <a:t>n_r</a:t>
            </a:r>
            <a:r>
              <a:rPr lang="pt-PT" dirty="0"/>
              <a:t> := 5;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4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4781-0CC7-FA6C-1719-BCC6339A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E9AC4-C119-44B0-E8AF-00BD82596BC8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Translation Rules (2/5)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985DD-FA1F-CFA2-6A43-8CE797B84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9</a:t>
            </a:fld>
            <a:endParaRPr lang="en-US" noProof="1"/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0F3A836-C90F-ACB1-337E-3DF407ED1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2" b="70567"/>
          <a:stretch>
            <a:fillRect/>
          </a:stretch>
        </p:blipFill>
        <p:spPr>
          <a:xfrm>
            <a:off x="469556" y="1764092"/>
            <a:ext cx="6845644" cy="446869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37E27BB-75DA-7E8E-7A4F-F7E6B42EC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62" b="58798"/>
          <a:stretch>
            <a:fillRect/>
          </a:stretch>
        </p:blipFill>
        <p:spPr>
          <a:xfrm>
            <a:off x="469556" y="3227992"/>
            <a:ext cx="7049118" cy="691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1CA3F-0A58-0D7A-4165-B36507128D5B}"/>
              </a:ext>
            </a:extLst>
          </p:cNvPr>
          <p:cNvSpPr txBox="1"/>
          <p:nvPr/>
        </p:nvSpPr>
        <p:spPr>
          <a:xfrm>
            <a:off x="469556" y="2157396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 x := 2; x := !x + 3;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AB91D0-424C-E9C4-98A2-D89FCC62E64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690036" y="2342062"/>
            <a:ext cx="17419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2C68BB-D8A7-F69E-9B9F-5865CB9B5E6F}"/>
              </a:ext>
            </a:extLst>
          </p:cNvPr>
          <p:cNvSpPr txBox="1"/>
          <p:nvPr/>
        </p:nvSpPr>
        <p:spPr>
          <a:xfrm>
            <a:off x="4431957" y="2157396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x := 2; x := !x + 3;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AF37F3-9858-025D-612F-F38251DFF8F6}"/>
              </a:ext>
            </a:extLst>
          </p:cNvPr>
          <p:cNvSpPr txBox="1"/>
          <p:nvPr/>
        </p:nvSpPr>
        <p:spPr>
          <a:xfrm>
            <a:off x="469556" y="3919522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 </a:t>
            </a:r>
            <a:r>
              <a:rPr lang="pt-PT" dirty="0" err="1">
                <a:solidFill>
                  <a:srgbClr val="F3530B"/>
                </a:solidFill>
              </a:rPr>
              <a:t>let</a:t>
            </a:r>
            <a:r>
              <a:rPr lang="pt-PT" dirty="0"/>
              <a:t> x = |_ 0 _| </a:t>
            </a:r>
            <a:r>
              <a:rPr lang="pt-PT" dirty="0">
                <a:solidFill>
                  <a:srgbClr val="F3530B"/>
                </a:solidFill>
              </a:rPr>
              <a:t>in</a:t>
            </a:r>
            <a:endParaRPr lang="en-US" dirty="0">
              <a:solidFill>
                <a:srgbClr val="F3530B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CEE075-6699-618E-A431-FCDF2B830C9E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2512103" y="4104188"/>
            <a:ext cx="1919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B1EA1FB-5FC3-6A14-C00E-3E41B0E5C752}"/>
              </a:ext>
            </a:extLst>
          </p:cNvPr>
          <p:cNvSpPr txBox="1"/>
          <p:nvPr/>
        </p:nvSpPr>
        <p:spPr>
          <a:xfrm>
            <a:off x="4431957" y="3919522"/>
            <a:ext cx="252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>
                <a:solidFill>
                  <a:srgbClr val="F3530B"/>
                </a:solidFill>
              </a:rPr>
              <a:t>let</a:t>
            </a:r>
            <a:r>
              <a:rPr lang="pt-PT" dirty="0"/>
              <a:t> </a:t>
            </a:r>
            <a:r>
              <a:rPr lang="pt-PT" dirty="0" err="1"/>
              <a:t>x_l</a:t>
            </a:r>
            <a:r>
              <a:rPr lang="pt-PT" dirty="0"/>
              <a:t> = 0 </a:t>
            </a:r>
            <a:r>
              <a:rPr lang="pt-PT" dirty="0">
                <a:solidFill>
                  <a:srgbClr val="F3530B"/>
                </a:solidFill>
              </a:rPr>
              <a:t>in</a:t>
            </a:r>
            <a:r>
              <a:rPr lang="pt-PT" dirty="0"/>
              <a:t> </a:t>
            </a:r>
            <a:r>
              <a:rPr lang="pt-PT" dirty="0" err="1">
                <a:solidFill>
                  <a:srgbClr val="F3530B"/>
                </a:solidFill>
              </a:rPr>
              <a:t>let</a:t>
            </a:r>
            <a:r>
              <a:rPr lang="pt-PT" dirty="0"/>
              <a:t> </a:t>
            </a:r>
            <a:r>
              <a:rPr lang="pt-PT" dirty="0" err="1"/>
              <a:t>x_r</a:t>
            </a:r>
            <a:r>
              <a:rPr lang="pt-PT" dirty="0"/>
              <a:t> = 0 </a:t>
            </a:r>
            <a:r>
              <a:rPr lang="pt-PT" dirty="0">
                <a:solidFill>
                  <a:srgbClr val="F3530B"/>
                </a:solidFill>
              </a:rPr>
              <a:t>in</a:t>
            </a:r>
            <a:endParaRPr lang="en-US" dirty="0">
              <a:solidFill>
                <a:srgbClr val="F3530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96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4013-3D0D-12A9-F557-3A450B17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AAD899-A761-E0D8-59EE-F5A70E3D869A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Translation Rules (3/5)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ED77-2FD9-61AB-297C-879448ED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10</a:t>
            </a:fld>
            <a:endParaRPr lang="en-US" noProof="1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71C7632-0DEF-D06D-0E98-4261C6C09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28" b="31831"/>
          <a:stretch>
            <a:fillRect/>
          </a:stretch>
        </p:blipFill>
        <p:spPr>
          <a:xfrm>
            <a:off x="469556" y="3359967"/>
            <a:ext cx="7049118" cy="8761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36F9A5-7625-A36F-AB29-933160772BE6}"/>
              </a:ext>
            </a:extLst>
          </p:cNvPr>
          <p:cNvSpPr txBox="1"/>
          <p:nvPr/>
        </p:nvSpPr>
        <p:spPr>
          <a:xfrm>
            <a:off x="461318" y="4294310"/>
            <a:ext cx="2893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</a:t>
            </a:r>
            <a:r>
              <a:rPr lang="pt-PT" dirty="0" err="1">
                <a:solidFill>
                  <a:srgbClr val="F3530B"/>
                </a:solidFill>
              </a:rPr>
              <a:t>while</a:t>
            </a:r>
            <a:r>
              <a:rPr lang="pt-PT" dirty="0"/>
              <a:t> !x &lt; 4 &lt;|&gt; !x &lt; 4 </a:t>
            </a:r>
            <a:r>
              <a:rPr lang="pt-PT" dirty="0">
                <a:solidFill>
                  <a:srgbClr val="F3530B"/>
                </a:solidFill>
              </a:rPr>
              <a:t>do</a:t>
            </a:r>
          </a:p>
          <a:p>
            <a:r>
              <a:rPr lang="pt-PT" dirty="0"/>
              <a:t>		x := |_ !x + 1 _|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B7A3D9-E9EF-1FB2-028B-D7905AFCF2B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148272" y="4755975"/>
            <a:ext cx="8458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1C1281-374B-3D53-A25C-1C38E19550B0}"/>
              </a:ext>
            </a:extLst>
          </p:cNvPr>
          <p:cNvSpPr txBox="1"/>
          <p:nvPr/>
        </p:nvSpPr>
        <p:spPr>
          <a:xfrm>
            <a:off x="3994115" y="4294310"/>
            <a:ext cx="44595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>
                <a:solidFill>
                  <a:srgbClr val="F3530B"/>
                </a:solidFill>
              </a:rPr>
              <a:t>while</a:t>
            </a:r>
            <a:r>
              <a:rPr lang="pt-PT" dirty="0"/>
              <a:t> (!</a:t>
            </a:r>
            <a:r>
              <a:rPr lang="pt-PT" dirty="0" err="1"/>
              <a:t>x_l</a:t>
            </a:r>
            <a:r>
              <a:rPr lang="pt-PT" dirty="0"/>
              <a:t> &lt; 4) </a:t>
            </a:r>
            <a:r>
              <a:rPr lang="pt-PT" dirty="0">
                <a:solidFill>
                  <a:srgbClr val="F3530B"/>
                </a:solidFill>
              </a:rPr>
              <a:t>do</a:t>
            </a:r>
          </a:p>
          <a:p>
            <a:r>
              <a:rPr lang="pt-PT" dirty="0">
                <a:solidFill>
                  <a:srgbClr val="F3530B"/>
                </a:solidFill>
              </a:rPr>
              <a:t>	</a:t>
            </a:r>
            <a:r>
              <a:rPr lang="pt-PT" dirty="0"/>
              <a:t>(*@ </a:t>
            </a:r>
            <a:r>
              <a:rPr lang="pt-PT" dirty="0" err="1">
                <a:solidFill>
                  <a:srgbClr val="F3530B"/>
                </a:solidFill>
              </a:rPr>
              <a:t>invariant</a:t>
            </a:r>
            <a:r>
              <a:rPr lang="pt-PT" dirty="0"/>
              <a:t>  ((!</a:t>
            </a:r>
            <a:r>
              <a:rPr lang="pt-PT" dirty="0" err="1"/>
              <a:t>x_l</a:t>
            </a:r>
            <a:r>
              <a:rPr lang="pt-PT" dirty="0"/>
              <a:t> &lt; 4)) ↔ ((!</a:t>
            </a:r>
            <a:r>
              <a:rPr lang="pt-PT" dirty="0" err="1"/>
              <a:t>x_r</a:t>
            </a:r>
            <a:r>
              <a:rPr lang="pt-PT" dirty="0"/>
              <a:t> &lt; 4)) *)</a:t>
            </a:r>
          </a:p>
          <a:p>
            <a:r>
              <a:rPr lang="pt-PT" dirty="0"/>
              <a:t>	</a:t>
            </a:r>
            <a:r>
              <a:rPr lang="pt-PT" dirty="0" err="1"/>
              <a:t>x_l</a:t>
            </a:r>
            <a:r>
              <a:rPr lang="pt-PT" dirty="0"/>
              <a:t> := !</a:t>
            </a:r>
            <a:r>
              <a:rPr lang="pt-PT" dirty="0" err="1"/>
              <a:t>x_l</a:t>
            </a:r>
            <a:r>
              <a:rPr lang="pt-PT" dirty="0"/>
              <a:t> + 1; </a:t>
            </a:r>
            <a:r>
              <a:rPr lang="pt-PT" dirty="0" err="1"/>
              <a:t>x_r</a:t>
            </a:r>
            <a:r>
              <a:rPr lang="pt-PT" dirty="0"/>
              <a:t> := !</a:t>
            </a:r>
            <a:r>
              <a:rPr lang="pt-PT" dirty="0" err="1"/>
              <a:t>x_r</a:t>
            </a:r>
            <a:r>
              <a:rPr lang="pt-PT" dirty="0"/>
              <a:t> + 1 </a:t>
            </a:r>
            <a:endParaRPr lang="en-US" dirty="0"/>
          </a:p>
        </p:txBody>
      </p:sp>
      <p:pic>
        <p:nvPicPr>
          <p:cNvPr id="22" name="Picture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482AC37-6D3F-3415-8C1A-53F0A138F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57" t="42226" r="2257" b="44639"/>
          <a:stretch>
            <a:fillRect/>
          </a:stretch>
        </p:blipFill>
        <p:spPr>
          <a:xfrm>
            <a:off x="266082" y="1650030"/>
            <a:ext cx="7049118" cy="9324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AB85B1B-21ED-475C-3D2C-D2A3D83AA666}"/>
              </a:ext>
            </a:extLst>
          </p:cNvPr>
          <p:cNvSpPr txBox="1"/>
          <p:nvPr/>
        </p:nvSpPr>
        <p:spPr>
          <a:xfrm>
            <a:off x="461318" y="2563155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</a:t>
            </a:r>
            <a:r>
              <a:rPr lang="pt-PT" dirty="0" err="1">
                <a:solidFill>
                  <a:srgbClr val="F3530B"/>
                </a:solidFill>
              </a:rPr>
              <a:t>if</a:t>
            </a:r>
            <a:r>
              <a:rPr lang="pt-PT" dirty="0"/>
              <a:t> c &lt;|&gt; c </a:t>
            </a:r>
            <a:r>
              <a:rPr lang="pt-PT" dirty="0" err="1">
                <a:solidFill>
                  <a:srgbClr val="F3530B"/>
                </a:solidFill>
              </a:rPr>
              <a:t>then</a:t>
            </a:r>
            <a:r>
              <a:rPr lang="pt-PT" dirty="0"/>
              <a:t> 2 </a:t>
            </a:r>
            <a:r>
              <a:rPr lang="pt-PT" dirty="0" err="1">
                <a:solidFill>
                  <a:srgbClr val="F3530B"/>
                </a:solidFill>
              </a:rPr>
              <a:t>else</a:t>
            </a:r>
            <a:r>
              <a:rPr lang="pt-PT" dirty="0"/>
              <a:t> 4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93DA746-588C-87C9-ED25-5C3E06736EC7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3148272" y="2747821"/>
            <a:ext cx="8458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0600C10-3729-88DB-8659-5FF251383AF1}"/>
              </a:ext>
            </a:extLst>
          </p:cNvPr>
          <p:cNvSpPr txBox="1"/>
          <p:nvPr/>
        </p:nvSpPr>
        <p:spPr>
          <a:xfrm>
            <a:off x="3994115" y="2563155"/>
            <a:ext cx="375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>
                <a:solidFill>
                  <a:srgbClr val="F3530B"/>
                </a:solidFill>
              </a:rPr>
              <a:t>assert</a:t>
            </a:r>
            <a:r>
              <a:rPr lang="pt-PT" dirty="0"/>
              <a:t> { </a:t>
            </a:r>
            <a:r>
              <a:rPr lang="pt-PT" dirty="0" err="1"/>
              <a:t>c_l</a:t>
            </a:r>
            <a:r>
              <a:rPr lang="pt-PT" dirty="0"/>
              <a:t> = </a:t>
            </a:r>
            <a:r>
              <a:rPr lang="pt-PT" dirty="0" err="1"/>
              <a:t>c_r</a:t>
            </a:r>
            <a:r>
              <a:rPr lang="pt-PT" dirty="0"/>
              <a:t> };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c_l</a:t>
            </a:r>
            <a:r>
              <a:rPr lang="pt-PT" dirty="0"/>
              <a:t> </a:t>
            </a:r>
            <a:r>
              <a:rPr lang="pt-PT" dirty="0" err="1">
                <a:solidFill>
                  <a:srgbClr val="F3530B"/>
                </a:solidFill>
              </a:rPr>
              <a:t>then</a:t>
            </a:r>
            <a:r>
              <a:rPr lang="pt-PT" dirty="0"/>
              <a:t> 2 </a:t>
            </a:r>
            <a:r>
              <a:rPr lang="pt-PT" dirty="0" err="1">
                <a:solidFill>
                  <a:srgbClr val="F3530B"/>
                </a:solidFill>
              </a:rPr>
              <a:t>else</a:t>
            </a:r>
            <a:r>
              <a:rPr lang="pt-PT" dirty="0"/>
              <a:t>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1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B915-9A2E-33C4-5E58-C75F196B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44263-BF22-3275-6282-333EDDBAF915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Translation Rules (4/5)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02C16-676E-4271-DAF7-66F0B91D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11</a:t>
            </a:fld>
            <a:endParaRPr lang="en-US" noProof="1"/>
          </a:p>
        </p:txBody>
      </p:sp>
      <p:pic>
        <p:nvPicPr>
          <p:cNvPr id="5" name="Picture 4" descr="A screenshot of a computer code">
            <a:extLst>
              <a:ext uri="{FF2B5EF4-FFF2-40B4-BE49-F238E27FC236}">
                <a16:creationId xmlns:a16="http://schemas.microsoft.com/office/drawing/2014/main" id="{D43379FB-A11C-DD1E-3037-93D9689A4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98" b="25406"/>
          <a:stretch>
            <a:fillRect/>
          </a:stretch>
        </p:blipFill>
        <p:spPr>
          <a:xfrm>
            <a:off x="469556" y="1968842"/>
            <a:ext cx="6723977" cy="378941"/>
          </a:xfrm>
          <a:prstGeom prst="rect">
            <a:avLst/>
          </a:prstGeom>
        </p:spPr>
      </p:pic>
      <p:pic>
        <p:nvPicPr>
          <p:cNvPr id="8" name="Picture 7" descr="A screenshot of a computer code">
            <a:extLst>
              <a:ext uri="{FF2B5EF4-FFF2-40B4-BE49-F238E27FC236}">
                <a16:creationId xmlns:a16="http://schemas.microsoft.com/office/drawing/2014/main" id="{975739A7-BB62-5557-8F74-04DD7623F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" t="74510" r="15451" b="-390"/>
          <a:stretch>
            <a:fillRect/>
          </a:stretch>
        </p:blipFill>
        <p:spPr>
          <a:xfrm>
            <a:off x="1351004" y="2565973"/>
            <a:ext cx="5692346" cy="17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74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51A1-EEB8-357D-8FD0-69E586D6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49DAFD-75EB-A013-F11A-0BB9293AFCFB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Translation Rules (5/5)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CB16A-5E8A-EAF4-8135-613EE6C8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12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B9874-E9C9-2319-421D-FBAE32B68C30}"/>
              </a:ext>
            </a:extLst>
          </p:cNvPr>
          <p:cNvSpPr txBox="1"/>
          <p:nvPr/>
        </p:nvSpPr>
        <p:spPr>
          <a:xfrm>
            <a:off x="469556" y="1591096"/>
            <a:ext cx="24593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Ex.: </a:t>
            </a:r>
          </a:p>
          <a:p>
            <a:r>
              <a:rPr lang="fr-FR" dirty="0" err="1">
                <a:solidFill>
                  <a:srgbClr val="F3530B"/>
                </a:solidFill>
              </a:rPr>
              <a:t>while</a:t>
            </a:r>
            <a:r>
              <a:rPr lang="fr-FR" dirty="0"/>
              <a:t> !t &lt; 4 &lt;|&gt; !t &lt; 4 .</a:t>
            </a:r>
          </a:p>
          <a:p>
            <a:r>
              <a:rPr lang="fr-FR" dirty="0"/>
              <a:t>	(!t mod 2 &lt;&gt; 0) &lt;|&gt; </a:t>
            </a:r>
          </a:p>
          <a:p>
            <a:r>
              <a:rPr lang="fr-FR" dirty="0"/>
              <a:t>	(!t mod 2 &lt;&gt; 0) </a:t>
            </a:r>
          </a:p>
          <a:p>
            <a:r>
              <a:rPr lang="fr-FR" dirty="0">
                <a:solidFill>
                  <a:srgbClr val="F3530B"/>
                </a:solidFill>
              </a:rPr>
              <a:t>do</a:t>
            </a:r>
          </a:p>
          <a:p>
            <a:r>
              <a:rPr lang="fr-FR" dirty="0">
                <a:solidFill>
                  <a:srgbClr val="F3530B"/>
                </a:solidFill>
              </a:rPr>
              <a:t>	</a:t>
            </a:r>
            <a:r>
              <a:rPr lang="fr-FR" dirty="0"/>
              <a:t>t := |_ !t + 1 _|</a:t>
            </a:r>
          </a:p>
          <a:p>
            <a:r>
              <a:rPr lang="fr-FR" dirty="0" err="1">
                <a:solidFill>
                  <a:srgbClr val="F3530B"/>
                </a:solidFill>
              </a:rPr>
              <a:t>done</a:t>
            </a:r>
            <a:endParaRPr lang="fr-FR" dirty="0">
              <a:solidFill>
                <a:srgbClr val="F3530B"/>
              </a:solidFill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BC4B5-9501-B99C-52F6-3904C164DB44}"/>
              </a:ext>
            </a:extLst>
          </p:cNvPr>
          <p:cNvSpPr txBox="1"/>
          <p:nvPr/>
        </p:nvSpPr>
        <p:spPr>
          <a:xfrm>
            <a:off x="4200201" y="498199"/>
            <a:ext cx="472565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3530B"/>
                </a:solidFill>
              </a:rPr>
              <a:t>while</a:t>
            </a:r>
            <a:r>
              <a:rPr lang="en-US" dirty="0"/>
              <a:t> ((!</a:t>
            </a:r>
            <a:r>
              <a:rPr lang="en-US" dirty="0" err="1"/>
              <a:t>t_l</a:t>
            </a:r>
            <a:r>
              <a:rPr lang="en-US" dirty="0"/>
              <a:t> &lt; 4) || (!</a:t>
            </a:r>
            <a:r>
              <a:rPr lang="en-US" dirty="0" err="1"/>
              <a:t>t_r</a:t>
            </a:r>
            <a:r>
              <a:rPr lang="en-US" dirty="0"/>
              <a:t> &lt; 4)) </a:t>
            </a:r>
            <a:r>
              <a:rPr lang="en-US" dirty="0">
                <a:solidFill>
                  <a:srgbClr val="F3530B"/>
                </a:solidFill>
              </a:rPr>
              <a:t>do</a:t>
            </a:r>
          </a:p>
          <a:p>
            <a:r>
              <a:rPr lang="en-US" dirty="0"/>
              <a:t>        (*@ </a:t>
            </a:r>
            <a:r>
              <a:rPr lang="en-US" dirty="0">
                <a:solidFill>
                  <a:srgbClr val="F3530B"/>
                </a:solidFill>
              </a:rPr>
              <a:t>invariant </a:t>
            </a:r>
            <a:r>
              <a:rPr lang="en-US" dirty="0"/>
              <a:t> (!</a:t>
            </a:r>
            <a:r>
              <a:rPr lang="en-US" dirty="0" err="1"/>
              <a:t>t_l</a:t>
            </a:r>
            <a:r>
              <a:rPr lang="en-US" dirty="0"/>
              <a:t> &lt; 4 &amp;&amp; mod !</a:t>
            </a:r>
            <a:r>
              <a:rPr lang="en-US" dirty="0" err="1"/>
              <a:t>t_l</a:t>
            </a:r>
            <a:r>
              <a:rPr lang="en-US" dirty="0"/>
              <a:t> 2 &lt;&gt; 0) ||</a:t>
            </a:r>
          </a:p>
          <a:p>
            <a:r>
              <a:rPr lang="en-US" dirty="0"/>
              <a:t>		(!</a:t>
            </a:r>
            <a:r>
              <a:rPr lang="en-US" dirty="0" err="1"/>
              <a:t>t_r</a:t>
            </a:r>
            <a:r>
              <a:rPr lang="en-US" dirty="0"/>
              <a:t> &lt; 4 &amp;&amp; mod !</a:t>
            </a:r>
            <a:r>
              <a:rPr lang="en-US" dirty="0" err="1"/>
              <a:t>t_r</a:t>
            </a:r>
            <a:r>
              <a:rPr lang="en-US" dirty="0"/>
              <a:t> 2 &lt;&gt; 0) || </a:t>
            </a:r>
          </a:p>
          <a:p>
            <a:r>
              <a:rPr lang="en-US" dirty="0"/>
              <a:t>		(not (!</a:t>
            </a:r>
            <a:r>
              <a:rPr lang="en-US" dirty="0" err="1"/>
              <a:t>t_l</a:t>
            </a:r>
            <a:r>
              <a:rPr lang="en-US" dirty="0"/>
              <a:t> &lt; 4) &amp;&amp; not (!</a:t>
            </a:r>
            <a:r>
              <a:rPr lang="en-US" dirty="0" err="1"/>
              <a:t>t_r</a:t>
            </a:r>
            <a:r>
              <a:rPr lang="en-US" dirty="0"/>
              <a:t> &lt; 4)) || </a:t>
            </a:r>
          </a:p>
          <a:p>
            <a:r>
              <a:rPr lang="en-US" dirty="0"/>
              <a:t>		(!</a:t>
            </a:r>
            <a:r>
              <a:rPr lang="en-US" dirty="0" err="1"/>
              <a:t>t_l</a:t>
            </a:r>
            <a:r>
              <a:rPr lang="en-US" dirty="0"/>
              <a:t> &lt; 4 &amp;&amp; !</a:t>
            </a:r>
            <a:r>
              <a:rPr lang="en-US" dirty="0" err="1"/>
              <a:t>t_r</a:t>
            </a:r>
            <a:r>
              <a:rPr lang="en-US" dirty="0"/>
              <a:t> &lt; 4) *)</a:t>
            </a:r>
          </a:p>
          <a:p>
            <a:endParaRPr lang="en-US" dirty="0"/>
          </a:p>
          <a:p>
            <a:r>
              <a:rPr lang="en-US" dirty="0">
                <a:solidFill>
                  <a:srgbClr val="F3530B"/>
                </a:solidFill>
              </a:rPr>
              <a:t>	if</a:t>
            </a:r>
            <a:r>
              <a:rPr lang="en-US" dirty="0"/>
              <a:t> ((!</a:t>
            </a:r>
            <a:r>
              <a:rPr lang="en-US" dirty="0" err="1"/>
              <a:t>t_l</a:t>
            </a:r>
            <a:r>
              <a:rPr lang="en-US" dirty="0"/>
              <a:t> &lt; 4) &amp;&amp; ((!</a:t>
            </a:r>
            <a:r>
              <a:rPr lang="en-US" dirty="0" err="1"/>
              <a:t>t_l</a:t>
            </a:r>
            <a:r>
              <a:rPr lang="en-US" dirty="0"/>
              <a:t> mod 2) &lt;&gt; 0))</a:t>
            </a:r>
          </a:p>
          <a:p>
            <a:r>
              <a:rPr lang="en-US" dirty="0">
                <a:solidFill>
                  <a:srgbClr val="F3530B"/>
                </a:solidFill>
              </a:rPr>
              <a:t>	then</a:t>
            </a:r>
            <a:r>
              <a:rPr lang="en-US" dirty="0"/>
              <a:t> </a:t>
            </a:r>
            <a:r>
              <a:rPr lang="en-US" dirty="0">
                <a:solidFill>
                  <a:srgbClr val="F3530B"/>
                </a:solidFill>
              </a:rPr>
              <a:t>begin</a:t>
            </a:r>
            <a:r>
              <a:rPr lang="en-US" dirty="0"/>
              <a:t> </a:t>
            </a:r>
          </a:p>
          <a:p>
            <a:r>
              <a:rPr lang="en-US" dirty="0"/>
              <a:t>		</a:t>
            </a:r>
            <a:r>
              <a:rPr lang="en-US" dirty="0" err="1"/>
              <a:t>t_l</a:t>
            </a:r>
            <a:r>
              <a:rPr lang="en-US" dirty="0"/>
              <a:t> := (!</a:t>
            </a:r>
            <a:r>
              <a:rPr lang="en-US" dirty="0" err="1"/>
              <a:t>t_l</a:t>
            </a:r>
            <a:r>
              <a:rPr lang="en-US" dirty="0"/>
              <a:t> + 1)</a:t>
            </a:r>
          </a:p>
          <a:p>
            <a:r>
              <a:rPr lang="en-US" dirty="0">
                <a:solidFill>
                  <a:srgbClr val="F3530B"/>
                </a:solidFill>
              </a:rPr>
              <a:t>	end else begin </a:t>
            </a:r>
          </a:p>
          <a:p>
            <a:r>
              <a:rPr lang="en-US" dirty="0">
                <a:solidFill>
                  <a:srgbClr val="F3530B"/>
                </a:solidFill>
              </a:rPr>
              <a:t>		if</a:t>
            </a:r>
            <a:r>
              <a:rPr lang="en-US" dirty="0"/>
              <a:t> ((!</a:t>
            </a:r>
            <a:r>
              <a:rPr lang="en-US" dirty="0" err="1"/>
              <a:t>t_r</a:t>
            </a:r>
            <a:r>
              <a:rPr lang="en-US" dirty="0"/>
              <a:t> &lt; 4) &amp;&amp; ((!</a:t>
            </a:r>
            <a:r>
              <a:rPr lang="en-US" dirty="0" err="1"/>
              <a:t>t_r</a:t>
            </a:r>
            <a:r>
              <a:rPr lang="en-US" dirty="0"/>
              <a:t> mod 2) &lt;&gt; 0))</a:t>
            </a:r>
          </a:p>
          <a:p>
            <a:r>
              <a:rPr lang="en-US" dirty="0">
                <a:solidFill>
                  <a:srgbClr val="F3530B"/>
                </a:solidFill>
              </a:rPr>
              <a:t>		then</a:t>
            </a:r>
            <a:r>
              <a:rPr lang="en-US" dirty="0"/>
              <a:t> </a:t>
            </a:r>
            <a:r>
              <a:rPr lang="en-US" dirty="0">
                <a:solidFill>
                  <a:srgbClr val="F3530B"/>
                </a:solidFill>
              </a:rPr>
              <a:t>begin</a:t>
            </a:r>
            <a:r>
              <a:rPr lang="en-US" dirty="0"/>
              <a:t> </a:t>
            </a:r>
          </a:p>
          <a:p>
            <a:r>
              <a:rPr lang="en-US" dirty="0"/>
              <a:t>            		</a:t>
            </a:r>
            <a:r>
              <a:rPr lang="en-US" dirty="0" err="1"/>
              <a:t>t_r</a:t>
            </a:r>
            <a:r>
              <a:rPr lang="en-US" dirty="0"/>
              <a:t> := (!</a:t>
            </a:r>
            <a:r>
              <a:rPr lang="en-US" dirty="0" err="1"/>
              <a:t>t_r</a:t>
            </a:r>
            <a:r>
              <a:rPr lang="en-US" dirty="0"/>
              <a:t> + 1)</a:t>
            </a:r>
          </a:p>
          <a:p>
            <a:r>
              <a:rPr lang="en-US" dirty="0">
                <a:solidFill>
                  <a:srgbClr val="F3530B"/>
                </a:solidFill>
              </a:rPr>
              <a:t>		end</a:t>
            </a:r>
            <a:r>
              <a:rPr lang="en-US" dirty="0"/>
              <a:t> </a:t>
            </a:r>
            <a:r>
              <a:rPr lang="en-US" dirty="0">
                <a:solidFill>
                  <a:srgbClr val="F3530B"/>
                </a:solidFill>
              </a:rPr>
              <a:t>else</a:t>
            </a:r>
            <a:r>
              <a:rPr lang="en-US" dirty="0"/>
              <a:t> </a:t>
            </a:r>
            <a:r>
              <a:rPr lang="en-US" dirty="0">
                <a:solidFill>
                  <a:srgbClr val="F3530B"/>
                </a:solidFill>
              </a:rPr>
              <a:t>begin</a:t>
            </a:r>
            <a:r>
              <a:rPr lang="en-US" dirty="0"/>
              <a:t> </a:t>
            </a:r>
          </a:p>
          <a:p>
            <a:r>
              <a:rPr lang="en-US" dirty="0"/>
              <a:t>          		</a:t>
            </a:r>
            <a:r>
              <a:rPr lang="en-US" dirty="0" err="1"/>
              <a:t>t_l</a:t>
            </a:r>
            <a:r>
              <a:rPr lang="en-US" dirty="0"/>
              <a:t> := (!</a:t>
            </a:r>
            <a:r>
              <a:rPr lang="en-US" dirty="0" err="1"/>
              <a:t>t_l</a:t>
            </a:r>
            <a:r>
              <a:rPr lang="en-US" dirty="0"/>
              <a:t> + 1); </a:t>
            </a:r>
            <a:r>
              <a:rPr lang="en-US" dirty="0" err="1"/>
              <a:t>t_r</a:t>
            </a:r>
            <a:r>
              <a:rPr lang="en-US" dirty="0"/>
              <a:t> := (!</a:t>
            </a:r>
            <a:r>
              <a:rPr lang="en-US" dirty="0" err="1"/>
              <a:t>t_r</a:t>
            </a:r>
            <a:r>
              <a:rPr lang="en-US" dirty="0"/>
              <a:t> + 1)</a:t>
            </a:r>
          </a:p>
          <a:p>
            <a:r>
              <a:rPr lang="en-US" dirty="0"/>
              <a:t>          	</a:t>
            </a:r>
            <a:r>
              <a:rPr lang="en-US" dirty="0">
                <a:solidFill>
                  <a:srgbClr val="F3530B"/>
                </a:solidFill>
              </a:rPr>
              <a:t>end</a:t>
            </a:r>
          </a:p>
          <a:p>
            <a:r>
              <a:rPr lang="en-US" dirty="0">
                <a:solidFill>
                  <a:srgbClr val="F3530B"/>
                </a:solidFill>
              </a:rPr>
              <a:t>	end</a:t>
            </a:r>
          </a:p>
          <a:p>
            <a:r>
              <a:rPr lang="en-US" dirty="0">
                <a:solidFill>
                  <a:srgbClr val="F3530B"/>
                </a:solidFill>
              </a:rPr>
              <a:t>done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62C6E6-1BEC-E491-00DE-0A3D177BAE6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928884" y="2745258"/>
            <a:ext cx="13630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29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1F5A8-F169-2814-0EC4-DF33D094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8B3932-2A7C-3A6E-6E7E-EEAB07A52280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From bip2ml 2 WhyRel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2067F-F56B-7D25-A9C7-976D469A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13</a:t>
            </a:fld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1DFD2-1A28-5BB8-86A8-B175A9BADBA6}"/>
              </a:ext>
            </a:extLst>
          </p:cNvPr>
          <p:cNvSpPr txBox="1"/>
          <p:nvPr/>
        </p:nvSpPr>
        <p:spPr>
          <a:xfrm>
            <a:off x="469556" y="1884297"/>
            <a:ext cx="69609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noProof="1">
                <a:solidFill>
                  <a:srgbClr val="002060"/>
                </a:solidFill>
              </a:rPr>
              <a:t>Why bip2ml?</a:t>
            </a:r>
          </a:p>
          <a:p>
            <a:endParaRPr lang="en-US" sz="2400" i="1" noProof="1">
              <a:solidFill>
                <a:srgbClr val="002060"/>
              </a:solidFill>
            </a:endParaRPr>
          </a:p>
          <a:p>
            <a:r>
              <a:rPr lang="en-US" sz="2400" noProof="1">
                <a:solidFill>
                  <a:srgbClr val="002060"/>
                </a:solidFill>
              </a:rPr>
              <a:t>To allow programmers to verify relational properties about their OCaml projects without needing to:</a:t>
            </a:r>
          </a:p>
          <a:p>
            <a:pPr lvl="1"/>
            <a:r>
              <a:rPr lang="en-US" sz="2400" noProof="1">
                <a:solidFill>
                  <a:srgbClr val="002060"/>
                </a:solidFill>
              </a:rPr>
              <a:t>- Completely rewrite the code</a:t>
            </a:r>
          </a:p>
          <a:p>
            <a:pPr lvl="1"/>
            <a:r>
              <a:rPr lang="en-US" sz="2400" noProof="1">
                <a:solidFill>
                  <a:srgbClr val="002060"/>
                </a:solidFill>
              </a:rPr>
              <a:t>- Learn a different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329227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D219-590C-B954-1A55-6E398BBB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4082B-5CA4-6116-FE7C-1C2099477B58}"/>
              </a:ext>
            </a:extLst>
          </p:cNvPr>
          <p:cNvSpPr txBox="1"/>
          <p:nvPr/>
        </p:nvSpPr>
        <p:spPr>
          <a:xfrm>
            <a:off x="2397211" y="2026503"/>
            <a:ext cx="4349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noProof="1">
                <a:solidFill>
                  <a:srgbClr val="002060"/>
                </a:solidFill>
              </a:rPr>
              <a:t>bip2ml</a:t>
            </a:r>
            <a:endParaRPr lang="en-US" sz="48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9FC01B-5B72-8DED-FCC8-3C3488E8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23452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96D9-A956-439C-64CD-BE3345CE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5E61C9-7408-2043-3AB4-9534A6C836AD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What is bip2ml?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AF3DB-62AF-2FF2-62F5-000DBFDA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15</a:t>
            </a:fld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3AE1B-E870-C78E-3804-A7F4A80E557E}"/>
              </a:ext>
            </a:extLst>
          </p:cNvPr>
          <p:cNvSpPr txBox="1"/>
          <p:nvPr/>
        </p:nvSpPr>
        <p:spPr>
          <a:xfrm>
            <a:off x="469556" y="1884297"/>
            <a:ext cx="66644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A transpiler that eases verification of relational properties about OCaml programs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Transpiles biprograms using the translation rules defined by WhyRel’s authors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Input: Gospel-annotated BipLang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Output: Gospel-annotated OCaml code</a:t>
            </a:r>
          </a:p>
        </p:txBody>
      </p:sp>
    </p:spTree>
    <p:extLst>
      <p:ext uri="{BB962C8B-B14F-4D97-AF65-F5344CB8AC3E}">
        <p14:creationId xmlns:p14="http://schemas.microsoft.com/office/powerpoint/2010/main" val="1236774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04D3-2CAC-93FE-D706-98DDA75D4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7F3F82-E861-1DB0-DEF2-FE290186730F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bip2ml + Cameleer Architecture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D7D4F-A2D4-B858-6236-10F23496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16</a:t>
            </a:fld>
            <a:endParaRPr lang="en-US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B1599C-094B-F8F3-5A1B-547C33687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78" y="1921731"/>
            <a:ext cx="8674444" cy="8534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5945E5-8767-0F61-5B98-A3B616454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78" y="3217384"/>
            <a:ext cx="8674444" cy="989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710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989A5-A444-961B-2B17-CD22242D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192653-D341-353F-5531-00974CDA9117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BipLang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B44FB-BE5D-5511-BC89-A8EA73F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17</a:t>
            </a:fld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1BD0A-DCBD-E2A9-F8C5-E7384F63E377}"/>
              </a:ext>
            </a:extLst>
          </p:cNvPr>
          <p:cNvSpPr txBox="1"/>
          <p:nvPr/>
        </p:nvSpPr>
        <p:spPr>
          <a:xfrm>
            <a:off x="469557" y="1514965"/>
            <a:ext cx="7315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1">
                <a:solidFill>
                  <a:srgbClr val="002060"/>
                </a:solidFill>
              </a:rPr>
              <a:t>Simplifies writing biprograms and is based on the biprograms language used in WhyRel’s work</a:t>
            </a:r>
          </a:p>
          <a:p>
            <a:endParaRPr lang="en-US" sz="2200" noProof="1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1">
                <a:solidFill>
                  <a:srgbClr val="002060"/>
                </a:solidFill>
              </a:rPr>
              <a:t>Designed to be as similar as possible to OCaml in terms of syntax and semantics</a:t>
            </a:r>
          </a:p>
          <a:p>
            <a:endParaRPr lang="en-US" sz="2200" noProof="1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1">
                <a:solidFill>
                  <a:srgbClr val="002060"/>
                </a:solidFill>
              </a:rPr>
              <a:t>Some OCaml features are missing, but we add 3: </a:t>
            </a:r>
          </a:p>
          <a:p>
            <a:r>
              <a:rPr lang="en-US" sz="2200" noProof="1">
                <a:solidFill>
                  <a:srgbClr val="002060"/>
                </a:solidFill>
              </a:rPr>
              <a:t>	- Pipe: &lt;|&gt;</a:t>
            </a:r>
          </a:p>
          <a:p>
            <a:r>
              <a:rPr lang="en-US" sz="2200" noProof="1">
                <a:solidFill>
                  <a:srgbClr val="002060"/>
                </a:solidFill>
              </a:rPr>
              <a:t>	- Floors: |_ and _|</a:t>
            </a:r>
          </a:p>
          <a:p>
            <a:r>
              <a:rPr lang="en-US" sz="2200" noProof="1">
                <a:solidFill>
                  <a:srgbClr val="002060"/>
                </a:solidFill>
              </a:rPr>
              <a:t>	- Conditionally aligned loops</a:t>
            </a:r>
          </a:p>
        </p:txBody>
      </p:sp>
    </p:spTree>
    <p:extLst>
      <p:ext uri="{BB962C8B-B14F-4D97-AF65-F5344CB8AC3E}">
        <p14:creationId xmlns:p14="http://schemas.microsoft.com/office/powerpoint/2010/main" val="3909667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BAF1-5FD1-166B-7045-0EE556BB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DB56FE-145E-B781-5DD4-F5F6270AE1EE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bip2ml Visualizer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573BA-FFA0-1BB5-B186-E9DBF908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18</a:t>
            </a:fld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42195-A529-A857-26D9-2279AE52A266}"/>
              </a:ext>
            </a:extLst>
          </p:cNvPr>
          <p:cNvSpPr txBox="1"/>
          <p:nvPr/>
        </p:nvSpPr>
        <p:spPr>
          <a:xfrm>
            <a:off x="469556" y="1984521"/>
            <a:ext cx="68456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Allows using bip2ml in a website through a client-server dynamic (local only for now)</a:t>
            </a:r>
          </a:p>
          <a:p>
            <a:endParaRPr lang="en-US" sz="2400" noProof="1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Enables visualization of BipLang and OCaml ASTs, as well as simplifying their comparison</a:t>
            </a:r>
          </a:p>
        </p:txBody>
      </p:sp>
    </p:spTree>
    <p:extLst>
      <p:ext uri="{BB962C8B-B14F-4D97-AF65-F5344CB8AC3E}">
        <p14:creationId xmlns:p14="http://schemas.microsoft.com/office/powerpoint/2010/main" val="441316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F67E0-3A69-CABE-9E0A-9F587DEA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3BB568-520D-6683-04BA-FA626968DD3E}"/>
              </a:ext>
            </a:extLst>
          </p:cNvPr>
          <p:cNvSpPr txBox="1"/>
          <p:nvPr/>
        </p:nvSpPr>
        <p:spPr>
          <a:xfrm>
            <a:off x="1198606" y="2145439"/>
            <a:ext cx="6746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noProof="1">
                <a:solidFill>
                  <a:srgbClr val="002060"/>
                </a:solidFill>
              </a:rPr>
              <a:t>bip2ml Visualizer Demo </a:t>
            </a:r>
            <a:endParaRPr lang="en-US" sz="48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877AE-6DB9-1A26-C0BA-3E09B261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19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140711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B3A4-7FE9-F5E7-C57A-435740514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5BAA36-B89C-45E5-9557-7B125D2E9E47}"/>
              </a:ext>
            </a:extLst>
          </p:cNvPr>
          <p:cNvSpPr txBox="1"/>
          <p:nvPr/>
        </p:nvSpPr>
        <p:spPr>
          <a:xfrm>
            <a:off x="2397211" y="2026503"/>
            <a:ext cx="4349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noProof="1">
                <a:solidFill>
                  <a:srgbClr val="002060"/>
                </a:solidFill>
              </a:rPr>
              <a:t>Case Studies</a:t>
            </a:r>
            <a:endParaRPr lang="en-US" sz="48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23094-7D5B-73D6-B454-6FDA27B1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68197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365BFD-72DA-3BF8-1CEE-4BDFA723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F4AF17-99A3-F347-BC5A-70F4A4FA075C}"/>
              </a:ext>
            </a:extLst>
          </p:cNvPr>
          <p:cNvSpPr txBox="1"/>
          <p:nvPr/>
        </p:nvSpPr>
        <p:spPr>
          <a:xfrm>
            <a:off x="469556" y="626071"/>
            <a:ext cx="8204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mult - Unary Program 1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64429-8412-0972-F829-E2C7345A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21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7D5D3-4C52-CC36-94F8-9F1EB8664D52}"/>
              </a:ext>
            </a:extLst>
          </p:cNvPr>
          <p:cNvSpPr txBox="1"/>
          <p:nvPr/>
        </p:nvSpPr>
        <p:spPr>
          <a:xfrm>
            <a:off x="469556" y="1323136"/>
            <a:ext cx="3828677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mult_source</a:t>
            </a:r>
            <a:r>
              <a:rPr lang="en-US" sz="1600" dirty="0"/>
              <a:t> (n: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, m: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)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3530B"/>
                </a:solidFill>
              </a:rPr>
              <a:t>begin</a:t>
            </a:r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res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while</a:t>
            </a:r>
            <a:r>
              <a:rPr lang="en-US" sz="1600" dirty="0"/>
              <a:t> !</a:t>
            </a:r>
            <a:r>
              <a:rPr lang="en-US" sz="1600" dirty="0" err="1"/>
              <a:t>i</a:t>
            </a:r>
            <a:r>
              <a:rPr lang="en-US" sz="1600" dirty="0"/>
              <a:t> &lt; n </a:t>
            </a:r>
            <a:r>
              <a:rPr lang="en-US" sz="1600" dirty="0">
                <a:solidFill>
                  <a:srgbClr val="F3530B"/>
                </a:solidFill>
              </a:rPr>
              <a:t>do</a:t>
            </a:r>
          </a:p>
          <a:p>
            <a:pPr lvl="1"/>
            <a:r>
              <a:rPr lang="en-US" sz="1600" dirty="0"/>
              <a:t> 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previous_res</a:t>
            </a:r>
            <a:r>
              <a:rPr lang="en-US" sz="1600" dirty="0"/>
              <a:t> = !res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j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endParaRPr lang="en-US" sz="1600" dirty="0"/>
          </a:p>
          <a:p>
            <a:r>
              <a:rPr lang="en-US" sz="1600" dirty="0"/>
              <a:t>		</a:t>
            </a:r>
            <a:r>
              <a:rPr lang="en-US" sz="1600" dirty="0">
                <a:solidFill>
                  <a:srgbClr val="F3530B"/>
                </a:solidFill>
              </a:rPr>
              <a:t>while</a:t>
            </a:r>
            <a:r>
              <a:rPr lang="en-US" sz="1600" dirty="0"/>
              <a:t> !j &lt; m </a:t>
            </a:r>
            <a:r>
              <a:rPr lang="en-US" sz="1600" dirty="0">
                <a:solidFill>
                  <a:srgbClr val="F3530B"/>
                </a:solidFill>
              </a:rPr>
              <a:t>do</a:t>
            </a:r>
            <a:r>
              <a:rPr lang="en-US" sz="1600" dirty="0"/>
              <a:t> </a:t>
            </a:r>
          </a:p>
          <a:p>
            <a:r>
              <a:rPr lang="en-US" sz="1600" dirty="0"/>
              <a:t>			res := !res + 1; </a:t>
            </a:r>
          </a:p>
          <a:p>
            <a:r>
              <a:rPr lang="en-US" sz="1600" dirty="0"/>
              <a:t>			j := !j + 1 </a:t>
            </a:r>
          </a:p>
          <a:p>
            <a:r>
              <a:rPr lang="en-US" sz="1600" dirty="0"/>
              <a:t>		</a:t>
            </a:r>
            <a:r>
              <a:rPr lang="en-US" sz="1600" dirty="0">
                <a:solidFill>
                  <a:srgbClr val="F3530B"/>
                </a:solidFill>
              </a:rPr>
              <a:t>done</a:t>
            </a:r>
            <a:r>
              <a:rPr lang="en-US" sz="1600" dirty="0"/>
              <a:t>;</a:t>
            </a:r>
          </a:p>
          <a:p>
            <a:pPr lvl="1"/>
            <a:r>
              <a:rPr lang="en-US" sz="1600" dirty="0"/>
              <a:t>	</a:t>
            </a:r>
            <a:r>
              <a:rPr lang="en-US" sz="1600" dirty="0" err="1"/>
              <a:t>i</a:t>
            </a:r>
            <a:r>
              <a:rPr lang="en-US" sz="1600" dirty="0"/>
              <a:t> := !</a:t>
            </a:r>
            <a:r>
              <a:rPr lang="en-US" sz="1600" dirty="0" err="1"/>
              <a:t>i</a:t>
            </a:r>
            <a:r>
              <a:rPr lang="en-US" sz="1600" dirty="0"/>
              <a:t> + 1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done</a:t>
            </a:r>
            <a:r>
              <a:rPr lang="en-US" sz="1600" dirty="0"/>
              <a:t>; 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!res</a:t>
            </a:r>
          </a:p>
          <a:p>
            <a:r>
              <a:rPr lang="en-US" sz="1600" dirty="0">
                <a:solidFill>
                  <a:srgbClr val="F3530B"/>
                </a:solidFill>
              </a:rPr>
              <a:t>end</a:t>
            </a:r>
            <a:r>
              <a:rPr lang="en-US" sz="1600" dirty="0"/>
              <a:t> 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94528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13E21C-AF1C-129E-2575-53CD8513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F670F-02D1-F054-7C67-5AF44FFF6753}"/>
              </a:ext>
            </a:extLst>
          </p:cNvPr>
          <p:cNvSpPr txBox="1"/>
          <p:nvPr/>
        </p:nvSpPr>
        <p:spPr>
          <a:xfrm>
            <a:off x="469556" y="626071"/>
            <a:ext cx="8204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mult - Unary Program 2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2FC26-FB2F-4374-5498-BF6C1DE5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22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20C73-02EB-1742-D094-089439FB8050}"/>
              </a:ext>
            </a:extLst>
          </p:cNvPr>
          <p:cNvSpPr txBox="1"/>
          <p:nvPr/>
        </p:nvSpPr>
        <p:spPr>
          <a:xfrm>
            <a:off x="474275" y="1684242"/>
            <a:ext cx="4097725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mult_optimized</a:t>
            </a:r>
            <a:r>
              <a:rPr lang="en-US" sz="1600" dirty="0"/>
              <a:t> (n: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, m: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)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3530B"/>
                </a:solidFill>
              </a:rPr>
              <a:t>begin</a:t>
            </a:r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res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while</a:t>
            </a:r>
            <a:r>
              <a:rPr lang="en-US" sz="1600" dirty="0"/>
              <a:t> !</a:t>
            </a:r>
            <a:r>
              <a:rPr lang="en-US" sz="1600" dirty="0" err="1"/>
              <a:t>i</a:t>
            </a:r>
            <a:r>
              <a:rPr lang="en-US" sz="1600" dirty="0"/>
              <a:t> &lt; n </a:t>
            </a:r>
            <a:r>
              <a:rPr lang="en-US" sz="1600" dirty="0">
                <a:solidFill>
                  <a:srgbClr val="F3530B"/>
                </a:solidFill>
              </a:rPr>
              <a:t>do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	</a:t>
            </a:r>
            <a:r>
              <a:rPr lang="en-US" sz="1600" dirty="0"/>
              <a:t>res := !res + m;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i</a:t>
            </a:r>
            <a:r>
              <a:rPr lang="en-US" sz="1600" dirty="0"/>
              <a:t> := !</a:t>
            </a:r>
            <a:r>
              <a:rPr lang="en-US" sz="1600" dirty="0" err="1"/>
              <a:t>i</a:t>
            </a:r>
            <a:r>
              <a:rPr lang="en-US" sz="1600" dirty="0"/>
              <a:t> + 1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done</a:t>
            </a:r>
            <a:r>
              <a:rPr lang="en-US" sz="1600" dirty="0"/>
              <a:t>; 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!res</a:t>
            </a:r>
          </a:p>
          <a:p>
            <a:r>
              <a:rPr lang="en-US" sz="1600" dirty="0">
                <a:solidFill>
                  <a:srgbClr val="F3530B"/>
                </a:solidFill>
              </a:rPr>
              <a:t>end</a:t>
            </a:r>
            <a:r>
              <a:rPr lang="en-US" sz="1600" dirty="0"/>
              <a:t> 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6998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70DA57-81A6-5D16-D17A-AE7919A8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0BF330-4933-CEA2-FE3B-5120B541FF4D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mult - Biprogram  (1/2)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29E14-F14C-DE19-CD35-B49A2887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23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54E98-1201-A8A3-3A44-5317EF7D792B}"/>
              </a:ext>
            </a:extLst>
          </p:cNvPr>
          <p:cNvSpPr txBox="1"/>
          <p:nvPr/>
        </p:nvSpPr>
        <p:spPr>
          <a:xfrm>
            <a:off x="469556" y="1326641"/>
            <a:ext cx="694449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mult_biplang</a:t>
            </a:r>
            <a:r>
              <a:rPr lang="en-US" sz="1600" dirty="0"/>
              <a:t> (|_ n: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_|, |_ m: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_|) : |_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_| = </a:t>
            </a:r>
            <a:r>
              <a:rPr lang="en-US" sz="1600" dirty="0">
                <a:solidFill>
                  <a:srgbClr val="F3530B"/>
                </a:solidFill>
              </a:rPr>
              <a:t>begin</a:t>
            </a:r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|_ ref 0 _|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res = |_ ref 0 _|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while</a:t>
            </a:r>
            <a:r>
              <a:rPr lang="en-US" sz="1600" dirty="0"/>
              <a:t> |_ !</a:t>
            </a:r>
            <a:r>
              <a:rPr lang="en-US" sz="1600" dirty="0" err="1"/>
              <a:t>i</a:t>
            </a:r>
            <a:r>
              <a:rPr lang="en-US" sz="1600" dirty="0"/>
              <a:t> &lt; n _| </a:t>
            </a:r>
            <a:r>
              <a:rPr lang="en-US" sz="1600" dirty="0">
                <a:solidFill>
                  <a:srgbClr val="F3530B"/>
                </a:solidFill>
              </a:rPr>
              <a:t>do</a:t>
            </a:r>
          </a:p>
          <a:p>
            <a:pPr lvl="1"/>
            <a:r>
              <a:rPr lang="en-US" sz="1600" dirty="0"/>
              <a:t> 	(*@ </a:t>
            </a:r>
            <a:r>
              <a:rPr lang="en-US" sz="1600" dirty="0">
                <a:solidFill>
                  <a:srgbClr val="F3530B"/>
                </a:solidFill>
              </a:rPr>
              <a:t>variant</a:t>
            </a:r>
            <a:r>
              <a:rPr lang="en-US" sz="1600" dirty="0"/>
              <a:t>       </a:t>
            </a:r>
            <a:r>
              <a:rPr lang="en-US" sz="1600" dirty="0" err="1"/>
              <a:t>n_l</a:t>
            </a:r>
            <a:r>
              <a:rPr lang="en-US" sz="1600" dirty="0"/>
              <a:t> - !</a:t>
            </a:r>
            <a:r>
              <a:rPr lang="en-US" sz="1600" dirty="0" err="1"/>
              <a:t>i_l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          </a:t>
            </a:r>
            <a:r>
              <a:rPr lang="en-US" sz="1600" dirty="0">
                <a:solidFill>
                  <a:srgbClr val="F3530B"/>
                </a:solidFill>
              </a:rPr>
              <a:t>invariant</a:t>
            </a:r>
            <a:r>
              <a:rPr lang="en-US" sz="1600" dirty="0"/>
              <a:t>  !</a:t>
            </a:r>
            <a:r>
              <a:rPr lang="en-US" sz="1600" dirty="0" err="1"/>
              <a:t>i_l</a:t>
            </a:r>
            <a:r>
              <a:rPr lang="en-US" sz="1600" dirty="0"/>
              <a:t> = !</a:t>
            </a:r>
            <a:r>
              <a:rPr lang="en-US" sz="1600" dirty="0" err="1"/>
              <a:t>i_r</a:t>
            </a:r>
            <a:r>
              <a:rPr lang="en-US" sz="1600" dirty="0"/>
              <a:t> &amp;&amp; !</a:t>
            </a:r>
            <a:r>
              <a:rPr lang="en-US" sz="1600" dirty="0" err="1"/>
              <a:t>res_l</a:t>
            </a:r>
            <a:r>
              <a:rPr lang="en-US" sz="1600" dirty="0"/>
              <a:t> = ! </a:t>
            </a:r>
            <a:r>
              <a:rPr lang="en-US" sz="1600" dirty="0" err="1"/>
              <a:t>res_r</a:t>
            </a:r>
            <a:r>
              <a:rPr lang="en-US" sz="1600" dirty="0"/>
              <a:t> *)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previous_res_l</a:t>
            </a:r>
            <a:r>
              <a:rPr lang="en-US" sz="1600" dirty="0"/>
              <a:t> = !</a:t>
            </a:r>
            <a:r>
              <a:rPr lang="en-US" sz="1600" dirty="0" err="1"/>
              <a:t>res_l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j = |_ ref 0 _|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	 ( </a:t>
            </a:r>
          </a:p>
          <a:p>
            <a:pPr lvl="1"/>
            <a:r>
              <a:rPr lang="en-US" sz="1600" dirty="0"/>
              <a:t>		(</a:t>
            </a:r>
            <a:r>
              <a:rPr lang="en-US" sz="1600" dirty="0">
                <a:solidFill>
                  <a:srgbClr val="F3530B"/>
                </a:solidFill>
              </a:rPr>
              <a:t>while</a:t>
            </a:r>
            <a:r>
              <a:rPr lang="en-US" sz="1600" dirty="0"/>
              <a:t> (!j &lt; m) </a:t>
            </a:r>
            <a:r>
              <a:rPr lang="en-US" sz="1600" dirty="0">
                <a:solidFill>
                  <a:srgbClr val="F3530B"/>
                </a:solidFill>
              </a:rPr>
              <a:t>do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		(*@ </a:t>
            </a:r>
            <a:r>
              <a:rPr lang="en-US" sz="1600" dirty="0">
                <a:solidFill>
                  <a:srgbClr val="F3530B"/>
                </a:solidFill>
              </a:rPr>
              <a:t>variant</a:t>
            </a:r>
            <a:r>
              <a:rPr lang="en-US" sz="1600" dirty="0"/>
              <a:t>      </a:t>
            </a:r>
            <a:r>
              <a:rPr lang="en-US" sz="1600" dirty="0" err="1"/>
              <a:t>m_l</a:t>
            </a:r>
            <a:r>
              <a:rPr lang="en-US" sz="1600" dirty="0"/>
              <a:t> - !</a:t>
            </a:r>
            <a:r>
              <a:rPr lang="en-US" sz="1600" dirty="0" err="1"/>
              <a:t>j_l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		          </a:t>
            </a:r>
            <a:r>
              <a:rPr lang="en-US" sz="1600" dirty="0">
                <a:solidFill>
                  <a:srgbClr val="F3530B"/>
                </a:solidFill>
              </a:rPr>
              <a:t>invariant</a:t>
            </a:r>
            <a:r>
              <a:rPr lang="en-US" sz="1600" dirty="0"/>
              <a:t> 0 ≤ !</a:t>
            </a:r>
            <a:r>
              <a:rPr lang="en-US" sz="1600" dirty="0" err="1"/>
              <a:t>j_l</a:t>
            </a:r>
            <a:r>
              <a:rPr lang="en-US" sz="1600" dirty="0"/>
              <a:t> ≤ </a:t>
            </a:r>
            <a:r>
              <a:rPr lang="en-US" sz="1600" dirty="0" err="1"/>
              <a:t>m_l</a:t>
            </a:r>
            <a:r>
              <a:rPr lang="en-US" sz="1600" dirty="0"/>
              <a:t> &amp;&amp; !</a:t>
            </a:r>
            <a:r>
              <a:rPr lang="en-US" sz="1600" dirty="0" err="1"/>
              <a:t>res_l</a:t>
            </a:r>
            <a:r>
              <a:rPr lang="en-US" sz="1600" dirty="0"/>
              <a:t> = !</a:t>
            </a:r>
            <a:r>
              <a:rPr lang="en-US" sz="1600" dirty="0" err="1"/>
              <a:t>res_r</a:t>
            </a:r>
            <a:r>
              <a:rPr lang="en-US" sz="1600" dirty="0"/>
              <a:t> + !</a:t>
            </a:r>
            <a:r>
              <a:rPr lang="en-US" sz="1600" dirty="0" err="1"/>
              <a:t>j_l</a:t>
            </a:r>
            <a:r>
              <a:rPr lang="en-US" sz="1600" dirty="0"/>
              <a:t> *)</a:t>
            </a:r>
          </a:p>
          <a:p>
            <a:pPr lvl="1"/>
            <a:r>
              <a:rPr lang="en-US" sz="1600" dirty="0"/>
              <a:t>			 res := !res + 1; </a:t>
            </a:r>
          </a:p>
          <a:p>
            <a:pPr lvl="1"/>
            <a:r>
              <a:rPr lang="en-US" sz="1600" dirty="0"/>
              <a:t>			 j := !j + 1 </a:t>
            </a:r>
          </a:p>
          <a:p>
            <a:pPr lvl="1"/>
            <a:r>
              <a:rPr lang="en-US" sz="1600" dirty="0"/>
              <a:t>		</a:t>
            </a:r>
            <a:r>
              <a:rPr lang="en-US" sz="1600" dirty="0">
                <a:solidFill>
                  <a:srgbClr val="F3530B"/>
                </a:solidFill>
              </a:rPr>
              <a:t>done</a:t>
            </a:r>
            <a:r>
              <a:rPr lang="en-US" sz="1600" dirty="0"/>
              <a:t>) 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	 	</a:t>
            </a:r>
          </a:p>
        </p:txBody>
      </p:sp>
    </p:spTree>
    <p:extLst>
      <p:ext uri="{BB962C8B-B14F-4D97-AF65-F5344CB8AC3E}">
        <p14:creationId xmlns:p14="http://schemas.microsoft.com/office/powerpoint/2010/main" val="1468627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D6C375-5114-E08A-ACF7-8DC5CC11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3A2B8F-A6DC-BB28-4D1C-1D15941CDB17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mult - Biprogram  (2/2)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CC79A-EDC9-9E72-C07B-E7F641CA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24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0F0BC-BDEE-D826-69C7-37B335EBC49A}"/>
              </a:ext>
            </a:extLst>
          </p:cNvPr>
          <p:cNvSpPr txBox="1"/>
          <p:nvPr/>
        </p:nvSpPr>
        <p:spPr>
          <a:xfrm>
            <a:off x="0" y="1407243"/>
            <a:ext cx="587840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1600" dirty="0"/>
              <a:t>		&lt;|&gt;</a:t>
            </a:r>
          </a:p>
          <a:p>
            <a:pPr lvl="1"/>
            <a:r>
              <a:rPr lang="en-US" sz="1600" dirty="0"/>
              <a:t>		(res := !res + m)); </a:t>
            </a:r>
          </a:p>
          <a:p>
            <a:pPr lvl="1"/>
            <a:r>
              <a:rPr lang="en-US" sz="1600" dirty="0"/>
              <a:t>		</a:t>
            </a:r>
            <a:r>
              <a:rPr lang="en-US" sz="1600" dirty="0">
                <a:solidFill>
                  <a:srgbClr val="F3530B"/>
                </a:solidFill>
              </a:rPr>
              <a:t>assert</a:t>
            </a:r>
            <a:r>
              <a:rPr lang="en-US" sz="1600" dirty="0"/>
              <a:t> ((!</a:t>
            </a:r>
            <a:r>
              <a:rPr lang="en-US" sz="1600" dirty="0" err="1"/>
              <a:t>res_l</a:t>
            </a:r>
            <a:r>
              <a:rPr lang="en-US" sz="1600" dirty="0"/>
              <a:t> = </a:t>
            </a:r>
            <a:r>
              <a:rPr lang="en-US" sz="1600" dirty="0" err="1"/>
              <a:t>previous_res_l</a:t>
            </a:r>
            <a:r>
              <a:rPr lang="en-US" sz="1600" dirty="0"/>
              <a:t> + </a:t>
            </a:r>
            <a:r>
              <a:rPr lang="en-US" sz="1600" dirty="0" err="1"/>
              <a:t>m_l</a:t>
            </a:r>
            <a:r>
              <a:rPr lang="en-US" sz="1600" dirty="0"/>
              <a:t>));</a:t>
            </a:r>
          </a:p>
          <a:p>
            <a:pPr lvl="1"/>
            <a:r>
              <a:rPr lang="en-US" sz="1600" dirty="0"/>
              <a:t>		</a:t>
            </a:r>
            <a:r>
              <a:rPr lang="en-US" sz="1600" dirty="0" err="1"/>
              <a:t>i</a:t>
            </a:r>
            <a:r>
              <a:rPr lang="en-US" sz="1600" dirty="0"/>
              <a:t> := |_ !</a:t>
            </a:r>
            <a:r>
              <a:rPr lang="en-US" sz="1600" dirty="0" err="1"/>
              <a:t>i</a:t>
            </a:r>
            <a:r>
              <a:rPr lang="en-US" sz="1600" dirty="0"/>
              <a:t> + 1 _| 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done</a:t>
            </a:r>
            <a:r>
              <a:rPr lang="en-US" sz="1600" dirty="0"/>
              <a:t>; 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	|_ !res _| 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end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(*@ </a:t>
            </a:r>
            <a:r>
              <a:rPr lang="en-US" sz="1600" dirty="0">
                <a:solidFill>
                  <a:srgbClr val="F3530B"/>
                </a:solidFill>
              </a:rPr>
              <a:t>requires</a:t>
            </a:r>
            <a:r>
              <a:rPr lang="en-US" sz="1600" dirty="0"/>
              <a:t> </a:t>
            </a:r>
            <a:r>
              <a:rPr lang="en-US" sz="1600" dirty="0" err="1"/>
              <a:t>n_l</a:t>
            </a:r>
            <a:r>
              <a:rPr lang="en-US" sz="1600" dirty="0"/>
              <a:t> = </a:t>
            </a:r>
            <a:r>
              <a:rPr lang="en-US" sz="1600" dirty="0" err="1"/>
              <a:t>n_r</a:t>
            </a:r>
            <a:r>
              <a:rPr lang="en-US" sz="1600" dirty="0"/>
              <a:t> &amp;&amp; </a:t>
            </a:r>
            <a:r>
              <a:rPr lang="en-US" sz="1600" dirty="0" err="1"/>
              <a:t>m_l</a:t>
            </a:r>
            <a:r>
              <a:rPr lang="en-US" sz="1600" dirty="0"/>
              <a:t> = </a:t>
            </a:r>
            <a:r>
              <a:rPr lang="en-US" sz="1600" dirty="0" err="1"/>
              <a:t>m_r</a:t>
            </a:r>
            <a:r>
              <a:rPr lang="en-US" sz="1600" dirty="0"/>
              <a:t> &amp;&amp; </a:t>
            </a:r>
            <a:r>
              <a:rPr lang="en-US" sz="1600" dirty="0" err="1"/>
              <a:t>m_l</a:t>
            </a:r>
            <a:r>
              <a:rPr lang="en-US" sz="1600" dirty="0"/>
              <a:t> ≥ 0 </a:t>
            </a:r>
          </a:p>
          <a:p>
            <a:pPr lvl="1"/>
            <a:r>
              <a:rPr lang="en-US" sz="1600" dirty="0"/>
              <a:t>         </a:t>
            </a:r>
            <a:r>
              <a:rPr lang="en-US" sz="1600" dirty="0">
                <a:solidFill>
                  <a:srgbClr val="F3530B"/>
                </a:solidFill>
              </a:rPr>
              <a:t>ensures</a:t>
            </a:r>
            <a:r>
              <a:rPr lang="en-US" sz="1600" dirty="0"/>
              <a:t> match result with (</a:t>
            </a:r>
            <a:r>
              <a:rPr lang="en-US" sz="1600" dirty="0" err="1"/>
              <a:t>l_res</a:t>
            </a:r>
            <a:r>
              <a:rPr lang="en-US" sz="1600" dirty="0"/>
              <a:t>, </a:t>
            </a:r>
            <a:r>
              <a:rPr lang="en-US" sz="1600" dirty="0" err="1"/>
              <a:t>r_res</a:t>
            </a:r>
            <a:r>
              <a:rPr lang="en-US" sz="1600" dirty="0"/>
              <a:t>) → </a:t>
            </a:r>
            <a:r>
              <a:rPr lang="en-US" sz="1600" dirty="0" err="1"/>
              <a:t>l_res</a:t>
            </a:r>
            <a:r>
              <a:rPr lang="en-US" sz="1600" dirty="0"/>
              <a:t> = </a:t>
            </a:r>
            <a:r>
              <a:rPr lang="en-US" sz="1600" dirty="0" err="1"/>
              <a:t>r_res</a:t>
            </a:r>
            <a:r>
              <a:rPr lang="en-US" sz="1600" dirty="0"/>
              <a:t> *)</a:t>
            </a:r>
          </a:p>
          <a:p>
            <a:pPr lvl="1"/>
            <a:r>
              <a:rPr lang="en-US" sz="1600" dirty="0"/>
              <a:t>	 	</a:t>
            </a:r>
          </a:p>
        </p:txBody>
      </p:sp>
    </p:spTree>
    <p:extLst>
      <p:ext uri="{BB962C8B-B14F-4D97-AF65-F5344CB8AC3E}">
        <p14:creationId xmlns:p14="http://schemas.microsoft.com/office/powerpoint/2010/main" val="716072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B54E8D-B6D5-0230-DF37-1C43B702C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7A9C4-A0A2-C6B1-8BFE-2ABD7DBBE57A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mult - Product Program  (1/2)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70F71-793B-9A14-6C40-D1E1BC1D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25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C708B-8C9C-C8CD-D68A-5E9330C457EC}"/>
              </a:ext>
            </a:extLst>
          </p:cNvPr>
          <p:cNvSpPr txBox="1"/>
          <p:nvPr/>
        </p:nvSpPr>
        <p:spPr>
          <a:xfrm>
            <a:off x="469556" y="1417221"/>
            <a:ext cx="578273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mult_ocaml</a:t>
            </a:r>
            <a:r>
              <a:rPr lang="en-US" sz="1600" dirty="0"/>
              <a:t> </a:t>
            </a:r>
            <a:r>
              <a:rPr lang="pt-PT" sz="1600" dirty="0"/>
              <a:t>(</a:t>
            </a:r>
            <a:r>
              <a:rPr lang="pt-PT" sz="1600" dirty="0" err="1"/>
              <a:t>n_l</a:t>
            </a:r>
            <a:r>
              <a:rPr lang="pt-PT" sz="1600" dirty="0"/>
              <a:t> : </a:t>
            </a:r>
            <a:r>
              <a:rPr lang="pt-PT" sz="1600" dirty="0" err="1">
                <a:solidFill>
                  <a:srgbClr val="F3530B"/>
                </a:solidFill>
              </a:rPr>
              <a:t>int</a:t>
            </a:r>
            <a:r>
              <a:rPr lang="pt-PT" sz="1600" dirty="0"/>
              <a:t>) (</a:t>
            </a:r>
            <a:r>
              <a:rPr lang="pt-PT" sz="1600" dirty="0" err="1"/>
              <a:t>n_r</a:t>
            </a:r>
            <a:r>
              <a:rPr lang="pt-PT" sz="1600" dirty="0"/>
              <a:t> : </a:t>
            </a:r>
            <a:r>
              <a:rPr lang="pt-PT" sz="1600" dirty="0" err="1">
                <a:solidFill>
                  <a:srgbClr val="F3530B"/>
                </a:solidFill>
              </a:rPr>
              <a:t>int</a:t>
            </a:r>
            <a:r>
              <a:rPr lang="pt-PT" sz="1600" dirty="0"/>
              <a:t>) (</a:t>
            </a:r>
            <a:r>
              <a:rPr lang="pt-PT" sz="1600" dirty="0" err="1"/>
              <a:t>m_l</a:t>
            </a:r>
            <a:r>
              <a:rPr lang="pt-PT" sz="1600" dirty="0"/>
              <a:t> : </a:t>
            </a:r>
            <a:r>
              <a:rPr lang="pt-PT" sz="1600" dirty="0" err="1">
                <a:solidFill>
                  <a:srgbClr val="F3530B"/>
                </a:solidFill>
              </a:rPr>
              <a:t>int</a:t>
            </a:r>
            <a:r>
              <a:rPr lang="pt-PT" sz="1600" dirty="0"/>
              <a:t>) (</a:t>
            </a:r>
            <a:r>
              <a:rPr lang="pt-PT" sz="1600" dirty="0" err="1"/>
              <a:t>m_r</a:t>
            </a:r>
            <a:r>
              <a:rPr lang="pt-PT" sz="1600" dirty="0"/>
              <a:t> : </a:t>
            </a:r>
            <a:r>
              <a:rPr lang="pt-PT" sz="1600" dirty="0" err="1">
                <a:solidFill>
                  <a:srgbClr val="F3530B"/>
                </a:solidFill>
              </a:rPr>
              <a:t>int</a:t>
            </a:r>
            <a:r>
              <a:rPr lang="pt-PT" sz="1600" dirty="0"/>
              <a:t>)</a:t>
            </a:r>
            <a:r>
              <a:rPr lang="en-US" sz="1600" dirty="0"/>
              <a:t>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*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=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i_l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i_r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res_l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res_r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>
                <a:solidFill>
                  <a:srgbClr val="F3530B"/>
                </a:solidFill>
              </a:rPr>
              <a:t>while</a:t>
            </a:r>
            <a:r>
              <a:rPr lang="en-US" sz="1600" dirty="0"/>
              <a:t> (!</a:t>
            </a:r>
            <a:r>
              <a:rPr lang="en-US" sz="1600" dirty="0" err="1"/>
              <a:t>i_l</a:t>
            </a:r>
            <a:r>
              <a:rPr lang="en-US" sz="1600" dirty="0"/>
              <a:t> &lt; </a:t>
            </a:r>
            <a:r>
              <a:rPr lang="en-US" sz="1600" dirty="0" err="1"/>
              <a:t>n_l</a:t>
            </a:r>
            <a:r>
              <a:rPr lang="en-US" sz="1600" dirty="0"/>
              <a:t>) </a:t>
            </a:r>
            <a:r>
              <a:rPr lang="en-US" sz="1600" dirty="0">
                <a:solidFill>
                  <a:srgbClr val="F3530B"/>
                </a:solidFill>
              </a:rPr>
              <a:t>do</a:t>
            </a:r>
          </a:p>
          <a:p>
            <a:pPr lvl="1"/>
            <a:r>
              <a:rPr lang="en-US" sz="1600" dirty="0"/>
              <a:t> 	</a:t>
            </a:r>
            <a:r>
              <a:rPr lang="pt-PT" sz="1600" dirty="0"/>
              <a:t>(*@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((!</a:t>
            </a:r>
            <a:r>
              <a:rPr lang="pt-PT" sz="1600" dirty="0" err="1"/>
              <a:t>i_l</a:t>
            </a:r>
            <a:r>
              <a:rPr lang="pt-PT" sz="1600" dirty="0"/>
              <a:t> &lt; </a:t>
            </a:r>
            <a:r>
              <a:rPr lang="pt-PT" sz="1600" dirty="0" err="1"/>
              <a:t>n_l</a:t>
            </a:r>
            <a:r>
              <a:rPr lang="pt-PT" sz="1600" dirty="0"/>
              <a:t>)) ↔ ((!</a:t>
            </a:r>
            <a:r>
              <a:rPr lang="pt-PT" sz="1600" dirty="0" err="1"/>
              <a:t>i_r</a:t>
            </a:r>
            <a:r>
              <a:rPr lang="pt-PT" sz="1600" dirty="0"/>
              <a:t> &lt; </a:t>
            </a:r>
            <a:r>
              <a:rPr lang="pt-PT" sz="1600" dirty="0" err="1"/>
              <a:t>n_r</a:t>
            </a:r>
            <a:r>
              <a:rPr lang="pt-PT" sz="1600" dirty="0"/>
              <a:t>)) </a:t>
            </a:r>
          </a:p>
          <a:p>
            <a:pPr lvl="1"/>
            <a:r>
              <a:rPr lang="pt-PT" sz="1600" dirty="0"/>
              <a:t>	         </a:t>
            </a:r>
            <a:r>
              <a:rPr lang="pt-PT" sz="1600" dirty="0" err="1">
                <a:solidFill>
                  <a:srgbClr val="F3530B"/>
                </a:solidFill>
              </a:rPr>
              <a:t>variant</a:t>
            </a:r>
            <a:r>
              <a:rPr lang="pt-PT" sz="1600" dirty="0"/>
              <a:t>      </a:t>
            </a:r>
            <a:r>
              <a:rPr lang="pt-PT" sz="1600" dirty="0" err="1"/>
              <a:t>n_l</a:t>
            </a:r>
            <a:r>
              <a:rPr lang="pt-PT" sz="1600" dirty="0"/>
              <a:t> - !</a:t>
            </a:r>
            <a:r>
              <a:rPr lang="pt-PT" sz="1600" dirty="0" err="1"/>
              <a:t>i_l</a:t>
            </a:r>
            <a:r>
              <a:rPr lang="pt-PT" sz="1600" dirty="0"/>
              <a:t> </a:t>
            </a:r>
          </a:p>
          <a:p>
            <a:pPr lvl="1"/>
            <a:r>
              <a:rPr lang="pt-PT" sz="1600" dirty="0"/>
              <a:t> 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i_l</a:t>
            </a:r>
            <a:r>
              <a:rPr lang="pt-PT" sz="1600" dirty="0"/>
              <a:t> = !</a:t>
            </a:r>
            <a:r>
              <a:rPr lang="pt-PT" sz="1600" dirty="0" err="1"/>
              <a:t>i_r</a:t>
            </a:r>
            <a:r>
              <a:rPr lang="pt-PT" sz="1600" dirty="0"/>
              <a:t> &amp;&amp; !</a:t>
            </a:r>
            <a:r>
              <a:rPr lang="pt-PT" sz="1600" dirty="0" err="1"/>
              <a:t>res_l</a:t>
            </a:r>
            <a:r>
              <a:rPr lang="pt-PT" sz="1600" dirty="0"/>
              <a:t> = ! </a:t>
            </a:r>
            <a:r>
              <a:rPr lang="pt-PT" sz="1600" dirty="0" err="1"/>
              <a:t>res_r</a:t>
            </a:r>
            <a:r>
              <a:rPr lang="pt-PT" sz="1600" dirty="0"/>
              <a:t> *)</a:t>
            </a:r>
          </a:p>
          <a:p>
            <a:pPr lvl="1"/>
            <a:r>
              <a:rPr lang="en-US" sz="1600" dirty="0"/>
              <a:t>	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previous_res_l</a:t>
            </a:r>
            <a:r>
              <a:rPr lang="en-US" sz="1600" dirty="0"/>
              <a:t> = !</a:t>
            </a:r>
            <a:r>
              <a:rPr lang="en-US" sz="1600" dirty="0" err="1"/>
              <a:t>res_l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j_l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j_r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pPr lvl="1"/>
            <a:r>
              <a:rPr lang="en-US" sz="1600" dirty="0"/>
              <a:t>	</a:t>
            </a:r>
          </a:p>
          <a:p>
            <a:pPr lvl="1"/>
            <a:r>
              <a:rPr lang="en-US" sz="1600" dirty="0"/>
              <a:t>	 	</a:t>
            </a:r>
          </a:p>
        </p:txBody>
      </p:sp>
    </p:spTree>
    <p:extLst>
      <p:ext uri="{BB962C8B-B14F-4D97-AF65-F5344CB8AC3E}">
        <p14:creationId xmlns:p14="http://schemas.microsoft.com/office/powerpoint/2010/main" val="4242151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320333-94D6-A776-B862-B795AF7C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7386D-40D1-775D-9328-BEFA5142C258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mult - Product Program  (2/2)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2059E-5343-3455-7802-BB232008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26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5495DE-E673-BFF5-0798-A90B073A9545}"/>
              </a:ext>
            </a:extLst>
          </p:cNvPr>
          <p:cNvSpPr txBox="1"/>
          <p:nvPr/>
        </p:nvSpPr>
        <p:spPr>
          <a:xfrm>
            <a:off x="0" y="1238698"/>
            <a:ext cx="7103868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pt-PT" sz="1600" dirty="0"/>
              <a:t>		</a:t>
            </a:r>
            <a:r>
              <a:rPr lang="pt-PT" sz="1600" dirty="0" err="1">
                <a:solidFill>
                  <a:srgbClr val="F3530B"/>
                </a:solidFill>
              </a:rPr>
              <a:t>while</a:t>
            </a:r>
            <a:r>
              <a:rPr lang="pt-PT" sz="1600" dirty="0"/>
              <a:t> (!</a:t>
            </a:r>
            <a:r>
              <a:rPr lang="pt-PT" sz="1600" dirty="0" err="1"/>
              <a:t>j_l</a:t>
            </a:r>
            <a:r>
              <a:rPr lang="pt-PT" sz="1600" dirty="0"/>
              <a:t> &lt; </a:t>
            </a:r>
            <a:r>
              <a:rPr lang="pt-PT" sz="1600" dirty="0" err="1"/>
              <a:t>m_l</a:t>
            </a:r>
            <a:r>
              <a:rPr lang="pt-PT" sz="1600" dirty="0"/>
              <a:t>) </a:t>
            </a:r>
            <a:r>
              <a:rPr lang="pt-PT" sz="1600" dirty="0">
                <a:solidFill>
                  <a:srgbClr val="F3530B"/>
                </a:solidFill>
              </a:rPr>
              <a:t>do</a:t>
            </a:r>
            <a:r>
              <a:rPr lang="pt-PT" sz="1600" dirty="0"/>
              <a:t> </a:t>
            </a:r>
          </a:p>
          <a:p>
            <a:pPr lvl="1"/>
            <a:r>
              <a:rPr lang="pt-PT" sz="1600" dirty="0"/>
              <a:t>			(*@ </a:t>
            </a:r>
            <a:r>
              <a:rPr lang="pt-PT" sz="1600" dirty="0" err="1">
                <a:solidFill>
                  <a:srgbClr val="F3530B"/>
                </a:solidFill>
              </a:rPr>
              <a:t>variant</a:t>
            </a:r>
            <a:r>
              <a:rPr lang="pt-PT" sz="1600" dirty="0"/>
              <a:t>     </a:t>
            </a:r>
            <a:r>
              <a:rPr lang="pt-PT" sz="1600" dirty="0" err="1"/>
              <a:t>m_l</a:t>
            </a:r>
            <a:r>
              <a:rPr lang="pt-PT" sz="1600" dirty="0"/>
              <a:t> - !</a:t>
            </a:r>
            <a:r>
              <a:rPr lang="pt-PT" sz="1600" dirty="0" err="1"/>
              <a:t>j_l</a:t>
            </a:r>
            <a:r>
              <a:rPr lang="pt-PT" sz="1600" dirty="0"/>
              <a:t> </a:t>
            </a:r>
          </a:p>
          <a:p>
            <a:pPr lvl="1"/>
            <a:r>
              <a:rPr lang="pt-PT" sz="1600" dirty="0"/>
              <a:t>	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0 ≤ !</a:t>
            </a:r>
            <a:r>
              <a:rPr lang="pt-PT" sz="1600" dirty="0" err="1"/>
              <a:t>j_l</a:t>
            </a:r>
            <a:r>
              <a:rPr lang="pt-PT" sz="1600" dirty="0"/>
              <a:t> &amp;&amp; !</a:t>
            </a:r>
            <a:r>
              <a:rPr lang="pt-PT" sz="1600" dirty="0" err="1"/>
              <a:t>j_l</a:t>
            </a:r>
            <a:r>
              <a:rPr lang="pt-PT" sz="1600" dirty="0"/>
              <a:t> ≤ </a:t>
            </a:r>
            <a:r>
              <a:rPr lang="pt-PT" sz="1600" dirty="0" err="1"/>
              <a:t>m_l</a:t>
            </a:r>
            <a:r>
              <a:rPr lang="pt-PT" sz="1600" dirty="0"/>
              <a:t> &amp;&amp; !</a:t>
            </a:r>
            <a:r>
              <a:rPr lang="pt-PT" sz="1600" dirty="0" err="1"/>
              <a:t>res_l</a:t>
            </a:r>
            <a:r>
              <a:rPr lang="pt-PT" sz="1600" dirty="0"/>
              <a:t> = !</a:t>
            </a:r>
            <a:r>
              <a:rPr lang="pt-PT" sz="1600" dirty="0" err="1"/>
              <a:t>res_r</a:t>
            </a:r>
            <a:r>
              <a:rPr lang="pt-PT" sz="1600" dirty="0"/>
              <a:t> + !</a:t>
            </a:r>
            <a:r>
              <a:rPr lang="pt-PT" sz="1600" dirty="0" err="1"/>
              <a:t>j_l</a:t>
            </a:r>
            <a:r>
              <a:rPr lang="pt-PT" sz="1600" dirty="0"/>
              <a:t> *)</a:t>
            </a:r>
          </a:p>
          <a:p>
            <a:pPr lvl="1"/>
            <a:endParaRPr lang="pt-PT" sz="1600" dirty="0"/>
          </a:p>
          <a:p>
            <a:pPr lvl="1"/>
            <a:r>
              <a:rPr lang="pt-PT" sz="1600" dirty="0"/>
              <a:t>			</a:t>
            </a:r>
            <a:r>
              <a:rPr lang="pt-PT" sz="1600" dirty="0" err="1"/>
              <a:t>res_l</a:t>
            </a:r>
            <a:r>
              <a:rPr lang="pt-PT" sz="1600" dirty="0"/>
              <a:t> := (!</a:t>
            </a:r>
            <a:r>
              <a:rPr lang="pt-PT" sz="1600" dirty="0" err="1"/>
              <a:t>res_l</a:t>
            </a:r>
            <a:r>
              <a:rPr lang="pt-PT" sz="1600" dirty="0"/>
              <a:t> + 1); </a:t>
            </a:r>
          </a:p>
          <a:p>
            <a:pPr lvl="1"/>
            <a:r>
              <a:rPr lang="pt-PT" sz="1600" dirty="0"/>
              <a:t>			</a:t>
            </a:r>
            <a:r>
              <a:rPr lang="pt-PT" sz="1600" dirty="0" err="1"/>
              <a:t>j_l</a:t>
            </a:r>
            <a:r>
              <a:rPr lang="pt-PT" sz="1600" dirty="0"/>
              <a:t> := (!</a:t>
            </a:r>
            <a:r>
              <a:rPr lang="pt-PT" sz="1600" dirty="0" err="1"/>
              <a:t>j_l</a:t>
            </a:r>
            <a:r>
              <a:rPr lang="pt-PT" sz="1600" dirty="0"/>
              <a:t> + 1) </a:t>
            </a:r>
          </a:p>
          <a:p>
            <a:pPr lvl="1"/>
            <a:r>
              <a:rPr lang="pt-PT" sz="1600" dirty="0"/>
              <a:t>		</a:t>
            </a:r>
            <a:r>
              <a:rPr lang="pt-PT" sz="1600" dirty="0" err="1">
                <a:solidFill>
                  <a:srgbClr val="F3530B"/>
                </a:solidFill>
              </a:rPr>
              <a:t>done</a:t>
            </a:r>
            <a:r>
              <a:rPr lang="pt-PT" sz="1600" dirty="0"/>
              <a:t>;</a:t>
            </a:r>
          </a:p>
          <a:p>
            <a:pPr lvl="1"/>
            <a:endParaRPr lang="pt-PT" sz="1600" dirty="0"/>
          </a:p>
          <a:p>
            <a:pPr lvl="1"/>
            <a:r>
              <a:rPr lang="pt-PT" sz="1600" dirty="0"/>
              <a:t>		</a:t>
            </a:r>
            <a:r>
              <a:rPr lang="pt-PT" sz="1600" dirty="0" err="1"/>
              <a:t>res_r</a:t>
            </a:r>
            <a:r>
              <a:rPr lang="pt-PT" sz="1600" dirty="0"/>
              <a:t> := (!</a:t>
            </a:r>
            <a:r>
              <a:rPr lang="pt-PT" sz="1600" dirty="0" err="1"/>
              <a:t>res_r</a:t>
            </a:r>
            <a:r>
              <a:rPr lang="pt-PT" sz="1600" dirty="0"/>
              <a:t> + </a:t>
            </a:r>
            <a:r>
              <a:rPr lang="pt-PT" sz="1600" dirty="0" err="1"/>
              <a:t>m_r</a:t>
            </a:r>
            <a:r>
              <a:rPr lang="pt-PT" sz="1600" dirty="0"/>
              <a:t>); </a:t>
            </a:r>
          </a:p>
          <a:p>
            <a:pPr lvl="1"/>
            <a:r>
              <a:rPr lang="pt-PT" sz="1600" dirty="0"/>
              <a:t>		</a:t>
            </a:r>
            <a:r>
              <a:rPr lang="pt-PT" sz="1600" dirty="0" err="1">
                <a:solidFill>
                  <a:srgbClr val="F3530B"/>
                </a:solidFill>
              </a:rPr>
              <a:t>assert</a:t>
            </a:r>
            <a:r>
              <a:rPr lang="pt-PT" sz="1600" dirty="0"/>
              <a:t> ((!</a:t>
            </a:r>
            <a:r>
              <a:rPr lang="pt-PT" sz="1600" dirty="0" err="1"/>
              <a:t>res_l</a:t>
            </a:r>
            <a:r>
              <a:rPr lang="pt-PT" sz="1600" dirty="0"/>
              <a:t> = (</a:t>
            </a:r>
            <a:r>
              <a:rPr lang="pt-PT" sz="1600" dirty="0" err="1"/>
              <a:t>previous_res_l</a:t>
            </a:r>
            <a:r>
              <a:rPr lang="pt-PT" sz="1600" dirty="0"/>
              <a:t> + </a:t>
            </a:r>
            <a:r>
              <a:rPr lang="pt-PT" sz="1600" dirty="0" err="1"/>
              <a:t>m_l</a:t>
            </a:r>
            <a:r>
              <a:rPr lang="pt-PT" sz="1600" dirty="0"/>
              <a:t>))); </a:t>
            </a:r>
          </a:p>
          <a:p>
            <a:pPr lvl="1"/>
            <a:r>
              <a:rPr lang="pt-PT" sz="1600" dirty="0"/>
              <a:t>		</a:t>
            </a:r>
            <a:r>
              <a:rPr lang="pt-PT" sz="1600" dirty="0" err="1"/>
              <a:t>i_l</a:t>
            </a:r>
            <a:r>
              <a:rPr lang="pt-PT" sz="1600" dirty="0"/>
              <a:t> := (!</a:t>
            </a:r>
            <a:r>
              <a:rPr lang="pt-PT" sz="1600" dirty="0" err="1"/>
              <a:t>i_l</a:t>
            </a:r>
            <a:r>
              <a:rPr lang="pt-PT" sz="1600" dirty="0"/>
              <a:t> + 1); </a:t>
            </a:r>
          </a:p>
          <a:p>
            <a:pPr lvl="1"/>
            <a:r>
              <a:rPr lang="pt-PT" sz="1600" dirty="0"/>
              <a:t>		</a:t>
            </a:r>
            <a:r>
              <a:rPr lang="pt-PT" sz="1600" dirty="0" err="1"/>
              <a:t>i_r</a:t>
            </a:r>
            <a:r>
              <a:rPr lang="pt-PT" sz="1600" dirty="0"/>
              <a:t> := (!</a:t>
            </a:r>
            <a:r>
              <a:rPr lang="pt-PT" sz="1600" dirty="0" err="1"/>
              <a:t>i_r</a:t>
            </a:r>
            <a:r>
              <a:rPr lang="pt-PT" sz="1600" dirty="0"/>
              <a:t> + 1) </a:t>
            </a:r>
          </a:p>
          <a:p>
            <a:pPr lvl="1"/>
            <a:r>
              <a:rPr lang="pt-PT" sz="1600" dirty="0"/>
              <a:t>	</a:t>
            </a:r>
            <a:r>
              <a:rPr lang="pt-PT" sz="1600" dirty="0" err="1">
                <a:solidFill>
                  <a:srgbClr val="F3530B"/>
                </a:solidFill>
              </a:rPr>
              <a:t>done</a:t>
            </a:r>
            <a:r>
              <a:rPr lang="pt-PT" sz="1600" dirty="0"/>
              <a:t>; </a:t>
            </a:r>
          </a:p>
          <a:p>
            <a:pPr lvl="1"/>
            <a:endParaRPr lang="pt-PT" sz="1600" dirty="0"/>
          </a:p>
          <a:p>
            <a:pPr lvl="1"/>
            <a:r>
              <a:rPr lang="pt-PT" sz="1600" dirty="0"/>
              <a:t>	(!</a:t>
            </a:r>
            <a:r>
              <a:rPr lang="pt-PT" sz="1600" dirty="0" err="1"/>
              <a:t>res_l</a:t>
            </a:r>
            <a:r>
              <a:rPr lang="pt-PT" sz="1600" dirty="0"/>
              <a:t>, !</a:t>
            </a:r>
            <a:r>
              <a:rPr lang="pt-PT" sz="1600" dirty="0" err="1"/>
              <a:t>res_r</a:t>
            </a:r>
            <a:r>
              <a:rPr lang="pt-PT" sz="1600" dirty="0"/>
              <a:t>) </a:t>
            </a:r>
          </a:p>
          <a:p>
            <a:pPr lvl="1"/>
            <a:r>
              <a:rPr lang="pt-PT" sz="1600" dirty="0"/>
              <a:t>(*@ </a:t>
            </a:r>
            <a:r>
              <a:rPr lang="pt-PT" sz="1600" dirty="0" err="1">
                <a:solidFill>
                  <a:srgbClr val="F3530B"/>
                </a:solidFill>
              </a:rPr>
              <a:t>requires</a:t>
            </a:r>
            <a:r>
              <a:rPr lang="pt-PT" sz="1600" dirty="0"/>
              <a:t>  </a:t>
            </a:r>
            <a:r>
              <a:rPr lang="pt-PT" sz="1600" dirty="0" err="1"/>
              <a:t>n_l</a:t>
            </a:r>
            <a:r>
              <a:rPr lang="pt-PT" sz="1600" dirty="0"/>
              <a:t> = </a:t>
            </a:r>
            <a:r>
              <a:rPr lang="pt-PT" sz="1600" dirty="0" err="1"/>
              <a:t>n_r</a:t>
            </a:r>
            <a:r>
              <a:rPr lang="pt-PT" sz="1600" dirty="0"/>
              <a:t> &amp;&amp; </a:t>
            </a:r>
            <a:r>
              <a:rPr lang="pt-PT" sz="1600" dirty="0" err="1"/>
              <a:t>m_l</a:t>
            </a:r>
            <a:r>
              <a:rPr lang="pt-PT" sz="1600" dirty="0"/>
              <a:t> = </a:t>
            </a:r>
            <a:r>
              <a:rPr lang="pt-PT" sz="1600" dirty="0" err="1"/>
              <a:t>m_r</a:t>
            </a:r>
            <a:r>
              <a:rPr lang="pt-PT" sz="1600" dirty="0"/>
              <a:t> &amp;&amp; </a:t>
            </a:r>
            <a:r>
              <a:rPr lang="pt-PT" sz="1600" dirty="0" err="1"/>
              <a:t>m_l</a:t>
            </a:r>
            <a:r>
              <a:rPr lang="pt-PT" sz="1600" dirty="0"/>
              <a:t> ≥ 0 </a:t>
            </a:r>
          </a:p>
          <a:p>
            <a:pPr lvl="1"/>
            <a:r>
              <a:rPr lang="pt-PT" sz="1600" dirty="0"/>
              <a:t>         </a:t>
            </a:r>
            <a:r>
              <a:rPr lang="pt-PT" sz="1600" dirty="0" err="1">
                <a:solidFill>
                  <a:srgbClr val="F3530B"/>
                </a:solidFill>
              </a:rPr>
              <a:t>ensures</a:t>
            </a:r>
            <a:r>
              <a:rPr lang="pt-PT" sz="1600" dirty="0"/>
              <a:t>  match </a:t>
            </a:r>
            <a:r>
              <a:rPr lang="pt-PT" sz="1600" dirty="0" err="1"/>
              <a:t>result</a:t>
            </a:r>
            <a:r>
              <a:rPr lang="pt-PT" sz="1600" dirty="0"/>
              <a:t> </a:t>
            </a:r>
            <a:r>
              <a:rPr lang="pt-PT" sz="1600" dirty="0" err="1"/>
              <a:t>with</a:t>
            </a:r>
            <a:r>
              <a:rPr lang="pt-PT" sz="1600" dirty="0"/>
              <a:t> (</a:t>
            </a:r>
            <a:r>
              <a:rPr lang="pt-PT" sz="1600" dirty="0" err="1"/>
              <a:t>l_res</a:t>
            </a:r>
            <a:r>
              <a:rPr lang="pt-PT" sz="1600" dirty="0"/>
              <a:t>, </a:t>
            </a:r>
            <a:r>
              <a:rPr lang="pt-PT" sz="1600" dirty="0" err="1"/>
              <a:t>r_res</a:t>
            </a:r>
            <a:r>
              <a:rPr lang="pt-PT" sz="1600" dirty="0"/>
              <a:t>) → </a:t>
            </a:r>
            <a:r>
              <a:rPr lang="pt-PT" sz="1600" dirty="0" err="1"/>
              <a:t>l_res</a:t>
            </a:r>
            <a:r>
              <a:rPr lang="pt-PT" sz="1600" dirty="0"/>
              <a:t> = </a:t>
            </a:r>
            <a:r>
              <a:rPr lang="pt-PT" sz="1600" dirty="0" err="1"/>
              <a:t>r_res</a:t>
            </a:r>
            <a:r>
              <a:rPr lang="pt-PT" sz="1600" dirty="0"/>
              <a:t> *)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1263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B641-193F-38C8-53D8-87AE74B9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CD398-4FE2-78BB-20AC-437120CB1218}"/>
              </a:ext>
            </a:extLst>
          </p:cNvPr>
          <p:cNvSpPr txBox="1"/>
          <p:nvPr/>
        </p:nvSpPr>
        <p:spPr>
          <a:xfrm>
            <a:off x="469556" y="626071"/>
            <a:ext cx="8204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Induction Variable Strength Reduction -</a:t>
            </a:r>
          </a:p>
          <a:p>
            <a:r>
              <a:rPr lang="pt-PT" sz="2800" noProof="1">
                <a:solidFill>
                  <a:srgbClr val="002060"/>
                </a:solidFill>
              </a:rPr>
              <a:t>Source Program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8AA87-54B8-6C37-3F26-5C8FDD9E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27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43B5-6238-A236-23DC-473506BC36DE}"/>
              </a:ext>
            </a:extLst>
          </p:cNvPr>
          <p:cNvSpPr txBox="1"/>
          <p:nvPr/>
        </p:nvSpPr>
        <p:spPr>
          <a:xfrm>
            <a:off x="469556" y="1903254"/>
            <a:ext cx="609897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induc_var_strength_red_source</a:t>
            </a:r>
            <a:r>
              <a:rPr lang="en-US" sz="1600" dirty="0"/>
              <a:t> (b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, c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, n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)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3530B"/>
                </a:solidFill>
              </a:rPr>
              <a:t>begin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j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x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endParaRPr lang="en-US" sz="1600" dirty="0"/>
          </a:p>
          <a:p>
            <a:r>
              <a:rPr lang="en-US" sz="1600" dirty="0"/>
              <a:t>	</a:t>
            </a:r>
            <a:r>
              <a:rPr lang="pt-PT" sz="1600" dirty="0" err="1">
                <a:solidFill>
                  <a:srgbClr val="F3530B"/>
                </a:solidFill>
              </a:rPr>
              <a:t>while</a:t>
            </a:r>
            <a:r>
              <a:rPr lang="pt-PT" sz="1600" dirty="0"/>
              <a:t> !i &lt; n </a:t>
            </a:r>
            <a:r>
              <a:rPr lang="pt-PT" sz="1600" dirty="0">
                <a:solidFill>
                  <a:srgbClr val="F3530B"/>
                </a:solidFill>
              </a:rPr>
              <a:t>do</a:t>
            </a:r>
            <a:r>
              <a:rPr lang="pt-PT" sz="1600" dirty="0"/>
              <a:t> </a:t>
            </a:r>
          </a:p>
          <a:p>
            <a:pPr lvl="1"/>
            <a:r>
              <a:rPr lang="pt-PT" sz="1600" dirty="0"/>
              <a:t>	j := !i * b + c;</a:t>
            </a:r>
          </a:p>
          <a:p>
            <a:pPr lvl="2"/>
            <a:r>
              <a:rPr lang="pt-PT" sz="1600" dirty="0"/>
              <a:t>x := !x + !j;</a:t>
            </a:r>
          </a:p>
          <a:p>
            <a:pPr lvl="2"/>
            <a:r>
              <a:rPr lang="pt-PT" sz="1600" dirty="0"/>
              <a:t>i := !i + 1</a:t>
            </a:r>
          </a:p>
          <a:p>
            <a:pPr lvl="1"/>
            <a:r>
              <a:rPr lang="pt-PT" sz="1600" dirty="0" err="1">
                <a:solidFill>
                  <a:srgbClr val="F3530B"/>
                </a:solidFill>
              </a:rPr>
              <a:t>done</a:t>
            </a:r>
            <a:r>
              <a:rPr lang="pt-PT" sz="1600" dirty="0"/>
              <a:t>;</a:t>
            </a:r>
          </a:p>
          <a:p>
            <a:pPr lvl="1"/>
            <a:endParaRPr lang="pt-PT" sz="1600" dirty="0"/>
          </a:p>
          <a:p>
            <a:pPr lvl="1"/>
            <a:r>
              <a:rPr lang="pt-PT" sz="1600" dirty="0"/>
              <a:t>!x</a:t>
            </a:r>
          </a:p>
          <a:p>
            <a:r>
              <a:rPr lang="pt-PT" sz="1600" dirty="0" err="1">
                <a:solidFill>
                  <a:srgbClr val="F3530B"/>
                </a:solidFill>
              </a:rPr>
              <a:t>end</a:t>
            </a:r>
            <a:endParaRPr lang="pt-PT" sz="1600" dirty="0">
              <a:solidFill>
                <a:srgbClr val="F3530B"/>
              </a:solidFill>
            </a:endParaRP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40877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0B36-048C-8342-A682-61242236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B3481-2791-1108-3814-E74536B31B8F}"/>
              </a:ext>
            </a:extLst>
          </p:cNvPr>
          <p:cNvSpPr txBox="1"/>
          <p:nvPr/>
        </p:nvSpPr>
        <p:spPr>
          <a:xfrm>
            <a:off x="469556" y="626071"/>
            <a:ext cx="8204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Induction Variable Strength Reduction -</a:t>
            </a:r>
          </a:p>
          <a:p>
            <a:r>
              <a:rPr lang="pt-PT" sz="2800" noProof="1">
                <a:solidFill>
                  <a:srgbClr val="002060"/>
                </a:solidFill>
              </a:rPr>
              <a:t>Optimized Program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EFDC3-AE26-2FC4-1F10-057A2D0B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28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EA6E1-6242-7998-6CE8-F2E544B851F3}"/>
              </a:ext>
            </a:extLst>
          </p:cNvPr>
          <p:cNvSpPr txBox="1"/>
          <p:nvPr/>
        </p:nvSpPr>
        <p:spPr>
          <a:xfrm>
            <a:off x="469556" y="1903254"/>
            <a:ext cx="636802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induc_var_strength_red_optimized</a:t>
            </a:r>
            <a:r>
              <a:rPr lang="en-US" sz="1600" dirty="0"/>
              <a:t> (b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, c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, n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)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F3530B"/>
                </a:solidFill>
              </a:rPr>
              <a:t>begin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j = ref c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x = ref 0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endParaRPr lang="en-US" sz="1600" dirty="0"/>
          </a:p>
          <a:p>
            <a:r>
              <a:rPr lang="en-US" sz="1600" dirty="0"/>
              <a:t>	</a:t>
            </a:r>
            <a:r>
              <a:rPr lang="pt-PT" sz="1600" dirty="0" err="1">
                <a:solidFill>
                  <a:srgbClr val="F3530B"/>
                </a:solidFill>
              </a:rPr>
              <a:t>while</a:t>
            </a:r>
            <a:r>
              <a:rPr lang="pt-PT" sz="1600" dirty="0"/>
              <a:t> !i &lt; n </a:t>
            </a:r>
            <a:r>
              <a:rPr lang="pt-PT" sz="1600" dirty="0">
                <a:solidFill>
                  <a:srgbClr val="F3530B"/>
                </a:solidFill>
              </a:rPr>
              <a:t>do</a:t>
            </a:r>
            <a:r>
              <a:rPr lang="pt-PT" sz="1600" dirty="0"/>
              <a:t> </a:t>
            </a:r>
          </a:p>
          <a:p>
            <a:pPr lvl="1"/>
            <a:r>
              <a:rPr lang="pt-PT" sz="1600" dirty="0"/>
              <a:t>	x := !x + !j;</a:t>
            </a:r>
          </a:p>
          <a:p>
            <a:pPr lvl="2"/>
            <a:r>
              <a:rPr lang="pt-PT" sz="1600" dirty="0"/>
              <a:t>j := !j + b;</a:t>
            </a:r>
          </a:p>
          <a:p>
            <a:pPr lvl="2"/>
            <a:r>
              <a:rPr lang="pt-PT" sz="1600" dirty="0"/>
              <a:t>i := !i + 1</a:t>
            </a:r>
          </a:p>
          <a:p>
            <a:pPr lvl="1"/>
            <a:r>
              <a:rPr lang="pt-PT" sz="1600" dirty="0" err="1">
                <a:solidFill>
                  <a:srgbClr val="F3530B"/>
                </a:solidFill>
              </a:rPr>
              <a:t>done</a:t>
            </a:r>
            <a:r>
              <a:rPr lang="pt-PT" sz="1600" dirty="0"/>
              <a:t>;</a:t>
            </a:r>
          </a:p>
          <a:p>
            <a:pPr lvl="1"/>
            <a:endParaRPr lang="pt-PT" sz="1600" dirty="0"/>
          </a:p>
          <a:p>
            <a:pPr lvl="1"/>
            <a:r>
              <a:rPr lang="pt-PT" sz="1600" dirty="0"/>
              <a:t>!x</a:t>
            </a:r>
          </a:p>
          <a:p>
            <a:r>
              <a:rPr lang="pt-PT" sz="1600" dirty="0" err="1">
                <a:solidFill>
                  <a:srgbClr val="F3530B"/>
                </a:solidFill>
              </a:rPr>
              <a:t>end</a:t>
            </a:r>
            <a:endParaRPr lang="pt-PT" sz="1600" dirty="0">
              <a:solidFill>
                <a:srgbClr val="F3530B"/>
              </a:solidFill>
            </a:endParaRP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7526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0733-55AD-4ED3-44A6-BA5CA7A3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E09081-DDD9-7A3F-11CB-68DCEF1CE62C}"/>
              </a:ext>
            </a:extLst>
          </p:cNvPr>
          <p:cNvSpPr txBox="1"/>
          <p:nvPr/>
        </p:nvSpPr>
        <p:spPr>
          <a:xfrm>
            <a:off x="469556" y="518979"/>
            <a:ext cx="8204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Induction Variable Strength Reduction -</a:t>
            </a:r>
          </a:p>
          <a:p>
            <a:r>
              <a:rPr lang="pt-PT" sz="2800" noProof="1">
                <a:solidFill>
                  <a:srgbClr val="002060"/>
                </a:solidFill>
              </a:rPr>
              <a:t>Biprogram (1/2)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2D6D9-0388-168C-1CFC-72AFA60A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29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F00FC-CCBA-53EB-320C-C7192B7C6C42}"/>
              </a:ext>
            </a:extLst>
          </p:cNvPr>
          <p:cNvSpPr txBox="1"/>
          <p:nvPr/>
        </p:nvSpPr>
        <p:spPr>
          <a:xfrm>
            <a:off x="469556" y="1683127"/>
            <a:ext cx="760131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induc_var_strength_red_biprogram</a:t>
            </a:r>
            <a:r>
              <a:rPr lang="en-US" sz="1600" dirty="0"/>
              <a:t> (|_b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_|, |_c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_|, |_n : 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_|) : |_</a:t>
            </a:r>
            <a:r>
              <a:rPr lang="en-US" sz="1600" dirty="0">
                <a:solidFill>
                  <a:srgbClr val="F3530B"/>
                </a:solidFill>
              </a:rPr>
              <a:t>int</a:t>
            </a:r>
            <a:r>
              <a:rPr lang="en-US" sz="1600" dirty="0"/>
              <a:t>_| = </a:t>
            </a:r>
            <a:r>
              <a:rPr lang="en-US" sz="1600" dirty="0">
                <a:solidFill>
                  <a:srgbClr val="F3530B"/>
                </a:solidFill>
              </a:rPr>
              <a:t>begin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|_ ref 0 _|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j = ref 0 &lt;|&gt; ref c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x = |_ ref 0 _|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endParaRPr lang="en-US" sz="1600" dirty="0"/>
          </a:p>
          <a:p>
            <a:r>
              <a:rPr lang="en-US" sz="1600" dirty="0"/>
              <a:t>	</a:t>
            </a:r>
            <a:r>
              <a:rPr lang="pt-PT" sz="1600" dirty="0" err="1">
                <a:solidFill>
                  <a:srgbClr val="F3530B"/>
                </a:solidFill>
              </a:rPr>
              <a:t>while</a:t>
            </a:r>
            <a:r>
              <a:rPr lang="pt-PT" sz="1600" dirty="0"/>
              <a:t> |_ !i &lt; n _| </a:t>
            </a:r>
            <a:r>
              <a:rPr lang="pt-PT" sz="1600" dirty="0">
                <a:solidFill>
                  <a:srgbClr val="F3530B"/>
                </a:solidFill>
              </a:rPr>
              <a:t>do</a:t>
            </a:r>
            <a:r>
              <a:rPr lang="pt-PT" sz="1600" dirty="0"/>
              <a:t> </a:t>
            </a:r>
          </a:p>
          <a:p>
            <a:r>
              <a:rPr lang="pt-PT" sz="1600" dirty="0"/>
              <a:t>		(*@ </a:t>
            </a:r>
            <a:r>
              <a:rPr lang="pt-PT" sz="1600" dirty="0" err="1">
                <a:solidFill>
                  <a:srgbClr val="F3530B"/>
                </a:solidFill>
              </a:rPr>
              <a:t>variant</a:t>
            </a:r>
            <a:r>
              <a:rPr lang="pt-PT" sz="1600" dirty="0"/>
              <a:t>      </a:t>
            </a:r>
            <a:r>
              <a:rPr lang="pt-PT" sz="1600" dirty="0" err="1"/>
              <a:t>n_l</a:t>
            </a:r>
            <a:r>
              <a:rPr lang="pt-PT" sz="1600" dirty="0"/>
              <a:t> - !</a:t>
            </a:r>
            <a:r>
              <a:rPr lang="pt-PT" sz="1600" dirty="0" err="1"/>
              <a:t>i_l</a:t>
            </a:r>
            <a:r>
              <a:rPr lang="pt-PT" sz="1600" dirty="0"/>
              <a:t> </a:t>
            </a:r>
          </a:p>
          <a:p>
            <a:r>
              <a:rPr lang="pt-PT" sz="1600" dirty="0"/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i_l</a:t>
            </a:r>
            <a:r>
              <a:rPr lang="pt-PT" sz="1600" dirty="0"/>
              <a:t> = !</a:t>
            </a:r>
            <a:r>
              <a:rPr lang="pt-PT" sz="1600" dirty="0" err="1"/>
              <a:t>i_r</a:t>
            </a:r>
            <a:r>
              <a:rPr lang="pt-PT" sz="1600" dirty="0"/>
              <a:t> </a:t>
            </a:r>
          </a:p>
          <a:p>
            <a:r>
              <a:rPr lang="pt-PT" sz="1600" dirty="0"/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x_l</a:t>
            </a:r>
            <a:r>
              <a:rPr lang="pt-PT" sz="1600" dirty="0"/>
              <a:t> = !</a:t>
            </a:r>
            <a:r>
              <a:rPr lang="pt-PT" sz="1600" dirty="0" err="1"/>
              <a:t>x_r</a:t>
            </a:r>
            <a:r>
              <a:rPr lang="pt-PT" sz="1600" dirty="0"/>
              <a:t> </a:t>
            </a:r>
          </a:p>
          <a:p>
            <a:r>
              <a:rPr lang="pt-PT" sz="1600" dirty="0"/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j_r</a:t>
            </a:r>
            <a:r>
              <a:rPr lang="pt-PT" sz="1600" dirty="0"/>
              <a:t> = !</a:t>
            </a:r>
            <a:r>
              <a:rPr lang="pt-PT" sz="1600" dirty="0" err="1"/>
              <a:t>i_r</a:t>
            </a:r>
            <a:r>
              <a:rPr lang="pt-PT" sz="1600" dirty="0"/>
              <a:t> * </a:t>
            </a:r>
            <a:r>
              <a:rPr lang="pt-PT" sz="1600" dirty="0" err="1"/>
              <a:t>b_r</a:t>
            </a:r>
            <a:r>
              <a:rPr lang="pt-PT" sz="1600" dirty="0"/>
              <a:t> + </a:t>
            </a:r>
            <a:r>
              <a:rPr lang="pt-PT" sz="1600" dirty="0" err="1"/>
              <a:t>c_r</a:t>
            </a:r>
            <a:r>
              <a:rPr lang="pt-PT" sz="1600" dirty="0"/>
              <a:t> *)</a:t>
            </a:r>
          </a:p>
          <a:p>
            <a:endParaRPr lang="pt-PT" sz="1600" dirty="0"/>
          </a:p>
          <a:p>
            <a:pPr lvl="1"/>
            <a:r>
              <a:rPr lang="pt-PT" sz="1600" dirty="0"/>
              <a:t>	j := !i * b + c &lt;|&gt; x := !x + !j;</a:t>
            </a:r>
          </a:p>
          <a:p>
            <a:pPr lvl="2"/>
            <a:r>
              <a:rPr lang="pt-PT" sz="1600" dirty="0"/>
              <a:t>x := !x + !j 	   &lt;|&gt; j := !j + b;</a:t>
            </a:r>
          </a:p>
          <a:p>
            <a:pPr lvl="2"/>
            <a:r>
              <a:rPr lang="pt-PT" sz="1600" dirty="0"/>
              <a:t>i := |_ !i + 1 _| </a:t>
            </a:r>
          </a:p>
          <a:p>
            <a:pPr lvl="1"/>
            <a:r>
              <a:rPr lang="pt-PT" sz="1600" dirty="0" err="1">
                <a:solidFill>
                  <a:srgbClr val="F3530B"/>
                </a:solidFill>
              </a:rPr>
              <a:t>done</a:t>
            </a:r>
            <a:r>
              <a:rPr lang="pt-PT" sz="1600" dirty="0"/>
              <a:t>;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36168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1FDB7-90FF-21A6-6F09-B6D54E71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08881E-60A0-B35C-D78C-A72E6194C682}"/>
              </a:ext>
            </a:extLst>
          </p:cNvPr>
          <p:cNvSpPr txBox="1"/>
          <p:nvPr/>
        </p:nvSpPr>
        <p:spPr>
          <a:xfrm>
            <a:off x="469556" y="626071"/>
            <a:ext cx="8204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Induction Variable Strength Reduction -</a:t>
            </a:r>
          </a:p>
          <a:p>
            <a:r>
              <a:rPr lang="pt-PT" sz="2800" noProof="1">
                <a:solidFill>
                  <a:srgbClr val="002060"/>
                </a:solidFill>
              </a:rPr>
              <a:t>Biprogram  (2/2)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200C5-25B2-2B59-E325-BA1D0A3F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30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FBF70-DB88-940F-70C9-28E8CA13AE2F}"/>
              </a:ext>
            </a:extLst>
          </p:cNvPr>
          <p:cNvSpPr txBox="1"/>
          <p:nvPr/>
        </p:nvSpPr>
        <p:spPr>
          <a:xfrm>
            <a:off x="469556" y="2192184"/>
            <a:ext cx="545841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	|_ !x _| </a:t>
            </a:r>
          </a:p>
          <a:p>
            <a:r>
              <a:rPr lang="pt-PT" sz="1600" dirty="0" err="1">
                <a:solidFill>
                  <a:srgbClr val="F3530B"/>
                </a:solidFill>
              </a:rPr>
              <a:t>end</a:t>
            </a:r>
            <a:r>
              <a:rPr lang="pt-PT" sz="1600" dirty="0"/>
              <a:t> </a:t>
            </a:r>
          </a:p>
          <a:p>
            <a:r>
              <a:rPr lang="pt-PT" sz="1600" dirty="0"/>
              <a:t>(*@ </a:t>
            </a:r>
            <a:r>
              <a:rPr lang="pt-PT" sz="1600" dirty="0" err="1">
                <a:solidFill>
                  <a:srgbClr val="F3530B"/>
                </a:solidFill>
              </a:rPr>
              <a:t>requires</a:t>
            </a:r>
            <a:r>
              <a:rPr lang="pt-PT" sz="1600" dirty="0"/>
              <a:t>  </a:t>
            </a:r>
            <a:r>
              <a:rPr lang="pt-PT" sz="1600" dirty="0" err="1"/>
              <a:t>b_l</a:t>
            </a:r>
            <a:r>
              <a:rPr lang="pt-PT" sz="1600" dirty="0"/>
              <a:t> = </a:t>
            </a:r>
            <a:r>
              <a:rPr lang="pt-PT" sz="1600" dirty="0" err="1"/>
              <a:t>b_r</a:t>
            </a:r>
            <a:r>
              <a:rPr lang="pt-PT" sz="1600" dirty="0"/>
              <a:t> &amp;&amp; </a:t>
            </a:r>
            <a:r>
              <a:rPr lang="pt-PT" sz="1600" dirty="0" err="1"/>
              <a:t>c_l</a:t>
            </a:r>
            <a:r>
              <a:rPr lang="pt-PT" sz="1600" dirty="0"/>
              <a:t> = </a:t>
            </a:r>
            <a:r>
              <a:rPr lang="pt-PT" sz="1600" dirty="0" err="1"/>
              <a:t>c_r</a:t>
            </a:r>
            <a:r>
              <a:rPr lang="pt-PT" sz="1600" dirty="0"/>
              <a:t> &amp;&amp; </a:t>
            </a:r>
            <a:r>
              <a:rPr lang="pt-PT" sz="1600" dirty="0" err="1"/>
              <a:t>n_l</a:t>
            </a:r>
            <a:r>
              <a:rPr lang="pt-PT" sz="1600" dirty="0"/>
              <a:t> = </a:t>
            </a:r>
            <a:r>
              <a:rPr lang="pt-PT" sz="1600" dirty="0" err="1"/>
              <a:t>n_r</a:t>
            </a:r>
            <a:r>
              <a:rPr lang="pt-PT" sz="1600" dirty="0"/>
              <a:t> </a:t>
            </a:r>
          </a:p>
          <a:p>
            <a:r>
              <a:rPr lang="pt-PT" sz="1600" dirty="0"/>
              <a:t>         </a:t>
            </a:r>
            <a:r>
              <a:rPr lang="pt-PT" sz="1600" dirty="0" err="1">
                <a:solidFill>
                  <a:srgbClr val="F3530B"/>
                </a:solidFill>
              </a:rPr>
              <a:t>ensures</a:t>
            </a:r>
            <a:r>
              <a:rPr lang="pt-PT" sz="1600" dirty="0"/>
              <a:t>  match </a:t>
            </a:r>
            <a:r>
              <a:rPr lang="pt-PT" sz="1600" dirty="0" err="1"/>
              <a:t>result</a:t>
            </a:r>
            <a:r>
              <a:rPr lang="pt-PT" sz="1600" dirty="0"/>
              <a:t> </a:t>
            </a:r>
            <a:r>
              <a:rPr lang="pt-PT" sz="1600" dirty="0" err="1"/>
              <a:t>with</a:t>
            </a:r>
            <a:r>
              <a:rPr lang="pt-PT" sz="1600" dirty="0"/>
              <a:t> (</a:t>
            </a:r>
            <a:r>
              <a:rPr lang="pt-PT" sz="1600" dirty="0" err="1"/>
              <a:t>l_res</a:t>
            </a:r>
            <a:r>
              <a:rPr lang="pt-PT" sz="1600" dirty="0"/>
              <a:t>, </a:t>
            </a:r>
            <a:r>
              <a:rPr lang="pt-PT" sz="1600" dirty="0" err="1"/>
              <a:t>r_res</a:t>
            </a:r>
            <a:r>
              <a:rPr lang="pt-PT" sz="1600" dirty="0"/>
              <a:t>) → </a:t>
            </a:r>
            <a:r>
              <a:rPr lang="pt-PT" sz="1600" dirty="0" err="1"/>
              <a:t>l_res</a:t>
            </a:r>
            <a:r>
              <a:rPr lang="pt-PT" sz="1600" dirty="0"/>
              <a:t> = </a:t>
            </a:r>
            <a:r>
              <a:rPr lang="pt-PT" sz="1600" dirty="0" err="1"/>
              <a:t>r_res</a:t>
            </a:r>
            <a:r>
              <a:rPr lang="pt-PT" sz="1600" dirty="0"/>
              <a:t> *)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27716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5B06D-D839-F14B-4672-75B4F894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329DC-AEBA-6A4F-5C27-9E723C23FD98}"/>
              </a:ext>
            </a:extLst>
          </p:cNvPr>
          <p:cNvSpPr txBox="1"/>
          <p:nvPr/>
        </p:nvSpPr>
        <p:spPr>
          <a:xfrm>
            <a:off x="469556" y="459260"/>
            <a:ext cx="8204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Induction Variable Strength Reduction -</a:t>
            </a:r>
          </a:p>
          <a:p>
            <a:r>
              <a:rPr lang="pt-PT" sz="2800" noProof="1">
                <a:solidFill>
                  <a:srgbClr val="002060"/>
                </a:solidFill>
              </a:rPr>
              <a:t>Product Program  (1/2)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D45AB-AD05-79BD-2F1D-3741401F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31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43738-9AEF-0B9F-F297-E7C42F6EE883}"/>
              </a:ext>
            </a:extLst>
          </p:cNvPr>
          <p:cNvSpPr txBox="1"/>
          <p:nvPr/>
        </p:nvSpPr>
        <p:spPr>
          <a:xfrm>
            <a:off x="469556" y="1491362"/>
            <a:ext cx="813960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induc_var_strength_red_ocaml</a:t>
            </a:r>
            <a:r>
              <a:rPr lang="en-US" sz="1600" dirty="0"/>
              <a:t> </a:t>
            </a:r>
            <a:r>
              <a:rPr lang="sv-SE" sz="1600" dirty="0"/>
              <a:t>(b_l :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) (b_r :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) (c_l :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) (c_r :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) (n_l :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) (n_r :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) : </a:t>
            </a:r>
          </a:p>
          <a:p>
            <a:r>
              <a:rPr lang="sv-SE" sz="1600" dirty="0"/>
              <a:t>	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 * </a:t>
            </a:r>
            <a:r>
              <a:rPr lang="sv-SE" sz="1600" dirty="0">
                <a:solidFill>
                  <a:srgbClr val="F3530B"/>
                </a:solidFill>
              </a:rPr>
              <a:t>int</a:t>
            </a:r>
            <a:r>
              <a:rPr lang="sv-SE" sz="1600" dirty="0"/>
              <a:t> =</a:t>
            </a:r>
          </a:p>
          <a:p>
            <a:endParaRPr lang="en-US" sz="1600" dirty="0">
              <a:solidFill>
                <a:schemeClr val="accent2"/>
              </a:solidFill>
            </a:endParaRP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i_l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i_r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j_l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j_r</a:t>
            </a:r>
            <a:r>
              <a:rPr lang="en-US" sz="1600" dirty="0"/>
              <a:t> = ref (</a:t>
            </a:r>
            <a:r>
              <a:rPr lang="en-US" sz="1600" dirty="0" err="1"/>
              <a:t>c_r</a:t>
            </a:r>
            <a:r>
              <a:rPr lang="en-US" sz="1600" dirty="0"/>
              <a:t>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x_l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3530B"/>
                </a:solidFill>
              </a:rPr>
              <a:t>let</a:t>
            </a:r>
            <a:r>
              <a:rPr lang="en-US" sz="1600" dirty="0"/>
              <a:t> </a:t>
            </a:r>
            <a:r>
              <a:rPr lang="en-US" sz="1600" dirty="0" err="1"/>
              <a:t>x_r</a:t>
            </a:r>
            <a:r>
              <a:rPr lang="en-US" sz="1600" dirty="0"/>
              <a:t> = ref (0) </a:t>
            </a:r>
            <a:r>
              <a:rPr lang="en-US" sz="1600" dirty="0">
                <a:solidFill>
                  <a:srgbClr val="F3530B"/>
                </a:solidFill>
              </a:rPr>
              <a:t>in</a:t>
            </a:r>
          </a:p>
          <a:p>
            <a:endParaRPr lang="en-US" sz="1600" dirty="0"/>
          </a:p>
          <a:p>
            <a:r>
              <a:rPr lang="en-US" sz="1600" dirty="0"/>
              <a:t>	</a:t>
            </a:r>
            <a:r>
              <a:rPr lang="pt-PT" sz="1600" dirty="0" err="1">
                <a:solidFill>
                  <a:srgbClr val="F3530B"/>
                </a:solidFill>
              </a:rPr>
              <a:t>while</a:t>
            </a:r>
            <a:r>
              <a:rPr lang="pt-PT" sz="1600" dirty="0"/>
              <a:t> </a:t>
            </a:r>
            <a:r>
              <a:rPr lang="en-US" sz="1600" dirty="0"/>
              <a:t>(!</a:t>
            </a:r>
            <a:r>
              <a:rPr lang="en-US" sz="1600" dirty="0" err="1"/>
              <a:t>i_l</a:t>
            </a:r>
            <a:r>
              <a:rPr lang="en-US" sz="1600" dirty="0"/>
              <a:t> &lt; </a:t>
            </a:r>
            <a:r>
              <a:rPr lang="en-US" sz="1600" dirty="0" err="1"/>
              <a:t>n_l</a:t>
            </a:r>
            <a:r>
              <a:rPr lang="en-US" sz="1600" dirty="0"/>
              <a:t>) </a:t>
            </a:r>
            <a:r>
              <a:rPr lang="pt-PT" sz="1600" dirty="0">
                <a:solidFill>
                  <a:srgbClr val="F3530B"/>
                </a:solidFill>
              </a:rPr>
              <a:t>do</a:t>
            </a:r>
            <a:r>
              <a:rPr lang="pt-PT" sz="1600" dirty="0"/>
              <a:t> </a:t>
            </a:r>
          </a:p>
          <a:p>
            <a:r>
              <a:rPr lang="pt-PT" sz="1600" dirty="0"/>
              <a:t>		(*@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((!</a:t>
            </a:r>
            <a:r>
              <a:rPr lang="pt-PT" sz="1600" dirty="0" err="1"/>
              <a:t>i_l</a:t>
            </a:r>
            <a:r>
              <a:rPr lang="pt-PT" sz="1600" dirty="0"/>
              <a:t> &lt; </a:t>
            </a:r>
            <a:r>
              <a:rPr lang="pt-PT" sz="1600" dirty="0" err="1"/>
              <a:t>n_l</a:t>
            </a:r>
            <a:r>
              <a:rPr lang="pt-PT" sz="1600" dirty="0"/>
              <a:t>)) ↔ ((!</a:t>
            </a:r>
            <a:r>
              <a:rPr lang="pt-PT" sz="1600" dirty="0" err="1"/>
              <a:t>i_r</a:t>
            </a:r>
            <a:r>
              <a:rPr lang="pt-PT" sz="1600" dirty="0"/>
              <a:t> &lt; </a:t>
            </a:r>
            <a:r>
              <a:rPr lang="pt-PT" sz="1600" dirty="0" err="1"/>
              <a:t>n_r</a:t>
            </a:r>
            <a:r>
              <a:rPr lang="pt-PT" sz="1600" dirty="0"/>
              <a:t>))</a:t>
            </a:r>
          </a:p>
          <a:p>
            <a:r>
              <a:rPr lang="pt-PT" sz="1600" dirty="0">
                <a:solidFill>
                  <a:schemeClr val="accent2"/>
                </a:solidFill>
              </a:rPr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variant</a:t>
            </a:r>
            <a:r>
              <a:rPr lang="pt-PT" sz="1600" dirty="0"/>
              <a:t>      </a:t>
            </a:r>
            <a:r>
              <a:rPr lang="pt-PT" sz="1600" dirty="0" err="1"/>
              <a:t>n_l</a:t>
            </a:r>
            <a:r>
              <a:rPr lang="pt-PT" sz="1600" dirty="0"/>
              <a:t> - !</a:t>
            </a:r>
            <a:r>
              <a:rPr lang="pt-PT" sz="1600" dirty="0" err="1"/>
              <a:t>i_l</a:t>
            </a:r>
            <a:r>
              <a:rPr lang="pt-PT" sz="1600" dirty="0"/>
              <a:t> </a:t>
            </a:r>
          </a:p>
          <a:p>
            <a:r>
              <a:rPr lang="pt-PT" sz="1600" dirty="0"/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i_l</a:t>
            </a:r>
            <a:r>
              <a:rPr lang="pt-PT" sz="1600" dirty="0"/>
              <a:t> = !</a:t>
            </a:r>
            <a:r>
              <a:rPr lang="pt-PT" sz="1600" dirty="0" err="1"/>
              <a:t>i_r</a:t>
            </a:r>
            <a:r>
              <a:rPr lang="pt-PT" sz="1600" dirty="0"/>
              <a:t> </a:t>
            </a:r>
          </a:p>
          <a:p>
            <a:r>
              <a:rPr lang="pt-PT" sz="1600" dirty="0"/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x_l</a:t>
            </a:r>
            <a:r>
              <a:rPr lang="pt-PT" sz="1600" dirty="0"/>
              <a:t> = !</a:t>
            </a:r>
            <a:r>
              <a:rPr lang="pt-PT" sz="1600" dirty="0" err="1"/>
              <a:t>x_r</a:t>
            </a:r>
            <a:r>
              <a:rPr lang="pt-PT" sz="1600" dirty="0"/>
              <a:t> </a:t>
            </a:r>
          </a:p>
          <a:p>
            <a:r>
              <a:rPr lang="pt-PT" sz="1600" dirty="0"/>
              <a:t>		         </a:t>
            </a:r>
            <a:r>
              <a:rPr lang="pt-PT" sz="1600" dirty="0" err="1">
                <a:solidFill>
                  <a:srgbClr val="F3530B"/>
                </a:solidFill>
              </a:rPr>
              <a:t>invariant</a:t>
            </a:r>
            <a:r>
              <a:rPr lang="pt-PT" sz="1600" dirty="0"/>
              <a:t>  !</a:t>
            </a:r>
            <a:r>
              <a:rPr lang="pt-PT" sz="1600" dirty="0" err="1"/>
              <a:t>j_r</a:t>
            </a:r>
            <a:r>
              <a:rPr lang="pt-PT" sz="1600" dirty="0"/>
              <a:t> = !</a:t>
            </a:r>
            <a:r>
              <a:rPr lang="pt-PT" sz="1600" dirty="0" err="1"/>
              <a:t>i_r</a:t>
            </a:r>
            <a:r>
              <a:rPr lang="pt-PT" sz="1600" dirty="0"/>
              <a:t> * </a:t>
            </a:r>
            <a:r>
              <a:rPr lang="pt-PT" sz="1600" dirty="0" err="1"/>
              <a:t>b_r</a:t>
            </a:r>
            <a:r>
              <a:rPr lang="pt-PT" sz="1600" dirty="0"/>
              <a:t> + </a:t>
            </a:r>
            <a:r>
              <a:rPr lang="pt-PT" sz="1600" dirty="0" err="1"/>
              <a:t>c_r</a:t>
            </a:r>
            <a:r>
              <a:rPr lang="pt-PT" sz="1600" dirty="0"/>
              <a:t> *)</a:t>
            </a:r>
          </a:p>
        </p:txBody>
      </p:sp>
    </p:spTree>
    <p:extLst>
      <p:ext uri="{BB962C8B-B14F-4D97-AF65-F5344CB8AC3E}">
        <p14:creationId xmlns:p14="http://schemas.microsoft.com/office/powerpoint/2010/main" val="3189384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B914A-439F-DA5D-A3DD-FEC1C1E2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84FB8-B2C7-8AD3-F208-3932D3502E15}"/>
              </a:ext>
            </a:extLst>
          </p:cNvPr>
          <p:cNvSpPr txBox="1"/>
          <p:nvPr/>
        </p:nvSpPr>
        <p:spPr>
          <a:xfrm>
            <a:off x="469556" y="626071"/>
            <a:ext cx="8204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Induction Variable Strength Reduction -</a:t>
            </a:r>
          </a:p>
          <a:p>
            <a:r>
              <a:rPr lang="pt-PT" sz="2800" noProof="1">
                <a:solidFill>
                  <a:srgbClr val="002060"/>
                </a:solidFill>
              </a:rPr>
              <a:t>Product Program  (2/2)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8D123-700C-C59D-3834-68A214DB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32</a:t>
            </a:fld>
            <a:endParaRPr lang="en-US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1EC12-0753-1288-6196-ED65D450434C}"/>
              </a:ext>
            </a:extLst>
          </p:cNvPr>
          <p:cNvSpPr txBox="1"/>
          <p:nvPr/>
        </p:nvSpPr>
        <p:spPr>
          <a:xfrm>
            <a:off x="469556" y="1936811"/>
            <a:ext cx="545841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		</a:t>
            </a:r>
            <a:r>
              <a:rPr lang="pt-PT" sz="1600" dirty="0" err="1"/>
              <a:t>j_l</a:t>
            </a:r>
            <a:r>
              <a:rPr lang="pt-PT" sz="1600" dirty="0"/>
              <a:t> := ((!</a:t>
            </a:r>
            <a:r>
              <a:rPr lang="pt-PT" sz="1600" dirty="0" err="1"/>
              <a:t>i_l</a:t>
            </a:r>
            <a:r>
              <a:rPr lang="pt-PT" sz="1600" dirty="0"/>
              <a:t> * </a:t>
            </a:r>
            <a:r>
              <a:rPr lang="pt-PT" sz="1600" dirty="0" err="1"/>
              <a:t>b_l</a:t>
            </a:r>
            <a:r>
              <a:rPr lang="pt-PT" sz="1600" dirty="0"/>
              <a:t>) + </a:t>
            </a:r>
            <a:r>
              <a:rPr lang="pt-PT" sz="1600" dirty="0" err="1"/>
              <a:t>c_l</a:t>
            </a:r>
            <a:r>
              <a:rPr lang="pt-PT" sz="1600" dirty="0"/>
              <a:t>);</a:t>
            </a:r>
          </a:p>
          <a:p>
            <a:r>
              <a:rPr lang="pt-PT" sz="1600" dirty="0"/>
              <a:t>		</a:t>
            </a:r>
            <a:r>
              <a:rPr lang="pt-PT" sz="1600" dirty="0" err="1"/>
              <a:t>x_r</a:t>
            </a:r>
            <a:r>
              <a:rPr lang="pt-PT" sz="1600" dirty="0"/>
              <a:t> := (!</a:t>
            </a:r>
            <a:r>
              <a:rPr lang="pt-PT" sz="1600" dirty="0" err="1"/>
              <a:t>x_r</a:t>
            </a:r>
            <a:r>
              <a:rPr lang="pt-PT" sz="1600" dirty="0"/>
              <a:t> + !</a:t>
            </a:r>
            <a:r>
              <a:rPr lang="pt-PT" sz="1600" dirty="0" err="1"/>
              <a:t>j_r</a:t>
            </a:r>
            <a:r>
              <a:rPr lang="pt-PT" sz="1600" dirty="0"/>
              <a:t>);</a:t>
            </a:r>
          </a:p>
          <a:p>
            <a:r>
              <a:rPr lang="pt-PT" sz="1600" dirty="0"/>
              <a:t>		</a:t>
            </a:r>
            <a:r>
              <a:rPr lang="pt-PT" sz="1600" dirty="0" err="1"/>
              <a:t>x_l</a:t>
            </a:r>
            <a:r>
              <a:rPr lang="pt-PT" sz="1600" dirty="0"/>
              <a:t> := (!</a:t>
            </a:r>
            <a:r>
              <a:rPr lang="pt-PT" sz="1600" dirty="0" err="1"/>
              <a:t>x_l</a:t>
            </a:r>
            <a:r>
              <a:rPr lang="pt-PT" sz="1600" dirty="0"/>
              <a:t> + !</a:t>
            </a:r>
            <a:r>
              <a:rPr lang="pt-PT" sz="1600" dirty="0" err="1"/>
              <a:t>j_l</a:t>
            </a:r>
            <a:r>
              <a:rPr lang="pt-PT" sz="1600" dirty="0"/>
              <a:t>);</a:t>
            </a:r>
          </a:p>
          <a:p>
            <a:pPr lvl="2"/>
            <a:r>
              <a:rPr lang="pt-PT" sz="1600" dirty="0" err="1"/>
              <a:t>j_r</a:t>
            </a:r>
            <a:r>
              <a:rPr lang="pt-PT" sz="1600" dirty="0"/>
              <a:t> := (!</a:t>
            </a:r>
            <a:r>
              <a:rPr lang="pt-PT" sz="1600" dirty="0" err="1"/>
              <a:t>j_r</a:t>
            </a:r>
            <a:r>
              <a:rPr lang="pt-PT" sz="1600" dirty="0"/>
              <a:t> + </a:t>
            </a:r>
            <a:r>
              <a:rPr lang="pt-PT" sz="1600" dirty="0" err="1"/>
              <a:t>b_r</a:t>
            </a:r>
            <a:r>
              <a:rPr lang="pt-PT" sz="1600" dirty="0"/>
              <a:t>);</a:t>
            </a:r>
          </a:p>
          <a:p>
            <a:pPr lvl="2"/>
            <a:r>
              <a:rPr lang="pt-PT" sz="1600" dirty="0" err="1"/>
              <a:t>i_l</a:t>
            </a:r>
            <a:r>
              <a:rPr lang="pt-PT" sz="1600" dirty="0"/>
              <a:t> := (!</a:t>
            </a:r>
            <a:r>
              <a:rPr lang="pt-PT" sz="1600" dirty="0" err="1"/>
              <a:t>i_l</a:t>
            </a:r>
            <a:r>
              <a:rPr lang="pt-PT" sz="1600" dirty="0"/>
              <a:t> + 1); </a:t>
            </a:r>
          </a:p>
          <a:p>
            <a:pPr lvl="2"/>
            <a:r>
              <a:rPr lang="pt-PT" sz="1600" dirty="0" err="1"/>
              <a:t>i_r</a:t>
            </a:r>
            <a:r>
              <a:rPr lang="pt-PT" sz="1600" dirty="0"/>
              <a:t> := (!</a:t>
            </a:r>
            <a:r>
              <a:rPr lang="pt-PT" sz="1600" dirty="0" err="1"/>
              <a:t>i_r</a:t>
            </a:r>
            <a:r>
              <a:rPr lang="pt-PT" sz="1600" dirty="0"/>
              <a:t> + 1) </a:t>
            </a:r>
          </a:p>
          <a:p>
            <a:r>
              <a:rPr lang="pt-PT" sz="1600" dirty="0"/>
              <a:t>	</a:t>
            </a:r>
            <a:r>
              <a:rPr lang="pt-PT" sz="1600" dirty="0" err="1">
                <a:solidFill>
                  <a:srgbClr val="F3530B"/>
                </a:solidFill>
              </a:rPr>
              <a:t>done</a:t>
            </a:r>
            <a:r>
              <a:rPr lang="pt-PT" sz="1600" dirty="0"/>
              <a:t>; </a:t>
            </a:r>
          </a:p>
          <a:p>
            <a:endParaRPr lang="pt-PT" sz="1600" dirty="0"/>
          </a:p>
          <a:p>
            <a:r>
              <a:rPr lang="pt-PT" sz="1600" dirty="0"/>
              <a:t>	(!</a:t>
            </a:r>
            <a:r>
              <a:rPr lang="pt-PT" sz="1600" dirty="0" err="1"/>
              <a:t>x_l</a:t>
            </a:r>
            <a:r>
              <a:rPr lang="pt-PT" sz="1600" dirty="0"/>
              <a:t>, !</a:t>
            </a:r>
            <a:r>
              <a:rPr lang="pt-PT" sz="1600" dirty="0" err="1"/>
              <a:t>x_r</a:t>
            </a:r>
            <a:r>
              <a:rPr lang="pt-PT" sz="1600" dirty="0"/>
              <a:t>) </a:t>
            </a:r>
          </a:p>
          <a:p>
            <a:r>
              <a:rPr lang="pt-PT" sz="1600" dirty="0"/>
              <a:t>(*@ </a:t>
            </a:r>
            <a:r>
              <a:rPr lang="pt-PT" sz="1600" dirty="0" err="1">
                <a:solidFill>
                  <a:srgbClr val="F3530B"/>
                </a:solidFill>
              </a:rPr>
              <a:t>requires</a:t>
            </a:r>
            <a:r>
              <a:rPr lang="pt-PT" sz="1600" dirty="0"/>
              <a:t>  </a:t>
            </a:r>
            <a:r>
              <a:rPr lang="pt-PT" sz="1600" dirty="0" err="1"/>
              <a:t>b_l</a:t>
            </a:r>
            <a:r>
              <a:rPr lang="pt-PT" sz="1600" dirty="0"/>
              <a:t> = </a:t>
            </a:r>
            <a:r>
              <a:rPr lang="pt-PT" sz="1600" dirty="0" err="1"/>
              <a:t>b_r</a:t>
            </a:r>
            <a:r>
              <a:rPr lang="pt-PT" sz="1600" dirty="0"/>
              <a:t> &amp;&amp; </a:t>
            </a:r>
            <a:r>
              <a:rPr lang="pt-PT" sz="1600" dirty="0" err="1"/>
              <a:t>c_l</a:t>
            </a:r>
            <a:r>
              <a:rPr lang="pt-PT" sz="1600" dirty="0"/>
              <a:t> = </a:t>
            </a:r>
            <a:r>
              <a:rPr lang="pt-PT" sz="1600" dirty="0" err="1"/>
              <a:t>c_r</a:t>
            </a:r>
            <a:r>
              <a:rPr lang="pt-PT" sz="1600" dirty="0"/>
              <a:t> &amp;&amp; </a:t>
            </a:r>
            <a:r>
              <a:rPr lang="pt-PT" sz="1600" dirty="0" err="1"/>
              <a:t>n_l</a:t>
            </a:r>
            <a:r>
              <a:rPr lang="pt-PT" sz="1600" dirty="0"/>
              <a:t> = </a:t>
            </a:r>
            <a:r>
              <a:rPr lang="pt-PT" sz="1600" dirty="0" err="1"/>
              <a:t>n_r</a:t>
            </a:r>
            <a:r>
              <a:rPr lang="pt-PT" sz="1600" dirty="0"/>
              <a:t> </a:t>
            </a:r>
          </a:p>
          <a:p>
            <a:r>
              <a:rPr lang="pt-PT" sz="1600" dirty="0"/>
              <a:t>         </a:t>
            </a:r>
            <a:r>
              <a:rPr lang="pt-PT" sz="1600" dirty="0" err="1">
                <a:solidFill>
                  <a:srgbClr val="F3530B"/>
                </a:solidFill>
              </a:rPr>
              <a:t>ensures</a:t>
            </a:r>
            <a:r>
              <a:rPr lang="pt-PT" sz="1600" dirty="0"/>
              <a:t>  match </a:t>
            </a:r>
            <a:r>
              <a:rPr lang="pt-PT" sz="1600" dirty="0" err="1"/>
              <a:t>result</a:t>
            </a:r>
            <a:r>
              <a:rPr lang="pt-PT" sz="1600" dirty="0"/>
              <a:t> </a:t>
            </a:r>
            <a:r>
              <a:rPr lang="pt-PT" sz="1600" dirty="0" err="1"/>
              <a:t>with</a:t>
            </a:r>
            <a:r>
              <a:rPr lang="pt-PT" sz="1600" dirty="0"/>
              <a:t> (</a:t>
            </a:r>
            <a:r>
              <a:rPr lang="pt-PT" sz="1600" dirty="0" err="1"/>
              <a:t>l_res</a:t>
            </a:r>
            <a:r>
              <a:rPr lang="pt-PT" sz="1600" dirty="0"/>
              <a:t>, </a:t>
            </a:r>
            <a:r>
              <a:rPr lang="pt-PT" sz="1600" dirty="0" err="1"/>
              <a:t>r_res</a:t>
            </a:r>
            <a:r>
              <a:rPr lang="pt-PT" sz="1600" dirty="0"/>
              <a:t>) → </a:t>
            </a:r>
            <a:r>
              <a:rPr lang="pt-PT" sz="1600" dirty="0" err="1"/>
              <a:t>l_res</a:t>
            </a:r>
            <a:r>
              <a:rPr lang="pt-PT" sz="1600" dirty="0"/>
              <a:t> = </a:t>
            </a:r>
            <a:r>
              <a:rPr lang="pt-PT" sz="1600" dirty="0" err="1"/>
              <a:t>r_res</a:t>
            </a:r>
            <a:r>
              <a:rPr lang="pt-PT" sz="1600" dirty="0"/>
              <a:t> *)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0790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BEEB2-A2E7-A095-0D67-C8F49CCE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3E384-093A-B9CE-78A1-77D4EAC837BE}"/>
              </a:ext>
            </a:extLst>
          </p:cNvPr>
          <p:cNvSpPr txBox="1"/>
          <p:nvPr/>
        </p:nvSpPr>
        <p:spPr>
          <a:xfrm>
            <a:off x="2148016" y="1965578"/>
            <a:ext cx="4847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noProof="1">
                <a:solidFill>
                  <a:srgbClr val="002060"/>
                </a:solidFill>
              </a:rPr>
              <a:t>Conclusions</a:t>
            </a:r>
            <a:endParaRPr lang="en-US" sz="48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AEED0-1424-4359-EE48-501447F5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191604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5FB5-7586-D717-91C7-741C84D5C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350F9-99DD-2B75-33DB-749AAED00065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Contributions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750DE-2CEA-2561-1153-039EF8AE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34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D1327-50A1-0AE7-EAF9-3F8F177E5AC7}"/>
              </a:ext>
            </a:extLst>
          </p:cNvPr>
          <p:cNvSpPr txBox="1"/>
          <p:nvPr/>
        </p:nvSpPr>
        <p:spPr>
          <a:xfrm>
            <a:off x="1116225" y="1785812"/>
            <a:ext cx="6911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noProof="1">
                <a:solidFill>
                  <a:srgbClr val="002060"/>
                </a:solidFill>
              </a:rPr>
              <a:t>Verify program equivalence and other relational properties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F3E87A-4C4F-A88B-2DEB-BF8635F38C3A}"/>
              </a:ext>
            </a:extLst>
          </p:cNvPr>
          <p:cNvCxnSpPr/>
          <p:nvPr/>
        </p:nvCxnSpPr>
        <p:spPr>
          <a:xfrm>
            <a:off x="4376352" y="2138568"/>
            <a:ext cx="0" cy="5400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BA38FC-E9DF-2BF3-596E-934B90710206}"/>
              </a:ext>
            </a:extLst>
          </p:cNvPr>
          <p:cNvCxnSpPr/>
          <p:nvPr/>
        </p:nvCxnSpPr>
        <p:spPr>
          <a:xfrm>
            <a:off x="4376351" y="3031023"/>
            <a:ext cx="0" cy="5400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0E3C4B-A089-BE80-ABD7-5273455A3BD5}"/>
              </a:ext>
            </a:extLst>
          </p:cNvPr>
          <p:cNvCxnSpPr/>
          <p:nvPr/>
        </p:nvCxnSpPr>
        <p:spPr>
          <a:xfrm>
            <a:off x="4376351" y="3923478"/>
            <a:ext cx="0" cy="5400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D56771-2BF2-2AEB-6DE7-6643B703A113}"/>
              </a:ext>
            </a:extLst>
          </p:cNvPr>
          <p:cNvSpPr txBox="1"/>
          <p:nvPr/>
        </p:nvSpPr>
        <p:spPr>
          <a:xfrm>
            <a:off x="1167477" y="2678568"/>
            <a:ext cx="6809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noProof="1">
                <a:solidFill>
                  <a:srgbClr val="002060"/>
                </a:solidFill>
              </a:rPr>
              <a:t>Bring the translation rules of WhyRel into the world of OCaml</a:t>
            </a:r>
            <a:endParaRPr lang="pt-PT" sz="2000" noProof="1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2C493-16B0-B0B4-3669-4B91741668D7}"/>
              </a:ext>
            </a:extLst>
          </p:cNvPr>
          <p:cNvSpPr txBox="1"/>
          <p:nvPr/>
        </p:nvSpPr>
        <p:spPr>
          <a:xfrm>
            <a:off x="2567266" y="4463478"/>
            <a:ext cx="3618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noProof="1">
                <a:solidFill>
                  <a:srgbClr val="002060"/>
                </a:solidFill>
              </a:rPr>
              <a:t>BipLang – adaptation of OCaml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D5E08-9237-E3CC-651E-9B11DA4DD13D}"/>
              </a:ext>
            </a:extLst>
          </p:cNvPr>
          <p:cNvSpPr txBox="1"/>
          <p:nvPr/>
        </p:nvSpPr>
        <p:spPr>
          <a:xfrm>
            <a:off x="1892563" y="3571023"/>
            <a:ext cx="4967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2000" noProof="1">
                <a:solidFill>
                  <a:srgbClr val="002060"/>
                </a:solidFill>
              </a:rPr>
              <a:t>bip2ml </a:t>
            </a:r>
            <a:r>
              <a:rPr lang="en-US" sz="2000" noProof="1">
                <a:solidFill>
                  <a:srgbClr val="002060"/>
                </a:solidFill>
              </a:rPr>
              <a:t>–</a:t>
            </a:r>
            <a:r>
              <a:rPr lang="pt-PT" sz="2000" noProof="1">
                <a:solidFill>
                  <a:srgbClr val="002060"/>
                </a:solidFill>
              </a:rPr>
              <a:t> O</a:t>
            </a:r>
            <a:r>
              <a:rPr lang="en-US" sz="2000" noProof="1">
                <a:solidFill>
                  <a:srgbClr val="002060"/>
                </a:solidFill>
              </a:rPr>
              <a:t>Caml relational verification tool</a:t>
            </a:r>
          </a:p>
        </p:txBody>
      </p:sp>
    </p:spTree>
    <p:extLst>
      <p:ext uri="{BB962C8B-B14F-4D97-AF65-F5344CB8AC3E}">
        <p14:creationId xmlns:p14="http://schemas.microsoft.com/office/powerpoint/2010/main" val="630641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3C991-DEE5-ACC4-4FAD-F4AC40B6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0CD7C-D619-788E-9392-AD791E2160AE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Limitations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1056C-1D23-C251-AFC5-DD28D79B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35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714B2-C1F5-56DD-577E-6936CB34E77F}"/>
              </a:ext>
            </a:extLst>
          </p:cNvPr>
          <p:cNvSpPr txBox="1"/>
          <p:nvPr/>
        </p:nvSpPr>
        <p:spPr>
          <a:xfrm>
            <a:off x="469556" y="2099739"/>
            <a:ext cx="6664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BipLang does not contain all OCaml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Automatic verification depends on the interpretation of “automatic”</a:t>
            </a:r>
          </a:p>
        </p:txBody>
      </p:sp>
    </p:spTree>
    <p:extLst>
      <p:ext uri="{BB962C8B-B14F-4D97-AF65-F5344CB8AC3E}">
        <p14:creationId xmlns:p14="http://schemas.microsoft.com/office/powerpoint/2010/main" val="2951561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3A83-A2E0-75A9-CAF8-76845C10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7CC9D-A2C0-8251-1C28-9FA3786BFE78}"/>
              </a:ext>
            </a:extLst>
          </p:cNvPr>
          <p:cNvSpPr txBox="1"/>
          <p:nvPr/>
        </p:nvSpPr>
        <p:spPr>
          <a:xfrm>
            <a:off x="469556" y="626071"/>
            <a:ext cx="6845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noProof="1">
                <a:solidFill>
                  <a:srgbClr val="002060"/>
                </a:solidFill>
              </a:rPr>
              <a:t>Future Work</a:t>
            </a:r>
            <a:endParaRPr lang="en-US" sz="28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8BCD-CB87-56DE-A29E-8F58536D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36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7E19D-BC23-C69B-75B1-B3507E6D1851}"/>
              </a:ext>
            </a:extLst>
          </p:cNvPr>
          <p:cNvSpPr txBox="1"/>
          <p:nvPr/>
        </p:nvSpPr>
        <p:spPr>
          <a:xfrm>
            <a:off x="469556" y="2022795"/>
            <a:ext cx="6128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Higher-order constructs (iter, fold…)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Pointer based programs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Dynamic 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1">
                <a:solidFill>
                  <a:srgbClr val="002060"/>
                </a:solidFill>
              </a:rPr>
              <a:t>Program evolution</a:t>
            </a:r>
          </a:p>
        </p:txBody>
      </p:sp>
    </p:spTree>
    <p:extLst>
      <p:ext uri="{BB962C8B-B14F-4D97-AF65-F5344CB8AC3E}">
        <p14:creationId xmlns:p14="http://schemas.microsoft.com/office/powerpoint/2010/main" val="2239026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C233-D244-61BA-BDF8-CB6D060B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274D2-09B6-D69D-1B09-52211756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494" y="716690"/>
            <a:ext cx="7655011" cy="571043"/>
          </a:xfrm>
        </p:spPr>
        <p:txBody>
          <a:bodyPr>
            <a:normAutofit/>
          </a:bodyPr>
          <a:lstStyle/>
          <a:p>
            <a:r>
              <a:rPr lang="en-US" sz="3200" noProof="1">
                <a:solidFill>
                  <a:srgbClr val="002060"/>
                </a:solidFill>
              </a:rPr>
              <a:t>Formal Verification of Programs Equivalence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296B62-9DC8-8E89-BBD7-11E0414C0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355925"/>
            <a:ext cx="6858000" cy="1379802"/>
          </a:xfrm>
        </p:spPr>
        <p:txBody>
          <a:bodyPr>
            <a:noAutofit/>
          </a:bodyPr>
          <a:lstStyle/>
          <a:p>
            <a:r>
              <a:rPr lang="en-US" sz="2000" noProof="1">
                <a:solidFill>
                  <a:srgbClr val="002060"/>
                </a:solidFill>
              </a:rPr>
              <a:t>João Nini</a:t>
            </a:r>
          </a:p>
          <a:p>
            <a:r>
              <a:rPr lang="en-US" sz="2000" noProof="1">
                <a:solidFill>
                  <a:srgbClr val="002060"/>
                </a:solidFill>
              </a:rPr>
              <a:t>Advisor: Mário Pereira</a:t>
            </a:r>
          </a:p>
          <a:p>
            <a:pPr>
              <a:lnSpc>
                <a:spcPct val="50000"/>
              </a:lnSpc>
            </a:pPr>
            <a:endParaRPr lang="en-US" sz="2000" noProof="1">
              <a:solidFill>
                <a:srgbClr val="002060"/>
              </a:solidFill>
            </a:endParaRPr>
          </a:p>
          <a:p>
            <a:pPr>
              <a:lnSpc>
                <a:spcPct val="50000"/>
              </a:lnSpc>
            </a:pPr>
            <a:r>
              <a:rPr lang="en-US" sz="2000" noProof="1">
                <a:solidFill>
                  <a:srgbClr val="002060"/>
                </a:solidFill>
              </a:rPr>
              <a:t>December 16,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88A04-F651-B4D5-7DA9-E26D50D9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9FD8-515A-4698-9313-0AB17EE9632B}" type="slidenum">
              <a:rPr lang="en-US" noProof="1" dirty="0" smtClean="0"/>
              <a:t>37</a:t>
            </a:fld>
            <a:endParaRPr lang="en-US" noProof="1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B787C8E-BF42-9283-4789-2CA358339C70}"/>
              </a:ext>
            </a:extLst>
          </p:cNvPr>
          <p:cNvSpPr txBox="1">
            <a:spLocks/>
          </p:cNvSpPr>
          <p:nvPr/>
        </p:nvSpPr>
        <p:spPr>
          <a:xfrm>
            <a:off x="3189587" y="2091846"/>
            <a:ext cx="2764824" cy="5710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noProof="1">
                <a:solidFill>
                  <a:srgbClr val="002060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95353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1372</TotalTime>
  <Words>2598</Words>
  <Application>Microsoft Office PowerPoint</Application>
  <PresentationFormat>On-screen Show (16:10)</PresentationFormat>
  <Paragraphs>347</Paragraphs>
  <Slides>37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Tema do Office</vt:lpstr>
      <vt:lpstr>Formal Verification of Programs Equivalence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Formal Verification of Programs Equivalence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Francisco Serrenho Nini</dc:creator>
  <cp:lastModifiedBy>João Nini</cp:lastModifiedBy>
  <cp:revision>80</cp:revision>
  <dcterms:created xsi:type="dcterms:W3CDTF">2025-02-13T13:42:37Z</dcterms:created>
  <dcterms:modified xsi:type="dcterms:W3CDTF">2025-12-10T23:07:41Z</dcterms:modified>
</cp:coreProperties>
</file>